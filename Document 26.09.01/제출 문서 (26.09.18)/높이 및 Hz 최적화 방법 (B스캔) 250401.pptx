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2"/>
  </p:notesMasterIdLst>
  <p:sldIdLst>
    <p:sldId id="1175" r:id="rId5"/>
    <p:sldId id="1558" r:id="rId6"/>
    <p:sldId id="1555" r:id="rId7"/>
    <p:sldId id="1553" r:id="rId8"/>
    <p:sldId id="1554" r:id="rId9"/>
    <p:sldId id="1557" r:id="rId10"/>
    <p:sldId id="260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740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6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5D4868-F124-114B-8AF7-92B68419E257}" type="datetimeFigureOut">
              <a:rPr kumimoji="1" lang="ko-Kore-KR" altLang="en-US" smtClean="0"/>
              <a:t>09/18/2026</a:t>
            </a:fld>
            <a:endParaRPr kumimoji="1" lang="ko-Kore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ore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5BC302-2E5E-9F4D-8596-C36DBBB86496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4871221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2F1C47-79F5-4538-A619-1A0744F516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788F6E7-22AB-4006-9D02-A8A32B75F2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3361B02-67BA-4D63-953A-B96C21A617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9F7841C-214E-4B26-B1D0-9AF27D0016D1}" type="datetimeFigureOut">
              <a:rPr lang="ko-KR" altLang="en-US" smtClean="0"/>
              <a:t>2026-09-18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BCD8A8F-3C48-4C8F-933B-0DAA851A0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ACE33C3-2ACE-4706-806A-6F20A5809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3C2C981-FC9C-4F04-9330-799CBC0020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32263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7F8718-67EC-47C2-80D6-EA33D2958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F3E636D-29CD-4E2B-AEF8-DA1CB8D3D6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03EF45A-0D02-47C6-A06E-E4B1D0F6AB9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9F7841C-214E-4B26-B1D0-9AF27D0016D1}" type="datetimeFigureOut">
              <a:rPr lang="ko-KR" altLang="en-US" smtClean="0"/>
              <a:t>2026-09-18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ECA50DA-9871-4E29-B213-DF09DEBC9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C2BA17A-02CC-4D72-A6D9-CF8BEF5A5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3C2C981-FC9C-4F04-9330-799CBC0020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67836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C08060-CF1C-4AA2-A698-2570FC282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88CFD13-D008-402A-B07E-7B88ACEBD1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BB7ADA4-8A6A-4F98-A7DF-1F3A4D8AC9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9F7841C-214E-4B26-B1D0-9AF27D0016D1}" type="datetimeFigureOut">
              <a:rPr lang="ko-KR" altLang="en-US" smtClean="0"/>
              <a:t>2026-09-18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9B44067-5E45-4B3B-98D0-6FC9F65749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792AF74-5E41-4D29-9821-CE7EEADFA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3C2C981-FC9C-4F04-9330-799CBC0020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38326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D82F6B-7470-4DE3-B74A-0D1693586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D54A89B-D689-41E5-A883-170DCAA890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EFA120E-C897-45A2-A5F6-40925245F7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2A9721C-9410-4AB9-8A28-5F147F5E3BD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9F7841C-214E-4B26-B1D0-9AF27D0016D1}" type="datetimeFigureOut">
              <a:rPr lang="ko-KR" altLang="en-US" smtClean="0"/>
              <a:t>2026-09-18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FFEC816-E177-4B80-A001-1B1B9C272C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5B98B5C-A795-4B89-853E-283CB0364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3C2C981-FC9C-4F04-9330-799CBC0020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6065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B953A8-E6BA-4BE1-A11A-8991D8DE7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F7AC4EB-F5B6-4A46-A596-B5B491FDA5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352C30A-2948-4424-9B3A-67C88683BC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1202BE3-5C87-41D5-802D-1B76497711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99C2A8C-CC45-44C2-86CD-B9E9E19557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D1F7394-B87E-4546-BC26-6897E8D25D6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9F7841C-214E-4B26-B1D0-9AF27D0016D1}" type="datetimeFigureOut">
              <a:rPr lang="ko-KR" altLang="en-US" smtClean="0"/>
              <a:t>2026-09-18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0F823F5-5FE3-471E-86A2-93F9B3E1D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3CA2617-F007-4516-8D2D-8378235BD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3C2C981-FC9C-4F04-9330-799CBC0020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9134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A80861-E577-4606-A992-E1C5B604B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A43226E-0286-491B-AEF6-C88DBAE5DCD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9F7841C-214E-4B26-B1D0-9AF27D0016D1}" type="datetimeFigureOut">
              <a:rPr lang="ko-KR" altLang="en-US" smtClean="0"/>
              <a:t>2026-09-18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19DA242-8BB7-4A81-A185-CAFBF3C61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C46662D-D747-49E8-8876-F5E6855B2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3C2C981-FC9C-4F04-9330-799CBC0020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4943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EA0123F-5BE5-4991-A09C-0E645173BFA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9F7841C-214E-4B26-B1D0-9AF27D0016D1}" type="datetimeFigureOut">
              <a:rPr lang="ko-KR" altLang="en-US" smtClean="0"/>
              <a:t>2026-09-18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302719F-0A77-4605-8FA4-24AA324B2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72F82DE-2590-42E0-9749-F83543697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3C2C981-FC9C-4F04-9330-799CBC0020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57523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21FBA5-BF5B-4191-87CB-9FD1A86201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BF000CD-6C75-4E52-82AC-257E8B9A80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E6ECDDA-A616-4C0B-A9A1-E36E0CD474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AB4FD8E-2244-4C3B-9760-AE074428503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9F7841C-214E-4B26-B1D0-9AF27D0016D1}" type="datetimeFigureOut">
              <a:rPr lang="ko-KR" altLang="en-US" smtClean="0"/>
              <a:t>2026-09-18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1FEFDA4-34FE-47BF-B84D-77CDC73FB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FDB9154-CC35-4A16-B8F5-2A47CB7D0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3C2C981-FC9C-4F04-9330-799CBC0020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54699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E4C99E-5911-4F4C-A019-1D40935CA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9D840B2-CD90-46A2-9BFF-6D0809077D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9BF35A2-ED73-4A4C-B1C8-A233B629BB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1DE0AC5-10C2-47BA-9EB6-FFCD56DD49C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9F7841C-214E-4B26-B1D0-9AF27D0016D1}" type="datetimeFigureOut">
              <a:rPr lang="ko-KR" altLang="en-US" smtClean="0"/>
              <a:t>2026-09-18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76F749D-11E5-4E52-96E7-80486AE07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07351B9-1F40-49D5-88F5-66F300557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3C2C981-FC9C-4F04-9330-799CBC0020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12476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F97FA2-4A91-44FE-A6E2-F45A40EF4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08FF9F9-1292-477F-A855-6B72FE8C05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8990EF4-F111-4A95-A036-9112561B1A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9F7841C-214E-4B26-B1D0-9AF27D0016D1}" type="datetimeFigureOut">
              <a:rPr lang="ko-KR" altLang="en-US" smtClean="0"/>
              <a:t>2026-09-18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892A8D8-78C2-4A21-99A5-384AAEBE19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74D776-7028-420E-A847-35CD063C9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3C2C981-FC9C-4F04-9330-799CBC0020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96926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BA1186A-434E-4647-ADF0-93E244AB2E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61E2195-4F80-467F-A6C3-65920147B5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29BB4F-8913-4AF1-B3D7-55BF602B28D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9F7841C-214E-4B26-B1D0-9AF27D0016D1}" type="datetimeFigureOut">
              <a:rPr lang="ko-KR" altLang="en-US" smtClean="0"/>
              <a:t>2026-09-18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60B5E19-B9CD-4AF8-A30A-41E253D0B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F5CFF75-AD50-4837-809B-4564DD1E9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3C2C981-FC9C-4F04-9330-799CBC0020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95958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DA8B62-8560-4A23-BA4B-E74EE554D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3BE2045-B872-45D1-A525-DF0F8EEE84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392" y="1196752"/>
            <a:ext cx="10945216" cy="515959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BA04028-8939-420D-B106-BFD8BACE4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86687" y="6421407"/>
            <a:ext cx="2304256" cy="413655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ABB93E99-7831-4A6F-9A2F-2204DC15885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 userDrawn="1"/>
        </p:nvCxnSpPr>
        <p:spPr>
          <a:xfrm>
            <a:off x="0" y="692696"/>
            <a:ext cx="12192000" cy="0"/>
          </a:xfrm>
          <a:prstGeom prst="line">
            <a:avLst/>
          </a:prstGeom>
          <a:ln w="28575">
            <a:solidFill>
              <a:srgbClr val="A5031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2" descr="설명: C:\Users\USER200\Downloads\뷰온로고_1220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72811" y="343583"/>
            <a:ext cx="1871861" cy="26949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830528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E3602BA-00C0-4274-A17F-619ED80D6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5630DEC-A29B-4540-A135-72B6F73E97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20A020F-70E2-4FB6-9082-F708776C6C85}"/>
              </a:ext>
            </a:extLst>
          </p:cNvPr>
          <p:cNvSpPr/>
          <p:nvPr userDrawn="1"/>
        </p:nvSpPr>
        <p:spPr>
          <a:xfrm>
            <a:off x="3841" y="6541970"/>
            <a:ext cx="12194622" cy="17336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Text Box 10">
            <a:extLst>
              <a:ext uri="{FF2B5EF4-FFF2-40B4-BE49-F238E27FC236}">
                <a16:creationId xmlns:a16="http://schemas.microsoft.com/office/drawing/2014/main" id="{855633B3-417E-4FE4-B11B-1C485BA91F0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354835" y="6559306"/>
            <a:ext cx="1482329" cy="307777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kumimoji="1" sz="1100" b="1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 sz="1100" b="1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 sz="1100" b="1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 sz="1100" b="1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 sz="1100" b="1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defRPr kumimoji="1" sz="1100" b="1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defRPr kumimoji="1" sz="1100" b="1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defRPr kumimoji="1" sz="1100" b="1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defRPr kumimoji="1" sz="1100" b="1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400" b="1" i="0" dirty="0">
                <a:solidFill>
                  <a:schemeClr val="bg1">
                    <a:lumMod val="65000"/>
                  </a:schemeClr>
                </a:solidFill>
                <a:latin typeface="+mj-lt"/>
                <a:ea typeface="맑은 고딕"/>
              </a:rPr>
              <a:t>CONFIDENTIAL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34B00D4-7863-480E-BC90-A294A77C6CB1}"/>
              </a:ext>
            </a:extLst>
          </p:cNvPr>
          <p:cNvSpPr txBox="1"/>
          <p:nvPr userDrawn="1"/>
        </p:nvSpPr>
        <p:spPr>
          <a:xfrm>
            <a:off x="11608350" y="6596390"/>
            <a:ext cx="478353" cy="26161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fld id="{56E19257-98EC-47BF-9918-615750765671}" type="slidenum">
              <a:rPr lang="ko-KR" altLang="en-US" sz="1000" b="1" smtClean="0">
                <a:solidFill>
                  <a:schemeClr val="tx1"/>
                </a:solidFill>
                <a:latin typeface="Verdana" panose="020B0604030504040204" pitchFamily="34" charset="0"/>
                <a:ea typeface="맑은 고딕" pitchFamily="50" charset="-127"/>
              </a:rPr>
              <a:pPr algn="ctr"/>
              <a:t>‹#›</a:t>
            </a:fld>
            <a:endParaRPr lang="ko-KR" altLang="en-US" sz="1000" b="1" dirty="0">
              <a:solidFill>
                <a:schemeClr val="tx1"/>
              </a:solidFill>
              <a:latin typeface="Verdana" panose="020B0604030504040204" pitchFamily="34" charset="0"/>
              <a:ea typeface="맑은 고딕" pitchFamily="50" charset="-127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70028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5" Type="http://schemas.microsoft.com/office/2007/relationships/hdphoto" Target="../media/hdphoto1.wdp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F3A6F318-F2E1-4B44-AE5E-19CFA56E8FF7}"/>
              </a:ext>
            </a:extLst>
          </p:cNvPr>
          <p:cNvCxnSpPr/>
          <p:nvPr/>
        </p:nvCxnSpPr>
        <p:spPr>
          <a:xfrm>
            <a:off x="2484713" y="3363985"/>
            <a:ext cx="9707287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E284EF3B-AC2A-48A0-9C4D-56A2627723AF}"/>
              </a:ext>
            </a:extLst>
          </p:cNvPr>
          <p:cNvCxnSpPr>
            <a:cxnSpLocks/>
          </p:cNvCxnSpPr>
          <p:nvPr/>
        </p:nvCxnSpPr>
        <p:spPr>
          <a:xfrm>
            <a:off x="2484713" y="3378666"/>
            <a:ext cx="9707287" cy="0"/>
          </a:xfrm>
          <a:prstGeom prst="line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12A063D4-0EB8-43D5-BD64-D305674C1592}"/>
              </a:ext>
            </a:extLst>
          </p:cNvPr>
          <p:cNvSpPr txBox="1"/>
          <p:nvPr/>
        </p:nvSpPr>
        <p:spPr>
          <a:xfrm>
            <a:off x="3279913" y="4114801"/>
            <a:ext cx="8330451" cy="101566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altLang="ko-KR" sz="2000" b="1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ko-KR" altLang="en-US" sz="2000" b="1" dirty="0">
                <a:solidFill>
                  <a:srgbClr val="000000"/>
                </a:solidFill>
                <a:ea typeface="+mn-lt"/>
                <a:cs typeface="+mn-lt"/>
              </a:rPr>
              <a:t>높이 및 </a:t>
            </a:r>
            <a:r>
              <a:rPr lang="en-US" altLang="ko-KR" sz="2000" b="1" dirty="0">
                <a:solidFill>
                  <a:srgbClr val="000000"/>
                </a:solidFill>
                <a:ea typeface="+mn-lt"/>
                <a:cs typeface="+mn-lt"/>
              </a:rPr>
              <a:t>Hz </a:t>
            </a:r>
            <a:r>
              <a:rPr lang="ko-KR" altLang="en-US" sz="2000" b="1" dirty="0">
                <a:solidFill>
                  <a:srgbClr val="000000"/>
                </a:solidFill>
                <a:ea typeface="+mn-lt"/>
                <a:cs typeface="+mn-lt"/>
              </a:rPr>
              <a:t>최적화 방법 </a:t>
            </a:r>
            <a:r>
              <a:rPr lang="en-US" altLang="ko-KR" sz="2000" b="1" dirty="0">
                <a:solidFill>
                  <a:srgbClr val="000000"/>
                </a:solidFill>
                <a:ea typeface="+mn-lt"/>
                <a:cs typeface="+mn-lt"/>
              </a:rPr>
              <a:t>: B</a:t>
            </a:r>
            <a:r>
              <a:rPr lang="ko-KR" altLang="en-US" sz="2000" b="1" dirty="0">
                <a:solidFill>
                  <a:srgbClr val="000000"/>
                </a:solidFill>
                <a:ea typeface="+mn-lt"/>
                <a:cs typeface="+mn-lt"/>
              </a:rPr>
              <a:t>스캔</a:t>
            </a:r>
            <a:endParaRPr lang="en-US" altLang="ko-KR" sz="2000" b="1" dirty="0">
              <a:solidFill>
                <a:srgbClr val="000000"/>
              </a:solidFill>
              <a:ea typeface="+mn-lt"/>
              <a:cs typeface="+mn-lt"/>
            </a:endParaRPr>
          </a:p>
          <a:p>
            <a:pPr algn="r"/>
            <a:r>
              <a:rPr lang="en-US" altLang="ko-KR" sz="2000" b="1" dirty="0">
                <a:latin typeface="HY헤드라인M"/>
                <a:ea typeface="HY헤드라인M"/>
              </a:rPr>
              <a:t>25.04.01</a:t>
            </a:r>
            <a:endParaRPr lang="en-US" altLang="ko-KR" sz="2000" b="1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r"/>
            <a:r>
              <a:rPr lang="ko-KR" altLang="en-US" sz="2000" b="1" dirty="0">
                <a:latin typeface="HY견고딕"/>
                <a:ea typeface="HY견고딕"/>
              </a:rPr>
              <a:t>양회현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9AFBC50-89BE-3B59-3530-2239B7905B46}"/>
              </a:ext>
            </a:extLst>
          </p:cNvPr>
          <p:cNvSpPr txBox="1"/>
          <p:nvPr/>
        </p:nvSpPr>
        <p:spPr>
          <a:xfrm>
            <a:off x="6641024" y="6527415"/>
            <a:ext cx="2247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rgbClr val="FF0000"/>
                </a:solidFill>
              </a:rPr>
              <a:t>보안자료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1EF4D40-B2A1-F3E1-83C2-746C7A142F2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0000"/>
          <a:stretch/>
        </p:blipFill>
        <p:spPr>
          <a:xfrm>
            <a:off x="3350236" y="1796590"/>
            <a:ext cx="2028571" cy="142380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B5AB5C7-DB5D-4E43-38A3-F870C71262D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783" t="67881" r="62600" b="14874"/>
          <a:stretch/>
        </p:blipFill>
        <p:spPr>
          <a:xfrm>
            <a:off x="4157133" y="2050194"/>
            <a:ext cx="609600" cy="75227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8E81828-97EF-E22B-5CC5-8324FDC6A4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1491786">
            <a:off x="1700900" y="444102"/>
            <a:ext cx="180814" cy="208529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5C42215-4D60-615A-089E-034AD3FF142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6823"/>
          <a:stretch/>
        </p:blipFill>
        <p:spPr>
          <a:xfrm>
            <a:off x="581636" y="1762309"/>
            <a:ext cx="2028571" cy="151429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574AE61-691E-6A95-CB5D-FDB4A16642F4}"/>
              </a:ext>
            </a:extLst>
          </p:cNvPr>
          <p:cNvSpPr txBox="1"/>
          <p:nvPr/>
        </p:nvSpPr>
        <p:spPr>
          <a:xfrm>
            <a:off x="2088292" y="447071"/>
            <a:ext cx="912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A</a:t>
            </a:r>
            <a:r>
              <a:rPr lang="ko-KR" altLang="en-US" dirty="0"/>
              <a:t>스캔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F0C78E5-2886-7CCC-E0DB-0E177F485E70}"/>
              </a:ext>
            </a:extLst>
          </p:cNvPr>
          <p:cNvSpPr txBox="1"/>
          <p:nvPr/>
        </p:nvSpPr>
        <p:spPr>
          <a:xfrm>
            <a:off x="4856892" y="1577643"/>
            <a:ext cx="912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B</a:t>
            </a:r>
            <a:r>
              <a:rPr lang="ko-KR" altLang="en-US" dirty="0"/>
              <a:t>스캔</a:t>
            </a:r>
          </a:p>
        </p:txBody>
      </p:sp>
    </p:spTree>
    <p:extLst>
      <p:ext uri="{BB962C8B-B14F-4D97-AF65-F5344CB8AC3E}">
        <p14:creationId xmlns:p14="http://schemas.microsoft.com/office/powerpoint/2010/main" val="33023017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C0CF86-64D3-ECD2-F5F2-FEB8EEB74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CF50DFF-0EFE-AFBF-98DB-17790B694917}"/>
              </a:ext>
            </a:extLst>
          </p:cNvPr>
          <p:cNvSpPr txBox="1"/>
          <p:nvPr/>
        </p:nvSpPr>
        <p:spPr>
          <a:xfrm>
            <a:off x="181155" y="94891"/>
            <a:ext cx="9238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8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현재 문</a:t>
            </a:r>
            <a:r>
              <a:rPr lang="ko-KR" altLang="ko-KR" sz="18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제</a:t>
            </a:r>
            <a:r>
              <a:rPr lang="en-US" altLang="ko-KR" sz="18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dirty="0">
                <a:ea typeface="맑은 고딕" panose="020B0503020000020004" pitchFamily="50" charset="-127"/>
                <a:cs typeface="Times New Roman" panose="02020603050405020304" pitchFamily="18" charset="0"/>
              </a:rPr>
              <a:t>: </a:t>
            </a:r>
            <a:r>
              <a:rPr lang="ko-KR" altLang="ko-KR" sz="18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논문의 목적</a:t>
            </a:r>
            <a:r>
              <a:rPr lang="en-US" altLang="ko-KR" sz="18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4DCFC3-317C-80D0-D5A4-AA7877A0366E}"/>
              </a:ext>
            </a:extLst>
          </p:cNvPr>
          <p:cNvSpPr txBox="1"/>
          <p:nvPr/>
        </p:nvSpPr>
        <p:spPr>
          <a:xfrm>
            <a:off x="181155" y="938076"/>
            <a:ext cx="1015693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8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새로 개발된 제품에 대해서</a:t>
            </a:r>
            <a:r>
              <a:rPr lang="en-US" altLang="ko-KR" sz="18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ko-KR" sz="18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최적의 초음파 영상을 얻고 싶지만</a:t>
            </a:r>
            <a:r>
              <a:rPr lang="en-US" altLang="ko-KR" sz="18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ko-KR" sz="18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정규적인 방법이 없다</a:t>
            </a:r>
            <a:r>
              <a:rPr lang="en-US" altLang="ko-KR" sz="18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</a:p>
          <a:p>
            <a:r>
              <a:rPr lang="ko-KR" altLang="en-US" dirty="0">
                <a:ea typeface="맑은 고딕" panose="020B0503020000020004" pitchFamily="50" charset="-127"/>
                <a:cs typeface="Times New Roman" panose="02020603050405020304" pitchFamily="18" charset="0"/>
              </a:rPr>
              <a:t>회의 시간에 초음파 팀이 그런 게 없다고 여러번 비판을 받았다</a:t>
            </a:r>
            <a:r>
              <a:rPr lang="en-US" altLang="ko-KR" dirty="0"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64FD04-A4F8-5FAA-7289-96392F886C1F}"/>
              </a:ext>
            </a:extLst>
          </p:cNvPr>
          <p:cNvSpPr txBox="1"/>
          <p:nvPr/>
        </p:nvSpPr>
        <p:spPr>
          <a:xfrm>
            <a:off x="6096000" y="1730942"/>
            <a:ext cx="582251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5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고객사</a:t>
            </a:r>
            <a:r>
              <a:rPr lang="en-US" altLang="ko-KR" sz="15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 : </a:t>
            </a:r>
          </a:p>
          <a:p>
            <a:r>
              <a:rPr lang="ko-KR" altLang="ko-KR" sz="15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새로운 모델에 맞게 초음파 계면 및 </a:t>
            </a:r>
            <a:r>
              <a:rPr lang="en-US" altLang="ko-KR" sz="15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Hz, </a:t>
            </a:r>
            <a:r>
              <a:rPr lang="ko-KR" altLang="ko-KR" sz="15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높이</a:t>
            </a:r>
            <a:endParaRPr lang="en-US" altLang="ko-KR" sz="1500" dirty="0">
              <a:effectLst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r>
              <a:rPr lang="ko-KR" altLang="ko-KR" sz="15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셋팅을 해야 하는데</a:t>
            </a:r>
            <a:r>
              <a:rPr lang="en-US" altLang="ko-KR" sz="15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ko-KR" sz="15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초보자는 할 수 없을 뿐더러</a:t>
            </a:r>
            <a:r>
              <a:rPr lang="en-US" altLang="ko-KR" sz="15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,</a:t>
            </a:r>
          </a:p>
          <a:p>
            <a:r>
              <a:rPr lang="ko-KR" altLang="ko-KR" sz="15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이해할 수 없다</a:t>
            </a:r>
            <a:r>
              <a:rPr lang="en-US" altLang="ko-KR" sz="15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. </a:t>
            </a:r>
            <a:endParaRPr lang="ko-KR" altLang="en-US" sz="15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ED08A63-1354-60C6-2C7F-D4FC3895F4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045" y="1730942"/>
            <a:ext cx="5731510" cy="2049145"/>
          </a:xfrm>
          <a:prstGeom prst="rect">
            <a:avLst/>
          </a:prstGeom>
        </p:spPr>
      </p:pic>
      <p:pic>
        <p:nvPicPr>
          <p:cNvPr id="11" name="그림 6">
            <a:extLst>
              <a:ext uri="{FF2B5EF4-FFF2-40B4-BE49-F238E27FC236}">
                <a16:creationId xmlns:a16="http://schemas.microsoft.com/office/drawing/2014/main" id="{6B2D006C-0E47-C00D-FDB9-B0751E4841B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4951" t="31927" r="9164" b="46201"/>
          <a:stretch/>
        </p:blipFill>
        <p:spPr bwMode="auto">
          <a:xfrm>
            <a:off x="3625294" y="4316130"/>
            <a:ext cx="2156551" cy="177894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3EF80B0-97C7-713E-DBC6-0CA1ED001099}"/>
              </a:ext>
            </a:extLst>
          </p:cNvPr>
          <p:cNvSpPr txBox="1"/>
          <p:nvPr/>
        </p:nvSpPr>
        <p:spPr>
          <a:xfrm>
            <a:off x="6096000" y="3918586"/>
            <a:ext cx="7786633" cy="25740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500" dirty="0">
                <a:effectLst/>
                <a:latin typeface="맑은 고딕" panose="020B0503020000020004" pitchFamily="50" charset="-127"/>
                <a:cs typeface="Times New Roman" panose="02020603050405020304" pitchFamily="18" charset="0"/>
              </a:rPr>
              <a:t>기존방식</a:t>
            </a:r>
            <a:endParaRPr lang="en-US" altLang="ko-KR" sz="1500" dirty="0">
              <a:effectLst/>
              <a:latin typeface="맑은 고딕" panose="020B0503020000020004" pitchFamily="50" charset="-127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ko-KR" sz="1500" dirty="0">
              <a:effectLst/>
              <a:latin typeface="맑은 고딕" panose="020B0503020000020004" pitchFamily="50" charset="-127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1500" dirty="0">
                <a:effectLst/>
                <a:latin typeface="맑은 고딕" panose="020B0503020000020004" pitchFamily="50" charset="-127"/>
                <a:cs typeface="Times New Roman" panose="02020603050405020304" pitchFamily="18" charset="0"/>
              </a:rPr>
              <a:t>1_A</a:t>
            </a:r>
            <a:r>
              <a:rPr lang="ko-KR" altLang="ko-KR" sz="15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파형 으로 추측하기 매우 어렵다</a:t>
            </a:r>
            <a:r>
              <a:rPr lang="en-US" altLang="ko-KR" sz="15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 : </a:t>
            </a:r>
          </a:p>
          <a:p>
            <a:pPr>
              <a:lnSpc>
                <a:spcPct val="150000"/>
              </a:lnSpc>
            </a:pPr>
            <a:r>
              <a:rPr lang="en-US" altLang="ko-KR" sz="1500" dirty="0">
                <a:ea typeface="맑은 고딕" panose="020B0503020000020004" pitchFamily="50" charset="-127"/>
                <a:cs typeface="Times New Roman" panose="02020603050405020304" pitchFamily="18" charset="0"/>
              </a:rPr>
              <a:t>  </a:t>
            </a:r>
            <a:r>
              <a:rPr lang="ko-KR" altLang="ko-KR" sz="15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어디가 어디 물질인지 층인지 알 수 없다</a:t>
            </a:r>
            <a:r>
              <a:rPr lang="en-US" altLang="ko-KR" sz="15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endParaRPr lang="en-US" altLang="ko-KR" sz="1500" dirty="0"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15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2_ </a:t>
            </a:r>
            <a:r>
              <a:rPr lang="ko-KR" altLang="ko-KR" sz="15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직관적이지 않다</a:t>
            </a:r>
            <a:r>
              <a:rPr lang="en-US" altLang="ko-KR" sz="15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</a:p>
          <a:p>
            <a:pPr latinLnBrk="1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altLang="ko-KR" sz="15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3_ </a:t>
            </a:r>
            <a:r>
              <a:rPr lang="ko-KR" altLang="ko-KR" sz="15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단일 점 </a:t>
            </a:r>
            <a:r>
              <a:rPr lang="en-US" altLang="ko-KR" sz="15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Data</a:t>
            </a:r>
            <a:r>
              <a:rPr lang="ko-KR" altLang="ko-KR" sz="15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가 전부이기에</a:t>
            </a:r>
            <a:r>
              <a:rPr lang="en-US" altLang="ko-KR" sz="15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ko-KR" sz="15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이게 오류일 시에</a:t>
            </a:r>
            <a:r>
              <a:rPr lang="en-US" altLang="ko-KR" sz="15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ko-KR" sz="15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답이 없다</a:t>
            </a:r>
            <a:r>
              <a:rPr lang="en-US" altLang="ko-KR" sz="15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</a:p>
          <a:p>
            <a:pPr latinLnBrk="1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altLang="ko-KR" sz="15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 </a:t>
            </a:r>
            <a:r>
              <a:rPr lang="en-US" altLang="ko-KR" sz="15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ko-KR" altLang="ko-KR" sz="15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전체를 대표할 수 없다</a:t>
            </a:r>
            <a:r>
              <a:rPr lang="en-US" altLang="ko-KR" sz="15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endParaRPr lang="ko-KR" altLang="ko-KR" sz="15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0E33299-5789-2EE8-7B86-9FF8D27E37BB}"/>
              </a:ext>
            </a:extLst>
          </p:cNvPr>
          <p:cNvSpPr/>
          <p:nvPr/>
        </p:nvSpPr>
        <p:spPr>
          <a:xfrm>
            <a:off x="1187441" y="3209333"/>
            <a:ext cx="133350" cy="133350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4E0CB44-CCB9-1466-BFC2-1ACB6B43E52E}"/>
              </a:ext>
            </a:extLst>
          </p:cNvPr>
          <p:cNvSpPr/>
          <p:nvPr/>
        </p:nvSpPr>
        <p:spPr>
          <a:xfrm>
            <a:off x="4130092" y="3180727"/>
            <a:ext cx="133350" cy="133350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AF3C8B-2C35-1702-D443-CDB588354AB9}"/>
              </a:ext>
            </a:extLst>
          </p:cNvPr>
          <p:cNvSpPr txBox="1"/>
          <p:nvPr/>
        </p:nvSpPr>
        <p:spPr>
          <a:xfrm>
            <a:off x="6096000" y="2855351"/>
            <a:ext cx="6104466" cy="887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>
              <a:spcAft>
                <a:spcPts val="800"/>
              </a:spcAft>
            </a:pPr>
            <a:r>
              <a:rPr lang="en-US" altLang="ko-KR" sz="15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CS </a:t>
            </a:r>
            <a:r>
              <a:rPr lang="ko-KR" altLang="ko-KR" sz="15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인원</a:t>
            </a:r>
            <a:r>
              <a:rPr lang="en-US" altLang="ko-KR" sz="15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: </a:t>
            </a:r>
          </a:p>
          <a:p>
            <a:pPr latinLnBrk="1">
              <a:spcAft>
                <a:spcPts val="800"/>
              </a:spcAft>
            </a:pPr>
            <a:r>
              <a:rPr lang="ko-KR" altLang="ko-KR" sz="15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사이트로 파견되어</a:t>
            </a:r>
            <a:r>
              <a:rPr lang="en-US" altLang="ko-KR" sz="15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ko-KR" sz="15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새로운 모델 고객의 니즈에 맞게</a:t>
            </a:r>
            <a:r>
              <a:rPr lang="en-US" altLang="ko-KR" sz="15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en-US" sz="15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최적의 검사 영상을 위한</a:t>
            </a:r>
            <a:r>
              <a:rPr lang="en-US" altLang="ko-KR" sz="15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ko-KR" sz="15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셋팅을 해야 하는데</a:t>
            </a:r>
            <a:r>
              <a:rPr lang="en-US" altLang="ko-KR" sz="15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ko-KR" sz="15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기준이 무엇일지 궁금하다</a:t>
            </a:r>
            <a:r>
              <a:rPr lang="en-US" altLang="ko-KR" sz="15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endParaRPr lang="ko-KR" altLang="ko-KR" sz="15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3A241E-7C9C-F264-EB8A-884FB6E4555B}"/>
              </a:ext>
            </a:extLst>
          </p:cNvPr>
          <p:cNvSpPr txBox="1"/>
          <p:nvPr/>
        </p:nvSpPr>
        <p:spPr>
          <a:xfrm>
            <a:off x="1938528" y="3780087"/>
            <a:ext cx="28620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새로운 </a:t>
            </a:r>
            <a:r>
              <a:rPr lang="ko-KR" altLang="en-US" sz="1200"/>
              <a:t>이중 에칭 제품</a:t>
            </a:r>
          </a:p>
        </p:txBody>
      </p:sp>
      <p:pic>
        <p:nvPicPr>
          <p:cNvPr id="14" name="그림 1" descr="실린더, 스크린샷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2377A9A1-799C-295A-7D4D-C879391931E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33045" y="4016535"/>
            <a:ext cx="2862072" cy="2384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12968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17CCEE-A7AA-CEB2-CEB2-1F4D02794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뷰온로고_1220">
            <a:extLst>
              <a:ext uri="{FF2B5EF4-FFF2-40B4-BE49-F238E27FC236}">
                <a16:creationId xmlns:a16="http://schemas.microsoft.com/office/drawing/2014/main" id="{B237F80B-B969-F44B-8CEC-A6F5127978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682585" y="490514"/>
            <a:ext cx="1544727" cy="2048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955296B-4610-50C1-2F68-1C9DEFF12458}"/>
              </a:ext>
            </a:extLst>
          </p:cNvPr>
          <p:cNvSpPr txBox="1"/>
          <p:nvPr/>
        </p:nvSpPr>
        <p:spPr>
          <a:xfrm>
            <a:off x="341367" y="240137"/>
            <a:ext cx="77229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사례 분석 </a:t>
            </a:r>
            <a:r>
              <a:rPr lang="en-US" altLang="ko-KR" b="1" dirty="0"/>
              <a:t>“</a:t>
            </a:r>
            <a:r>
              <a:rPr lang="ko-KR" altLang="en-US" b="1" dirty="0"/>
              <a:t>솔더층</a:t>
            </a:r>
            <a:r>
              <a:rPr lang="en-US" altLang="ko-KR" b="1" dirty="0"/>
              <a:t>“ : </a:t>
            </a:r>
            <a:r>
              <a:rPr lang="ko-KR" altLang="en-US" b="1" dirty="0"/>
              <a:t>사이 거리에 따라</a:t>
            </a:r>
            <a:r>
              <a:rPr lang="en-US" altLang="ko-KR" b="1" dirty="0"/>
              <a:t>, </a:t>
            </a:r>
            <a:r>
              <a:rPr lang="ko-KR" altLang="en-US" b="1" dirty="0"/>
              <a:t>검사 영상이 달라짐</a:t>
            </a:r>
            <a:r>
              <a:rPr lang="en-US" altLang="ko-KR" b="1" dirty="0"/>
              <a:t> </a:t>
            </a:r>
            <a:endParaRPr lang="ko-KR" altLang="en-US" b="1" dirty="0"/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890E35B5-92E3-779E-AB0A-EE64332C3ECA}"/>
              </a:ext>
            </a:extLst>
          </p:cNvPr>
          <p:cNvCxnSpPr/>
          <p:nvPr/>
        </p:nvCxnSpPr>
        <p:spPr>
          <a:xfrm flipH="1">
            <a:off x="1495586" y="695397"/>
            <a:ext cx="8128861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684E72FE-929B-561D-4983-1489ECF13B17}"/>
              </a:ext>
            </a:extLst>
          </p:cNvPr>
          <p:cNvSpPr txBox="1"/>
          <p:nvPr/>
        </p:nvSpPr>
        <p:spPr>
          <a:xfrm>
            <a:off x="6815995" y="6519446"/>
            <a:ext cx="2247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rgbClr val="FF0000"/>
                </a:solidFill>
              </a:rPr>
              <a:t>보안자료</a:t>
            </a:r>
          </a:p>
        </p:txBody>
      </p:sp>
      <p:cxnSp>
        <p:nvCxnSpPr>
          <p:cNvPr id="114" name="직선 연결선 113">
            <a:extLst>
              <a:ext uri="{FF2B5EF4-FFF2-40B4-BE49-F238E27FC236}">
                <a16:creationId xmlns:a16="http://schemas.microsoft.com/office/drawing/2014/main" id="{7446ECBB-ED04-1F26-B70B-3E7142C5C7A7}"/>
              </a:ext>
            </a:extLst>
          </p:cNvPr>
          <p:cNvCxnSpPr>
            <a:cxnSpLocks/>
          </p:cNvCxnSpPr>
          <p:nvPr/>
        </p:nvCxnSpPr>
        <p:spPr>
          <a:xfrm>
            <a:off x="0" y="1151650"/>
            <a:ext cx="19800000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324A8C16-9B00-FCD7-D015-6246A7F10D15}"/>
              </a:ext>
            </a:extLst>
          </p:cNvPr>
          <p:cNvCxnSpPr/>
          <p:nvPr/>
        </p:nvCxnSpPr>
        <p:spPr>
          <a:xfrm flipH="1">
            <a:off x="1495586" y="695397"/>
            <a:ext cx="8128861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3EEA59C4-B963-0D4E-C7B3-BA115A7E3DFB}"/>
              </a:ext>
            </a:extLst>
          </p:cNvPr>
          <p:cNvSpPr txBox="1"/>
          <p:nvPr/>
        </p:nvSpPr>
        <p:spPr>
          <a:xfrm>
            <a:off x="598144" y="1166272"/>
            <a:ext cx="10151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8.5mm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5E0B18-9BAC-FBF7-4E1E-0AB478F22DFE}"/>
              </a:ext>
            </a:extLst>
          </p:cNvPr>
          <p:cNvSpPr txBox="1"/>
          <p:nvPr/>
        </p:nvSpPr>
        <p:spPr>
          <a:xfrm>
            <a:off x="3340628" y="3020031"/>
            <a:ext cx="10151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highlight>
                  <a:srgbClr val="FFFF00"/>
                </a:highlight>
              </a:rPr>
              <a:t>11.5mm</a:t>
            </a:r>
            <a:endParaRPr lang="ko-KR" altLang="en-US" dirty="0">
              <a:highlight>
                <a:srgbClr val="FFFF00"/>
              </a:highlight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762619F-8BA7-E958-D427-643083770EE2}"/>
              </a:ext>
            </a:extLst>
          </p:cNvPr>
          <p:cNvSpPr txBox="1"/>
          <p:nvPr/>
        </p:nvSpPr>
        <p:spPr>
          <a:xfrm>
            <a:off x="493310" y="2995976"/>
            <a:ext cx="10151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highlight>
                  <a:srgbClr val="FFFF00"/>
                </a:highlight>
              </a:rPr>
              <a:t>10.5mm</a:t>
            </a:r>
            <a:endParaRPr lang="ko-KR" altLang="en-US" dirty="0">
              <a:highlight>
                <a:srgbClr val="FFFF00"/>
              </a:highlight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605E77E-BF41-4DE4-C5BC-FF5ECBA806C3}"/>
              </a:ext>
            </a:extLst>
          </p:cNvPr>
          <p:cNvSpPr txBox="1"/>
          <p:nvPr/>
        </p:nvSpPr>
        <p:spPr>
          <a:xfrm>
            <a:off x="574071" y="4878117"/>
            <a:ext cx="21343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12.5mm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B4556DC-8E8D-DB29-09A3-E37CAFDBEB58}"/>
              </a:ext>
            </a:extLst>
          </p:cNvPr>
          <p:cNvSpPr txBox="1"/>
          <p:nvPr/>
        </p:nvSpPr>
        <p:spPr>
          <a:xfrm>
            <a:off x="3306244" y="4830032"/>
            <a:ext cx="30071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13.5mm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441DADA-5730-4AB8-D78C-5B3FFDEED7DA}"/>
              </a:ext>
            </a:extLst>
          </p:cNvPr>
          <p:cNvSpPr txBox="1"/>
          <p:nvPr/>
        </p:nvSpPr>
        <p:spPr>
          <a:xfrm>
            <a:off x="3445462" y="1155161"/>
            <a:ext cx="10151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9.5mm</a:t>
            </a:r>
            <a:endParaRPr lang="ko-KR" altLang="en-US" dirty="0"/>
          </a:p>
        </p:txBody>
      </p:sp>
      <p:pic>
        <p:nvPicPr>
          <p:cNvPr id="32" name="그림 31">
            <a:extLst>
              <a:ext uri="{FF2B5EF4-FFF2-40B4-BE49-F238E27FC236}">
                <a16:creationId xmlns:a16="http://schemas.microsoft.com/office/drawing/2014/main" id="{104D4E0F-B65C-BF30-5461-688595A31B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4" y="1555976"/>
            <a:ext cx="4981621" cy="1440000"/>
          </a:xfrm>
          <a:prstGeom prst="rect">
            <a:avLst/>
          </a:prstGeom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1E0F4C29-62AD-DF9E-C7FD-FF813A04C26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51352"/>
          <a:stretch/>
        </p:blipFill>
        <p:spPr>
          <a:xfrm>
            <a:off x="-14980" y="3424695"/>
            <a:ext cx="2433294" cy="1440000"/>
          </a:xfrm>
          <a:prstGeom prst="rect">
            <a:avLst/>
          </a:prstGeom>
          <a:ln w="76200">
            <a:noFill/>
          </a:ln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86ADA7AC-A901-E198-20C1-34C2091007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23761" y="5199364"/>
            <a:ext cx="5001898" cy="1440000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BFD8F1F5-51F4-540F-C61D-BF7D9EC2493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0110"/>
          <a:stretch/>
        </p:blipFill>
        <p:spPr>
          <a:xfrm>
            <a:off x="2530078" y="3407610"/>
            <a:ext cx="2495437" cy="1440000"/>
          </a:xfrm>
          <a:prstGeom prst="rect">
            <a:avLst/>
          </a:prstGeom>
          <a:ln w="57150">
            <a:noFill/>
          </a:ln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531A86AA-398A-2248-4882-BB9A194E2E12}"/>
              </a:ext>
            </a:extLst>
          </p:cNvPr>
          <p:cNvSpPr txBox="1"/>
          <p:nvPr/>
        </p:nvSpPr>
        <p:spPr>
          <a:xfrm>
            <a:off x="13122643" y="3790056"/>
            <a:ext cx="10151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7.7mm</a:t>
            </a:r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61B77FD-3A77-66AA-5C44-93E662651196}"/>
              </a:ext>
            </a:extLst>
          </p:cNvPr>
          <p:cNvSpPr txBox="1"/>
          <p:nvPr/>
        </p:nvSpPr>
        <p:spPr>
          <a:xfrm>
            <a:off x="19915861" y="3634393"/>
            <a:ext cx="10151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9.8mm</a:t>
            </a:r>
            <a:endParaRPr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56C5C25-A26A-4A3F-1178-9D4E69C99F7E}"/>
              </a:ext>
            </a:extLst>
          </p:cNvPr>
          <p:cNvSpPr txBox="1"/>
          <p:nvPr/>
        </p:nvSpPr>
        <p:spPr>
          <a:xfrm>
            <a:off x="16213158" y="3714068"/>
            <a:ext cx="10151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8.9mm</a:t>
            </a:r>
            <a:endParaRPr lang="ko-KR" alt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CE467C9-FE5E-589F-9ADD-68351C2CEA0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25909" y="1740749"/>
            <a:ext cx="5301403" cy="4525952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DEC4D9B3-E380-9DAF-A087-B2FC330B1195}"/>
              </a:ext>
            </a:extLst>
          </p:cNvPr>
          <p:cNvSpPr/>
          <p:nvPr/>
        </p:nvSpPr>
        <p:spPr>
          <a:xfrm>
            <a:off x="5936926" y="5563518"/>
            <a:ext cx="1146920" cy="63213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54157BA-D606-6975-B3CB-11096C753E19}"/>
              </a:ext>
            </a:extLst>
          </p:cNvPr>
          <p:cNvCxnSpPr/>
          <p:nvPr/>
        </p:nvCxnSpPr>
        <p:spPr>
          <a:xfrm>
            <a:off x="9342304" y="5354198"/>
            <a:ext cx="0" cy="429657"/>
          </a:xfrm>
          <a:prstGeom prst="straightConnector1">
            <a:avLst/>
          </a:prstGeom>
          <a:ln w="38100">
            <a:headEnd type="arrow" w="med" len="med"/>
            <a:tailEnd type="arrow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04709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9C7FB4-8771-DAAF-AD1E-6C7C827EB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AB486AF-1021-78DD-CCC0-2055B8CB36A6}"/>
              </a:ext>
            </a:extLst>
          </p:cNvPr>
          <p:cNvSpPr txBox="1"/>
          <p:nvPr/>
        </p:nvSpPr>
        <p:spPr>
          <a:xfrm>
            <a:off x="172010" y="128836"/>
            <a:ext cx="113585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최종 목표 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: 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처음 촬영하는 피사체 내부에 대해서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en-US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ⓐ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최적 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Distance, </a:t>
            </a:r>
            <a:r>
              <a:rPr lang="ko-KR" altLang="en-US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ⓑ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Hz, </a:t>
            </a:r>
            <a:r>
              <a:rPr lang="ko-KR" altLang="en-US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ⓒ계면을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추출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E8F57C-AF1D-EA6B-6033-7A8E952E1053}"/>
              </a:ext>
            </a:extLst>
          </p:cNvPr>
          <p:cNvSpPr txBox="1"/>
          <p:nvPr/>
        </p:nvSpPr>
        <p:spPr>
          <a:xfrm>
            <a:off x="326559" y="4851727"/>
            <a:ext cx="6151032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>
              <a:spcAft>
                <a:spcPts val="800"/>
              </a:spcAft>
              <a:buNone/>
            </a:pP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1_ 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높이가 자동으로 바뀐다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endParaRPr lang="ko-KR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latinLnBrk="1">
              <a:spcAft>
                <a:spcPts val="800"/>
              </a:spcAft>
              <a:buNone/>
            </a:pP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2_ Hz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가 자동으로 바뀐다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endParaRPr lang="ko-KR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latinLnBrk="1">
              <a:spcAft>
                <a:spcPts val="800"/>
              </a:spcAft>
              <a:buNone/>
            </a:pP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3_ Align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과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B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스캔 영상이 자동으로 추출된다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endParaRPr lang="ko-KR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latinLnBrk="1">
              <a:spcAft>
                <a:spcPts val="800"/>
              </a:spcAft>
            </a:pP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4_ </a:t>
            </a:r>
            <a:r>
              <a:rPr lang="ko-KR" altLang="en-US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검사 하기에 최적의 </a:t>
            </a:r>
            <a:r>
              <a:rPr lang="en-US" altLang="ko-KR" sz="1800" kern="10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Distnace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Hz, </a:t>
            </a:r>
            <a:r>
              <a:rPr lang="ko-KR" altLang="en-US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계면을 추출한다</a:t>
            </a:r>
            <a:endParaRPr lang="ko-KR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711C7C4-25B2-21D8-1D6C-AA82E0099C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7383" y="748930"/>
            <a:ext cx="7776290" cy="344875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897FFC8-493D-58ED-B352-D5B10E7D606F}"/>
              </a:ext>
            </a:extLst>
          </p:cNvPr>
          <p:cNvSpPr txBox="1"/>
          <p:nvPr/>
        </p:nvSpPr>
        <p:spPr>
          <a:xfrm>
            <a:off x="4553712" y="4263784"/>
            <a:ext cx="63902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B</a:t>
            </a:r>
            <a:r>
              <a:rPr lang="ko-KR" altLang="en-US" dirty="0"/>
              <a:t>스캔 </a:t>
            </a:r>
            <a:r>
              <a:rPr lang="en-US" altLang="ko-KR" dirty="0"/>
              <a:t>:</a:t>
            </a:r>
            <a:r>
              <a:rPr lang="ko-KR" altLang="en-US" dirty="0"/>
              <a:t> 높이에 따라 층들이 달라짐</a:t>
            </a:r>
          </a:p>
        </p:txBody>
      </p:sp>
    </p:spTree>
    <p:extLst>
      <p:ext uri="{BB962C8B-B14F-4D97-AF65-F5344CB8AC3E}">
        <p14:creationId xmlns:p14="http://schemas.microsoft.com/office/powerpoint/2010/main" val="27757915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1BF65A-2D66-3F0D-8763-E480A04CD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B1B2DD0-28B7-84FA-B25E-FD1D4928115B}"/>
              </a:ext>
            </a:extLst>
          </p:cNvPr>
          <p:cNvSpPr txBox="1"/>
          <p:nvPr/>
        </p:nvSpPr>
        <p:spPr>
          <a:xfrm>
            <a:off x="181155" y="94891"/>
            <a:ext cx="9238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해야할 일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6B461C-BED2-68D5-781A-31024FCACC50}"/>
              </a:ext>
            </a:extLst>
          </p:cNvPr>
          <p:cNvSpPr txBox="1"/>
          <p:nvPr/>
        </p:nvSpPr>
        <p:spPr>
          <a:xfrm>
            <a:off x="336548" y="4883413"/>
            <a:ext cx="6151032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>
              <a:spcAft>
                <a:spcPts val="800"/>
              </a:spcAft>
              <a:buNone/>
            </a:pP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1_ 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높이가 자동으로 바뀐다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endParaRPr lang="ko-KR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latinLnBrk="1">
              <a:spcAft>
                <a:spcPts val="800"/>
              </a:spcAft>
              <a:buNone/>
            </a:pP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2_ Hz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가 자동으로 바뀐다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endParaRPr lang="ko-KR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latinLnBrk="1">
              <a:spcAft>
                <a:spcPts val="800"/>
              </a:spcAft>
              <a:buNone/>
            </a:pP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3_ Align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과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B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스캔 영상이 자동으로 추출된다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endParaRPr lang="ko-KR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latinLnBrk="1">
              <a:spcAft>
                <a:spcPts val="800"/>
              </a:spcAft>
            </a:pP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4_ 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최종적으로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AI : </a:t>
            </a:r>
            <a:r>
              <a:rPr lang="en-US" altLang="ko-KR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Main Focus </a:t>
            </a:r>
            <a:r>
              <a:rPr lang="ko-KR" altLang="en-US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계면을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고른다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endParaRPr lang="ko-KR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21766A-B512-396E-AE53-64025156C475}"/>
              </a:ext>
            </a:extLst>
          </p:cNvPr>
          <p:cNvSpPr txBox="1"/>
          <p:nvPr/>
        </p:nvSpPr>
        <p:spPr>
          <a:xfrm>
            <a:off x="336548" y="1007188"/>
            <a:ext cx="11296652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latinLnBrk="1">
              <a:spcAft>
                <a:spcPts val="800"/>
              </a:spcAft>
              <a:buAutoNum type="arabicParenR"/>
            </a:pP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제어 프로그램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ko-KR" altLang="en-US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모터 제어 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&amp; </a:t>
            </a:r>
            <a:r>
              <a:rPr lang="ko-KR" altLang="en-US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트리거 보드 입력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: Z</a:t>
            </a:r>
            <a:r>
              <a:rPr lang="ko-KR" altLang="en-US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축 높이 변경 후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</a:t>
            </a:r>
            <a:r>
              <a:rPr lang="ko-KR" altLang="en-US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X</a:t>
            </a:r>
            <a:r>
              <a:rPr lang="ko-KR" altLang="en-US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축 이동 하며</a:t>
            </a:r>
            <a:r>
              <a:rPr lang="en-US" altLang="ko-KR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en-US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특정 위치별 트리거</a:t>
            </a:r>
            <a:endParaRPr lang="en-US" altLang="ko-KR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342900" indent="-342900" latinLnBrk="1">
              <a:spcAft>
                <a:spcPts val="800"/>
              </a:spcAft>
              <a:buAutoNum type="arabicParenR"/>
            </a:pPr>
            <a:endParaRPr lang="en-US" altLang="ko-KR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342900" indent="-342900" latinLnBrk="1">
              <a:spcAft>
                <a:spcPts val="800"/>
              </a:spcAft>
              <a:buAutoNum type="arabicParenR"/>
            </a:pPr>
            <a:endParaRPr lang="en-US" altLang="ko-KR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342900" indent="-342900" latinLnBrk="1">
              <a:spcAft>
                <a:spcPts val="800"/>
              </a:spcAft>
              <a:buAutoNum type="arabicParenR"/>
            </a:pPr>
            <a:endParaRPr lang="en-US" altLang="ko-KR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342900" indent="-342900" latinLnBrk="1">
              <a:spcAft>
                <a:spcPts val="800"/>
              </a:spcAft>
              <a:buAutoNum type="arabicParenR"/>
            </a:pPr>
            <a:endParaRPr lang="en-US" altLang="ko-KR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342900" indent="-342900" latinLnBrk="1">
              <a:spcAft>
                <a:spcPts val="800"/>
              </a:spcAft>
              <a:buAutoNum type="arabicParenR"/>
            </a:pPr>
            <a:endParaRPr lang="en-US" altLang="ko-KR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342900" indent="-342900" latinLnBrk="1">
              <a:spcAft>
                <a:spcPts val="800"/>
              </a:spcAft>
              <a:buAutoNum type="arabicParenR"/>
            </a:pPr>
            <a:endParaRPr lang="en-US" altLang="ko-KR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342900" indent="-342900" latinLnBrk="1">
              <a:spcAft>
                <a:spcPts val="800"/>
              </a:spcAft>
              <a:buAutoNum type="arabicParenR"/>
            </a:pPr>
            <a:endParaRPr lang="en-US" altLang="ko-KR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342900" indent="-342900" latinLnBrk="1">
              <a:spcAft>
                <a:spcPts val="800"/>
              </a:spcAft>
              <a:buAutoNum type="arabicParenR"/>
            </a:pPr>
            <a:endParaRPr lang="en-US" altLang="ko-KR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342900" indent="-342900" latinLnBrk="1">
              <a:spcAft>
                <a:spcPts val="800"/>
              </a:spcAft>
              <a:buAutoNum type="arabicParenR"/>
            </a:pPr>
            <a:r>
              <a:rPr lang="ko-KR" altLang="en-US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취득 프로그램 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: Scan Stroke </a:t>
            </a:r>
            <a:r>
              <a:rPr lang="ko-KR" altLang="en-US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별로 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Hz </a:t>
            </a:r>
            <a:r>
              <a:rPr lang="ko-KR" altLang="en-US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변경하여</a:t>
            </a:r>
            <a:r>
              <a:rPr lang="en-US" altLang="ko-KR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en-US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초음파 모듈로부터</a:t>
            </a:r>
            <a:r>
              <a:rPr lang="en-US" altLang="ko-KR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A</a:t>
            </a:r>
            <a:r>
              <a:rPr lang="ko-KR" altLang="en-US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스캔들 획득 후</a:t>
            </a:r>
            <a:r>
              <a:rPr lang="en-US" altLang="ko-KR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</a:t>
            </a:r>
            <a:r>
              <a:rPr lang="ko-KR" altLang="en-US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B</a:t>
            </a:r>
            <a:r>
              <a:rPr lang="ko-KR" altLang="en-US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스캔 전환 후 저장</a:t>
            </a:r>
            <a:endParaRPr lang="en-US" altLang="ko-KR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C1B480-9C91-3E96-BC60-5433A6FEAD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 l="12778" t="18889" r="35185" b="31975"/>
          <a:stretch/>
        </p:blipFill>
        <p:spPr>
          <a:xfrm>
            <a:off x="8164723" y="1784818"/>
            <a:ext cx="2510644" cy="177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378B535-6275-CE7A-7701-99672A7413C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6913" b="20864"/>
          <a:stretch/>
        </p:blipFill>
        <p:spPr>
          <a:xfrm>
            <a:off x="5580463" y="1463084"/>
            <a:ext cx="1814234" cy="242146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3FFE19C-BF6F-31E3-BE8C-200EBB8D3BA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15821"/>
          <a:stretch/>
        </p:blipFill>
        <p:spPr>
          <a:xfrm>
            <a:off x="1821715" y="1378738"/>
            <a:ext cx="2596723" cy="2914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42203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3E9003-FA56-4618-2788-C487AD0244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81D961C-0745-060D-398B-985AA3702E7B}"/>
              </a:ext>
            </a:extLst>
          </p:cNvPr>
          <p:cNvSpPr txBox="1"/>
          <p:nvPr/>
        </p:nvSpPr>
        <p:spPr>
          <a:xfrm>
            <a:off x="181155" y="94891"/>
            <a:ext cx="9238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참고 논문 분석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03E5E6-548B-41D9-E7E4-4A0D215DAEF6}"/>
              </a:ext>
            </a:extLst>
          </p:cNvPr>
          <p:cNvSpPr txBox="1"/>
          <p:nvPr/>
        </p:nvSpPr>
        <p:spPr>
          <a:xfrm>
            <a:off x="265589" y="732331"/>
            <a:ext cx="11242180" cy="59195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>
              <a:spcAft>
                <a:spcPts val="800"/>
              </a:spcAft>
              <a:buNone/>
            </a:pPr>
            <a:r>
              <a:rPr lang="ko-KR" altLang="ko-KR" sz="1200" b="1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논문</a:t>
            </a:r>
            <a:r>
              <a:rPr lang="en-US" altLang="ko-KR" sz="1200" b="1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1] </a:t>
            </a:r>
            <a:r>
              <a:rPr lang="ko-KR" altLang="ko-KR" sz="1200" b="1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복잡한 형상을 가진 표본의 비파괴 검사 및 평가를 위한 자동 초점 초음파 이미지</a:t>
            </a:r>
            <a:endParaRPr lang="ko-KR" altLang="ko-KR" sz="12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latinLnBrk="1">
              <a:spcAft>
                <a:spcPts val="800"/>
              </a:spcAft>
              <a:buNone/>
            </a:pPr>
            <a:r>
              <a:rPr lang="en-US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0_ </a:t>
            </a:r>
            <a:r>
              <a:rPr lang="ko-KR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주소</a:t>
            </a:r>
            <a:r>
              <a:rPr lang="en-US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: https://doi.org/10.1016/j.ndteint.2009.09.001</a:t>
            </a:r>
            <a:endParaRPr lang="ko-KR" altLang="ko-KR" sz="12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latinLnBrk="1">
              <a:spcAft>
                <a:spcPts val="800"/>
              </a:spcAft>
              <a:buNone/>
            </a:pPr>
            <a:r>
              <a:rPr lang="en-US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1_ </a:t>
            </a:r>
            <a:r>
              <a:rPr lang="ko-KR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문제의식</a:t>
            </a:r>
            <a:r>
              <a:rPr lang="en-US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: </a:t>
            </a:r>
            <a:r>
              <a:rPr lang="ko-KR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복잡한 형상을 가진 피사체의 좋은 내부 영상을 얻고 싶다</a:t>
            </a:r>
            <a:r>
              <a:rPr lang="en-US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endParaRPr lang="ko-KR" altLang="ko-KR" sz="12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latinLnBrk="1">
              <a:spcAft>
                <a:spcPts val="800"/>
              </a:spcAft>
              <a:buNone/>
            </a:pPr>
            <a:r>
              <a:rPr lang="en-US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2_ </a:t>
            </a:r>
            <a:r>
              <a:rPr lang="ko-KR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해결 방법</a:t>
            </a:r>
            <a:r>
              <a:rPr lang="en-US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: </a:t>
            </a:r>
            <a:r>
              <a:rPr lang="ko-KR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선명도를 최대로 하는 자동 초점 알고리즘을 개발함</a:t>
            </a:r>
          </a:p>
          <a:p>
            <a:pPr latinLnBrk="1">
              <a:spcAft>
                <a:spcPts val="800"/>
              </a:spcAft>
            </a:pPr>
            <a:r>
              <a:rPr lang="en-US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3_ </a:t>
            </a:r>
            <a:r>
              <a:rPr lang="ko-KR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도출된 문제</a:t>
            </a:r>
            <a:r>
              <a:rPr lang="en-US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: </a:t>
            </a:r>
            <a:r>
              <a:rPr lang="ko-KR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없음</a:t>
            </a:r>
            <a:endParaRPr lang="en-US" altLang="ko-KR" sz="12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latinLnBrk="1">
              <a:spcAft>
                <a:spcPts val="800"/>
              </a:spcAft>
            </a:pPr>
            <a:endParaRPr lang="en-US" altLang="ko-KR" sz="1200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latinLnBrk="1">
              <a:spcAft>
                <a:spcPts val="800"/>
              </a:spcAft>
              <a:buNone/>
            </a:pPr>
            <a:r>
              <a:rPr lang="ko-KR" altLang="ko-KR" sz="1200" b="1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논문</a:t>
            </a:r>
            <a:r>
              <a:rPr lang="en-US" altLang="ko-KR" sz="1200" b="1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2]  </a:t>
            </a:r>
            <a:r>
              <a:rPr lang="ko-KR" altLang="ko-KR" sz="1200" b="1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딥러닝을</a:t>
            </a:r>
            <a:r>
              <a:rPr lang="en-US" altLang="ko-KR" sz="1200" b="1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 </a:t>
            </a:r>
            <a:r>
              <a:rPr lang="ko-KR" altLang="ko-KR" sz="1200" b="1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이용한</a:t>
            </a:r>
            <a:r>
              <a:rPr lang="en-US" altLang="ko-KR" sz="1200" b="1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 </a:t>
            </a:r>
            <a:r>
              <a:rPr lang="ko-KR" altLang="ko-KR" sz="1200" b="1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적응형</a:t>
            </a:r>
            <a:r>
              <a:rPr lang="en-US" altLang="ko-KR" sz="1200" b="1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 </a:t>
            </a:r>
            <a:r>
              <a:rPr lang="ko-KR" altLang="ko-KR" sz="1200" b="1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초음파</a:t>
            </a:r>
            <a:r>
              <a:rPr lang="en-US" altLang="ko-KR" sz="1200" b="1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 </a:t>
            </a:r>
            <a:r>
              <a:rPr lang="ko-KR" altLang="ko-KR" sz="1200" b="1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빔포밍</a:t>
            </a:r>
            <a:endParaRPr lang="ko-KR" altLang="ko-KR" sz="12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latinLnBrk="1">
              <a:spcAft>
                <a:spcPts val="800"/>
              </a:spcAft>
              <a:buNone/>
            </a:pPr>
            <a:r>
              <a:rPr lang="en-US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0_ </a:t>
            </a:r>
            <a:r>
              <a:rPr lang="ko-KR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주소</a:t>
            </a:r>
            <a:r>
              <a:rPr lang="en-US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: DOI: 10.1109/TMI.2020.3008537</a:t>
            </a:r>
            <a:endParaRPr lang="ko-KR" altLang="ko-KR" sz="12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latinLnBrk="1">
              <a:spcAft>
                <a:spcPts val="800"/>
              </a:spcAft>
              <a:buNone/>
            </a:pPr>
            <a:r>
              <a:rPr lang="en-US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1_ </a:t>
            </a:r>
            <a:r>
              <a:rPr lang="ko-KR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문제의식</a:t>
            </a:r>
            <a:r>
              <a:rPr lang="en-US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: </a:t>
            </a:r>
            <a:r>
              <a:rPr lang="ko-KR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초음파 내부 영상을 재구성하는데 사용되는 기존 알고리즘은 연산비용이 높다</a:t>
            </a:r>
            <a:r>
              <a:rPr lang="en-US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 </a:t>
            </a:r>
            <a:r>
              <a:rPr lang="ko-KR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이를 딥러닝으로 더 적은 연산 비용을 지불하게 한다</a:t>
            </a:r>
            <a:r>
              <a:rPr lang="en-US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endParaRPr lang="ko-KR" altLang="ko-KR" sz="12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latinLnBrk="1">
              <a:spcAft>
                <a:spcPts val="800"/>
              </a:spcAft>
              <a:buNone/>
            </a:pPr>
            <a:r>
              <a:rPr lang="en-US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2_ </a:t>
            </a:r>
            <a:r>
              <a:rPr lang="ko-KR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해결 방법</a:t>
            </a:r>
            <a:r>
              <a:rPr lang="en-US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:   ABLE(Adaptive  Beamforming  by  Deep  Learning) </a:t>
            </a:r>
            <a:r>
              <a:rPr lang="ko-KR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신경망을 사용함</a:t>
            </a:r>
            <a:r>
              <a:rPr lang="en-US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 </a:t>
            </a:r>
            <a:r>
              <a:rPr lang="ko-KR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입력</a:t>
            </a:r>
            <a:r>
              <a:rPr lang="en-US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 </a:t>
            </a:r>
            <a:r>
              <a:rPr lang="ko-KR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채널</a:t>
            </a:r>
            <a:r>
              <a:rPr lang="en-US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 </a:t>
            </a:r>
            <a:r>
              <a:rPr lang="ko-KR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데이터에</a:t>
            </a:r>
            <a:r>
              <a:rPr lang="en-US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 </a:t>
            </a:r>
            <a:r>
              <a:rPr lang="ko-KR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따라</a:t>
            </a:r>
            <a:r>
              <a:rPr lang="en-US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 </a:t>
            </a:r>
            <a:r>
              <a:rPr lang="ko-KR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아포디제이션</a:t>
            </a:r>
            <a:r>
              <a:rPr lang="en-US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 </a:t>
            </a:r>
            <a:r>
              <a:rPr lang="ko-KR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가중치를</a:t>
            </a:r>
            <a:r>
              <a:rPr lang="en-US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 </a:t>
            </a:r>
            <a:r>
              <a:rPr lang="ko-KR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적응적으로</a:t>
            </a:r>
            <a:r>
              <a:rPr lang="en-US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 </a:t>
            </a:r>
            <a:r>
              <a:rPr lang="ko-KR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계산하</a:t>
            </a:r>
          </a:p>
          <a:p>
            <a:pPr latinLnBrk="1">
              <a:spcAft>
                <a:spcPts val="800"/>
              </a:spcAft>
              <a:buNone/>
            </a:pPr>
            <a:r>
              <a:rPr lang="ko-KR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는</a:t>
            </a:r>
            <a:r>
              <a:rPr lang="en-US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 </a:t>
            </a:r>
            <a:r>
              <a:rPr lang="ko-KR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신경망을</a:t>
            </a:r>
            <a:r>
              <a:rPr lang="en-US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 </a:t>
            </a:r>
            <a:r>
              <a:rPr lang="ko-KR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갖춘</a:t>
            </a:r>
            <a:r>
              <a:rPr lang="en-US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 MV  </a:t>
            </a:r>
            <a:r>
              <a:rPr lang="ko-KR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빔포머를 사용함</a:t>
            </a:r>
            <a:r>
              <a:rPr lang="en-US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endParaRPr lang="ko-KR" altLang="ko-KR" sz="12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latinLnBrk="1">
              <a:spcAft>
                <a:spcPts val="800"/>
              </a:spcAft>
              <a:buNone/>
            </a:pPr>
            <a:r>
              <a:rPr lang="en-US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3_ </a:t>
            </a:r>
            <a:r>
              <a:rPr lang="ko-KR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도출된 문제</a:t>
            </a:r>
            <a:r>
              <a:rPr lang="en-US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:  </a:t>
            </a:r>
            <a:r>
              <a:rPr lang="ko-KR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전체</a:t>
            </a:r>
            <a:r>
              <a:rPr lang="en-US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 </a:t>
            </a:r>
            <a:r>
              <a:rPr lang="ko-KR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배열</a:t>
            </a:r>
            <a:r>
              <a:rPr lang="en-US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 </a:t>
            </a:r>
            <a:r>
              <a:rPr lang="ko-KR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재구성과</a:t>
            </a:r>
            <a:r>
              <a:rPr lang="en-US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 </a:t>
            </a:r>
            <a:r>
              <a:rPr lang="ko-KR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비교했을</a:t>
            </a:r>
            <a:r>
              <a:rPr lang="en-US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 </a:t>
            </a:r>
            <a:r>
              <a:rPr lang="ko-KR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때</a:t>
            </a:r>
            <a:r>
              <a:rPr lang="en-US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 </a:t>
            </a:r>
            <a:r>
              <a:rPr lang="ko-KR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특히</a:t>
            </a:r>
            <a:r>
              <a:rPr lang="en-US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 25%  </a:t>
            </a:r>
            <a:r>
              <a:rPr lang="ko-KR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채널</a:t>
            </a:r>
            <a:r>
              <a:rPr lang="en-US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 </a:t>
            </a:r>
            <a:r>
              <a:rPr lang="ko-KR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하위</a:t>
            </a:r>
            <a:r>
              <a:rPr lang="en-US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 </a:t>
            </a:r>
            <a:r>
              <a:rPr lang="ko-KR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샘플링에서</a:t>
            </a:r>
            <a:r>
              <a:rPr lang="en-US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 </a:t>
            </a:r>
            <a:r>
              <a:rPr lang="ko-KR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눈에</a:t>
            </a:r>
            <a:r>
              <a:rPr lang="en-US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 </a:t>
            </a:r>
            <a:r>
              <a:rPr lang="ko-KR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띄는</a:t>
            </a:r>
            <a:r>
              <a:rPr lang="en-US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 </a:t>
            </a:r>
            <a:r>
              <a:rPr lang="ko-KR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아티팩트가</a:t>
            </a:r>
            <a:r>
              <a:rPr lang="en-US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 </a:t>
            </a:r>
            <a:r>
              <a:rPr lang="ko-KR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보</a:t>
            </a:r>
          </a:p>
          <a:p>
            <a:pPr latinLnBrk="1">
              <a:spcAft>
                <a:spcPts val="800"/>
              </a:spcAft>
              <a:buNone/>
            </a:pPr>
            <a:r>
              <a:rPr lang="ko-KR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입니다</a:t>
            </a:r>
            <a:r>
              <a:rPr lang="en-US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  </a:t>
            </a:r>
            <a:r>
              <a:rPr lang="ko-KR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이러한</a:t>
            </a:r>
            <a:r>
              <a:rPr lang="en-US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 </a:t>
            </a:r>
            <a:r>
              <a:rPr lang="ko-KR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아티팩트는</a:t>
            </a:r>
            <a:r>
              <a:rPr lang="en-US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 </a:t>
            </a:r>
            <a:r>
              <a:rPr lang="ko-KR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주로</a:t>
            </a:r>
            <a:r>
              <a:rPr lang="en-US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 </a:t>
            </a:r>
            <a:r>
              <a:rPr lang="ko-KR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스페클이</a:t>
            </a:r>
            <a:r>
              <a:rPr lang="en-US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 </a:t>
            </a:r>
            <a:r>
              <a:rPr lang="ko-KR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있는</a:t>
            </a:r>
            <a:r>
              <a:rPr lang="en-US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 </a:t>
            </a:r>
            <a:r>
              <a:rPr lang="ko-KR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영역에서</a:t>
            </a:r>
            <a:r>
              <a:rPr lang="en-US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 </a:t>
            </a:r>
            <a:r>
              <a:rPr lang="ko-KR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주로</a:t>
            </a:r>
            <a:r>
              <a:rPr lang="en-US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 </a:t>
            </a:r>
            <a:r>
              <a:rPr lang="ko-KR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나타납니다</a:t>
            </a:r>
            <a:r>
              <a:rPr lang="en-US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  </a:t>
            </a:r>
            <a:r>
              <a:rPr lang="ko-KR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이는</a:t>
            </a:r>
            <a:r>
              <a:rPr lang="en-US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 </a:t>
            </a:r>
            <a:r>
              <a:rPr lang="ko-KR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수신</a:t>
            </a:r>
            <a:r>
              <a:rPr lang="en-US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 </a:t>
            </a:r>
            <a:r>
              <a:rPr lang="ko-KR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채널</a:t>
            </a:r>
            <a:r>
              <a:rPr lang="en-US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 </a:t>
            </a:r>
            <a:r>
              <a:rPr lang="ko-KR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수가</a:t>
            </a:r>
            <a:r>
              <a:rPr lang="en-US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 </a:t>
            </a:r>
            <a:r>
              <a:rPr lang="ko-KR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제한</a:t>
            </a:r>
          </a:p>
          <a:p>
            <a:pPr latinLnBrk="1">
              <a:spcAft>
                <a:spcPts val="800"/>
              </a:spcAft>
              <a:buNone/>
            </a:pPr>
            <a:r>
              <a:rPr lang="ko-KR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되어</a:t>
            </a:r>
            <a:r>
              <a:rPr lang="en-US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 </a:t>
            </a:r>
            <a:r>
              <a:rPr lang="ko-KR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있어서 입니다</a:t>
            </a:r>
            <a:r>
              <a:rPr lang="en-US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endParaRPr lang="ko-KR" altLang="ko-KR" sz="12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latinLnBrk="1">
              <a:spcAft>
                <a:spcPts val="800"/>
              </a:spcAft>
              <a:buNone/>
            </a:pPr>
            <a:r>
              <a:rPr lang="en-US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 </a:t>
            </a:r>
            <a:endParaRPr lang="ko-KR" altLang="ko-KR" sz="12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latinLnBrk="1">
              <a:spcAft>
                <a:spcPts val="800"/>
              </a:spcAft>
              <a:buNone/>
            </a:pPr>
            <a:r>
              <a:rPr lang="ko-KR" altLang="ko-KR" sz="1200" b="1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논문</a:t>
            </a:r>
            <a:r>
              <a:rPr lang="en-US" altLang="ko-KR" sz="1200" b="1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3] </a:t>
            </a:r>
            <a:r>
              <a:rPr lang="ko-KR" altLang="ko-KR" sz="1200" b="1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듀얼 레이어 미디어를 통해 알 수 없는 복잡한 형상의 자동 초점을 제공하는 가상 소스 조리개 이미징</a:t>
            </a:r>
            <a:endParaRPr lang="ko-KR" altLang="ko-KR" sz="12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latinLnBrk="1">
              <a:spcAft>
                <a:spcPts val="800"/>
              </a:spcAft>
              <a:buNone/>
            </a:pPr>
            <a:r>
              <a:rPr lang="en-US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0_ </a:t>
            </a:r>
            <a:r>
              <a:rPr lang="ko-KR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주소</a:t>
            </a:r>
            <a:r>
              <a:rPr lang="en-US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: https://doi.org/10.1016/j.ndteint.2018.04.005</a:t>
            </a:r>
            <a:endParaRPr lang="ko-KR" altLang="ko-KR" sz="12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latinLnBrk="1">
              <a:spcAft>
                <a:spcPts val="800"/>
              </a:spcAft>
              <a:buNone/>
            </a:pPr>
            <a:r>
              <a:rPr lang="en-US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1_ </a:t>
            </a:r>
            <a:r>
              <a:rPr lang="ko-KR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문제의식</a:t>
            </a:r>
            <a:r>
              <a:rPr lang="en-US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: </a:t>
            </a:r>
            <a:r>
              <a:rPr lang="ko-KR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기존</a:t>
            </a:r>
            <a:r>
              <a:rPr lang="en-US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FMC-TFM</a:t>
            </a:r>
            <a:r>
              <a:rPr lang="ko-KR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을 사용한 검사는 방대한 양의 데이터를 수집해야 하고 그에 따른 많은 처리 오버헤드로 인해 부담이 됩니다</a:t>
            </a:r>
          </a:p>
          <a:p>
            <a:pPr latinLnBrk="1">
              <a:spcAft>
                <a:spcPts val="800"/>
              </a:spcAft>
              <a:buNone/>
            </a:pPr>
            <a:r>
              <a:rPr lang="en-US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2_ </a:t>
            </a:r>
            <a:r>
              <a:rPr lang="ko-KR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해결 방법</a:t>
            </a:r>
            <a:r>
              <a:rPr lang="en-US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: </a:t>
            </a:r>
            <a:r>
              <a:rPr lang="ko-KR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이중 레이어 매체를 통해 검사할 때 구성 요소의 표면을 초음파로 매핑하는 새로운 가상 소스 조리개 기술</a:t>
            </a:r>
            <a:r>
              <a:rPr lang="en-US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VSA(Virtual Source Aperture) </a:t>
            </a:r>
            <a:r>
              <a:rPr lang="ko-KR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표면 매핑 기술이 제시</a:t>
            </a:r>
          </a:p>
          <a:p>
            <a:pPr latinLnBrk="1">
              <a:spcAft>
                <a:spcPts val="800"/>
              </a:spcAft>
            </a:pPr>
            <a:r>
              <a:rPr lang="en-US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3_ </a:t>
            </a:r>
            <a:r>
              <a:rPr lang="ko-KR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도출된 문제</a:t>
            </a:r>
            <a:r>
              <a:rPr lang="en-US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: </a:t>
            </a:r>
            <a:r>
              <a:rPr lang="ko-KR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없음</a:t>
            </a:r>
            <a:endParaRPr lang="ko-KR" altLang="en-US" sz="12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48743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48EC9E13-A1E2-4726-84A0-143E8882E4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52887" y="5847131"/>
            <a:ext cx="3773322" cy="546481"/>
          </a:xfrm>
          <a:prstGeom prst="rect">
            <a:avLst/>
          </a:prstGeom>
        </p:spPr>
      </p:pic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CAD79BEE-00C0-4B6D-AC15-5E1056E467FF}"/>
              </a:ext>
            </a:extLst>
          </p:cNvPr>
          <p:cNvCxnSpPr>
            <a:cxnSpLocks/>
          </p:cNvCxnSpPr>
          <p:nvPr/>
        </p:nvCxnSpPr>
        <p:spPr>
          <a:xfrm>
            <a:off x="7189365" y="6476301"/>
            <a:ext cx="5002635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37CB2965-7934-43D1-ABF1-95409E8EA92F}"/>
              </a:ext>
            </a:extLst>
          </p:cNvPr>
          <p:cNvCxnSpPr>
            <a:cxnSpLocks/>
          </p:cNvCxnSpPr>
          <p:nvPr/>
        </p:nvCxnSpPr>
        <p:spPr>
          <a:xfrm>
            <a:off x="7189365" y="6490982"/>
            <a:ext cx="5002635" cy="0"/>
          </a:xfrm>
          <a:prstGeom prst="line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F8779BE0-60D4-4EF4-8E3A-7EA2703CD520}"/>
              </a:ext>
            </a:extLst>
          </p:cNvPr>
          <p:cNvSpPr txBox="1"/>
          <p:nvPr/>
        </p:nvSpPr>
        <p:spPr>
          <a:xfrm>
            <a:off x="4173894" y="2967335"/>
            <a:ext cx="38442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감사합니다</a:t>
            </a:r>
            <a:r>
              <a:rPr lang="en-US" altLang="ko-KR" sz="5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.</a:t>
            </a:r>
            <a:endParaRPr lang="ko-KR" altLang="en-US" sz="54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04184F5-0996-029A-601E-E2FB23A5AB2F}"/>
              </a:ext>
            </a:extLst>
          </p:cNvPr>
          <p:cNvSpPr txBox="1"/>
          <p:nvPr/>
        </p:nvSpPr>
        <p:spPr>
          <a:xfrm>
            <a:off x="6641024" y="6527415"/>
            <a:ext cx="2247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rgbClr val="FF0000"/>
                </a:solidFill>
              </a:rPr>
              <a:t>보안자료</a:t>
            </a:r>
          </a:p>
        </p:txBody>
      </p:sp>
    </p:spTree>
    <p:extLst>
      <p:ext uri="{BB962C8B-B14F-4D97-AF65-F5344CB8AC3E}">
        <p14:creationId xmlns:p14="http://schemas.microsoft.com/office/powerpoint/2010/main" val="20166666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c6fd949d-c422-4889-b857-dd7e39e3e2a1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7960534D512EF743B8FEE246868B50D2" ma:contentTypeVersion="11" ma:contentTypeDescription="새 문서를 만듭니다." ma:contentTypeScope="" ma:versionID="a0674cbf9b7dff3e3d650def7557f379">
  <xsd:schema xmlns:xsd="http://www.w3.org/2001/XMLSchema" xmlns:xs="http://www.w3.org/2001/XMLSchema" xmlns:p="http://schemas.microsoft.com/office/2006/metadata/properties" xmlns:ns3="c6fd949d-c422-4889-b857-dd7e39e3e2a1" targetNamespace="http://schemas.microsoft.com/office/2006/metadata/properties" ma:root="true" ma:fieldsID="b8446dfc8345ece8fecff9741e7f5740" ns3:_="">
    <xsd:import namespace="c6fd949d-c422-4889-b857-dd7e39e3e2a1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  <xsd:element ref="ns3:_activity" minOccurs="0"/>
                <xsd:element ref="ns3:MediaServiceDateTaken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6fd949d-c422-4889-b857-dd7e39e3e2a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BillingMetadata" ma:index="18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9BFE446-1E39-4D55-84DF-F460EA4EA327}">
  <ds:schemaRefs>
    <ds:schemaRef ds:uri="c6fd949d-c422-4889-b857-dd7e39e3e2a1"/>
    <ds:schemaRef ds:uri="http://purl.org/dc/terms/"/>
    <ds:schemaRef ds:uri="http://purl.org/dc/elements/1.1/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D3A98E8C-63C1-422E-A289-ECA1A10F39E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6fd949d-c422-4889-b857-dd7e39e3e2a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FDF88EE-4973-43F3-9FDD-578D19E40AF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2980</TotalTime>
  <Words>590</Words>
  <Application>Microsoft Office PowerPoint</Application>
  <PresentationFormat>와이드스크린</PresentationFormat>
  <Paragraphs>78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4" baseType="lpstr">
      <vt:lpstr>HY견고딕</vt:lpstr>
      <vt:lpstr>HY헤드라인M</vt:lpstr>
      <vt:lpstr>맑은 고딕</vt:lpstr>
      <vt:lpstr>Arial</vt:lpstr>
      <vt:lpstr>Calibri</vt:lpstr>
      <vt:lpstr>Verdana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최용환</dc:creator>
  <cp:lastModifiedBy>뷰온 주식회사</cp:lastModifiedBy>
  <cp:revision>300</cp:revision>
  <dcterms:created xsi:type="dcterms:W3CDTF">2022-04-26T07:26:32Z</dcterms:created>
  <dcterms:modified xsi:type="dcterms:W3CDTF">2026-09-18T00:53:06Z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0x0101007960534D512EF743B8FEE246868B50D2</vt:lpwstr>
  </property>
</Properties>
</file>