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1445" r:id="rId4"/>
    <p:sldId id="1443" r:id="rId5"/>
    <p:sldId id="1429" r:id="rId6"/>
    <p:sldId id="1446" r:id="rId7"/>
    <p:sldId id="1447" r:id="rId8"/>
    <p:sldId id="1448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41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38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84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53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70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030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6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43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94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44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58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B778F-E122-44E2-BFE4-49524EB74D04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5EDF1-ADA1-434F-8DE7-6DCF9F17D5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67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E0BE7-A396-EE8A-921F-B3B1BEC0C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6E668A-B482-151B-7D6B-0643D2ECD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575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F3C94F-F029-43F4-B53E-4E99E82CFF34}"/>
              </a:ext>
            </a:extLst>
          </p:cNvPr>
          <p:cNvCxnSpPr/>
          <p:nvPr/>
        </p:nvCxnSpPr>
        <p:spPr>
          <a:xfrm>
            <a:off x="2484713" y="3363985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F8F4BBC-A9EC-485D-9CB2-A5CF7B11B239}"/>
              </a:ext>
            </a:extLst>
          </p:cNvPr>
          <p:cNvCxnSpPr>
            <a:cxnSpLocks/>
          </p:cNvCxnSpPr>
          <p:nvPr/>
        </p:nvCxnSpPr>
        <p:spPr>
          <a:xfrm>
            <a:off x="2484713" y="3378666"/>
            <a:ext cx="9707287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43BA421-8F57-4947-9F5D-C27FF7851221}"/>
              </a:ext>
            </a:extLst>
          </p:cNvPr>
          <p:cNvSpPr txBox="1"/>
          <p:nvPr/>
        </p:nvSpPr>
        <p:spPr>
          <a:xfrm>
            <a:off x="0" y="4088139"/>
            <a:ext cx="11938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b="1" dirty="0">
                <a:latin typeface="+mj-lt"/>
                <a:ea typeface="HY견고딕" panose="02030600000101010101" pitchFamily="18" charset="-127"/>
              </a:rPr>
              <a:t>Phase Inverse </a:t>
            </a:r>
            <a:r>
              <a:rPr lang="ko-KR" altLang="en-US" sz="2800" b="1" dirty="0">
                <a:latin typeface="+mj-lt"/>
                <a:ea typeface="HY견고딕" panose="02030600000101010101" pitchFamily="18" charset="-127"/>
              </a:rPr>
              <a:t>및 </a:t>
            </a:r>
            <a:r>
              <a:rPr lang="en-US" altLang="ko-KR" sz="2800" b="1" dirty="0">
                <a:latin typeface="+mj-lt"/>
                <a:ea typeface="HY견고딕" panose="02030600000101010101" pitchFamily="18" charset="-127"/>
              </a:rPr>
              <a:t>SDK </a:t>
            </a:r>
            <a:r>
              <a:rPr lang="ko-KR" altLang="en-US" sz="2800" b="1" dirty="0">
                <a:latin typeface="+mj-lt"/>
                <a:ea typeface="HY견고딕" panose="02030600000101010101" pitchFamily="18" charset="-127"/>
              </a:rPr>
              <a:t>적용 </a:t>
            </a:r>
            <a:r>
              <a:rPr lang="en-US" altLang="ko-KR" sz="2800" b="1" dirty="0">
                <a:latin typeface="+mj-lt"/>
                <a:ea typeface="HY견고딕" panose="02030600000101010101" pitchFamily="18" charset="-127"/>
              </a:rPr>
              <a:t>Application </a:t>
            </a:r>
            <a:r>
              <a:rPr lang="ko-KR" altLang="en-US" sz="2800" b="1" dirty="0">
                <a:latin typeface="+mj-lt"/>
                <a:ea typeface="HY견고딕" panose="02030600000101010101" pitchFamily="18" charset="-127"/>
              </a:rPr>
              <a:t>개발 </a:t>
            </a:r>
            <a:r>
              <a:rPr lang="en-US" altLang="ko-KR" sz="2800" b="1" dirty="0">
                <a:latin typeface="+mj-lt"/>
                <a:ea typeface="HY견고딕" panose="02030600000101010101" pitchFamily="18" charset="-127"/>
              </a:rPr>
              <a:t>Ver 1.0</a:t>
            </a:r>
          </a:p>
          <a:p>
            <a:pPr algn="r"/>
            <a:r>
              <a:rPr lang="ko-KR" altLang="en-US" sz="2800" b="1" dirty="0" err="1">
                <a:latin typeface="+mj-lt"/>
                <a:ea typeface="HY견고딕" panose="02030600000101010101" pitchFamily="18" charset="-127"/>
              </a:rPr>
              <a:t>양회현</a:t>
            </a:r>
            <a:endParaRPr lang="en-US" altLang="ko-KR" sz="2800" b="1" dirty="0">
              <a:latin typeface="+mj-lt"/>
              <a:ea typeface="HY견고딕" panose="02030600000101010101" pitchFamily="18" charset="-127"/>
            </a:endParaRPr>
          </a:p>
          <a:p>
            <a:pPr algn="r"/>
            <a:r>
              <a:rPr lang="en-US" altLang="ko-KR" sz="2800" b="1" dirty="0">
                <a:latin typeface="+mj-lt"/>
                <a:ea typeface="HY견고딕" panose="02030600000101010101" pitchFamily="18" charset="-127"/>
              </a:rPr>
              <a:t>26.09.17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14213E-4E7E-8538-27C0-95CCBAC8E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351852"/>
            <a:ext cx="3390900" cy="23026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C5B6A1-B74E-AB5F-5121-4D847D83F495}"/>
              </a:ext>
            </a:extLst>
          </p:cNvPr>
          <p:cNvSpPr txBox="1"/>
          <p:nvPr/>
        </p:nvSpPr>
        <p:spPr>
          <a:xfrm>
            <a:off x="4177552" y="2763382"/>
            <a:ext cx="45092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/>
              <a:t>산학연계프로젝트연구</a:t>
            </a:r>
            <a:r>
              <a:rPr lang="en-US" altLang="ko-KR" sz="2500" b="1" dirty="0"/>
              <a:t>2(01)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734184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DF84-C175-723C-45F1-FF3E3DE4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31C0D34-E228-50E6-96F3-97C17FF09F47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5EA639-BD8E-85E5-8464-8B68BF3CDC83}"/>
              </a:ext>
            </a:extLst>
          </p:cNvPr>
          <p:cNvSpPr txBox="1"/>
          <p:nvPr/>
        </p:nvSpPr>
        <p:spPr>
          <a:xfrm>
            <a:off x="170538" y="101625"/>
            <a:ext cx="9502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연구 목적 및 내용</a:t>
            </a:r>
            <a:endParaRPr lang="ko-KR" altLang="en-US" sz="2800" dirty="0"/>
          </a:p>
          <a:p>
            <a:endParaRPr lang="ko-KR" alt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3C911-7164-D161-A383-708F3274DED2}"/>
              </a:ext>
            </a:extLst>
          </p:cNvPr>
          <p:cNvSpPr txBox="1"/>
          <p:nvPr/>
        </p:nvSpPr>
        <p:spPr>
          <a:xfrm>
            <a:off x="397933" y="847065"/>
            <a:ext cx="10820400" cy="546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300" dirty="0"/>
              <a:t> 본 연구는 기존 </a:t>
            </a:r>
            <a:r>
              <a:rPr lang="en-US" altLang="ko-KR" sz="1300" dirty="0"/>
              <a:t>B-scan </a:t>
            </a:r>
            <a:r>
              <a:rPr lang="ko-KR" altLang="en-US" sz="1300" dirty="0"/>
              <a:t>중심의 초음파 뷰어 프로그램을 상용화 수준의 고성능 </a:t>
            </a:r>
            <a:r>
              <a:rPr lang="en-US" altLang="ko-KR" sz="1300" dirty="0"/>
              <a:t>C-scan </a:t>
            </a:r>
            <a:r>
              <a:rPr lang="ko-KR" altLang="en-US" sz="1300" dirty="0"/>
              <a:t>뷰어로 고도화 하는 것을 목적으로 한다</a:t>
            </a:r>
            <a:r>
              <a:rPr lang="en-US" altLang="ko-KR" sz="1300" dirty="0"/>
              <a:t>. </a:t>
            </a:r>
            <a:r>
              <a:rPr lang="ko-KR" altLang="en-US" sz="1300" dirty="0"/>
              <a:t>실시간 초음파 </a:t>
            </a:r>
            <a:r>
              <a:rPr lang="en-US" altLang="ko-KR" sz="1300" dirty="0"/>
              <a:t>HW </a:t>
            </a:r>
            <a:r>
              <a:rPr lang="ko-KR" altLang="en-US" sz="1300" dirty="0"/>
              <a:t>신호 수신부터 </a:t>
            </a:r>
            <a:r>
              <a:rPr lang="en-US" altLang="ko-KR" sz="1300" dirty="0"/>
              <a:t>3D </a:t>
            </a:r>
            <a:r>
              <a:rPr lang="ko-KR" altLang="en-US" sz="1300" dirty="0"/>
              <a:t>데이터 처리</a:t>
            </a:r>
            <a:r>
              <a:rPr lang="en-US" altLang="ko-KR" sz="1300" dirty="0"/>
              <a:t>, Phase Inversion </a:t>
            </a:r>
            <a:r>
              <a:rPr lang="ko-KR" altLang="en-US" sz="1300" dirty="0"/>
              <a:t>오버레이 및 고속 </a:t>
            </a:r>
            <a:r>
              <a:rPr lang="en-US" altLang="ko-KR" sz="1300" dirty="0"/>
              <a:t>UI </a:t>
            </a:r>
            <a:r>
              <a:rPr lang="ko-KR" altLang="en-US" sz="1300" dirty="0"/>
              <a:t>표현을 통합 구현한다</a:t>
            </a:r>
            <a:r>
              <a:rPr lang="en-US" altLang="ko-KR" sz="1300" dirty="0"/>
              <a:t>.</a:t>
            </a:r>
          </a:p>
          <a:p>
            <a:pPr>
              <a:lnSpc>
                <a:spcPct val="150000"/>
              </a:lnSpc>
              <a:buNone/>
            </a:pPr>
            <a:endParaRPr lang="en-US" altLang="ko-KR" sz="13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C-scan </a:t>
            </a:r>
            <a:r>
              <a:rPr lang="ko-KR" altLang="en-US" sz="1300" b="1" dirty="0"/>
              <a:t>합성 및 최적화</a:t>
            </a:r>
            <a:r>
              <a:rPr lang="en-US" altLang="ko-KR" sz="1300" dirty="0"/>
              <a:t>: UI </a:t>
            </a:r>
            <a:r>
              <a:rPr lang="ko-KR" altLang="en-US" sz="1300" dirty="0"/>
              <a:t>및 데이터 처리 로직 구조화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Phase Inversion </a:t>
            </a:r>
            <a:r>
              <a:rPr lang="ko-KR" altLang="en-US" sz="1300" b="1" dirty="0"/>
              <a:t>기술 적용</a:t>
            </a:r>
            <a:r>
              <a:rPr lang="en-US" altLang="ko-KR" sz="1300" dirty="0"/>
              <a:t>: C-scan </a:t>
            </a:r>
            <a:r>
              <a:rPr lang="ko-KR" altLang="en-US" sz="1300" dirty="0"/>
              <a:t>영상 내 </a:t>
            </a:r>
            <a:r>
              <a:rPr lang="en-US" altLang="ko-KR" sz="1300" dirty="0"/>
              <a:t>Phase Inversion </a:t>
            </a:r>
            <a:r>
              <a:rPr lang="ko-KR" altLang="en-US" sz="1300" dirty="0"/>
              <a:t>좌표 오버레이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HW SDK </a:t>
            </a:r>
            <a:r>
              <a:rPr lang="ko-KR" altLang="en-US" sz="1300" b="1" dirty="0"/>
              <a:t>연동</a:t>
            </a:r>
            <a:r>
              <a:rPr lang="en-US" altLang="ko-KR" sz="1300" dirty="0"/>
              <a:t>: </a:t>
            </a:r>
            <a:r>
              <a:rPr lang="ko-KR" altLang="en-US" sz="1300" dirty="0"/>
              <a:t>실시간 </a:t>
            </a:r>
            <a:r>
              <a:rPr lang="en-US" altLang="ko-KR" sz="1300" dirty="0"/>
              <a:t>A/B/C-scan </a:t>
            </a:r>
            <a:r>
              <a:rPr lang="ko-KR" altLang="en-US" sz="1300" dirty="0"/>
              <a:t>신호 수신 및 표현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1300" b="1" dirty="0"/>
              <a:t>연구 방법</a:t>
            </a:r>
            <a:endParaRPr lang="ko-KR" altLang="en-US" sz="1300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b="1" dirty="0"/>
              <a:t>데이터 구조 최적화</a:t>
            </a:r>
            <a:r>
              <a:rPr lang="en-US" altLang="ko-KR" sz="1300" dirty="0"/>
              <a:t>: </a:t>
            </a:r>
            <a:r>
              <a:rPr lang="ko-KR" altLang="en-US" sz="1300" dirty="0"/>
              <a:t>대용량 초음파 데이터의 메모리 효율성 및 연산 속도 향상을 위해 기존 </a:t>
            </a:r>
            <a:r>
              <a:rPr lang="en-US" altLang="ko-KR" sz="1300" dirty="0"/>
              <a:t>A-beam </a:t>
            </a:r>
            <a:r>
              <a:rPr lang="ko-KR" altLang="en-US" sz="1300" dirty="0"/>
              <a:t>단위 객체지향 구조를 </a:t>
            </a:r>
            <a:r>
              <a:rPr lang="en-US" altLang="ko-KR" sz="1300" dirty="0"/>
              <a:t>3D Cube </a:t>
            </a:r>
            <a:r>
              <a:rPr lang="ko-KR" altLang="en-US" sz="1300" dirty="0"/>
              <a:t>형태의 </a:t>
            </a:r>
            <a:r>
              <a:rPr lang="en-US" altLang="ko-KR" sz="1300" dirty="0"/>
              <a:t>NumPy </a:t>
            </a:r>
            <a:r>
              <a:rPr lang="en-US" altLang="ko-KR" sz="1300" dirty="0" err="1">
                <a:latin typeface="Courier New" panose="02070309020205020404" pitchFamily="49" charset="0"/>
              </a:rPr>
              <a:t>ndarray</a:t>
            </a:r>
            <a:r>
              <a:rPr lang="ko-KR" altLang="en-US" sz="1300" dirty="0"/>
              <a:t> 구조로 전환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UI </a:t>
            </a:r>
            <a:r>
              <a:rPr lang="ko-KR" altLang="en-US" sz="1300" b="1" dirty="0"/>
              <a:t>라이브러리 전환 및 아키텍처 개선</a:t>
            </a:r>
            <a:r>
              <a:rPr lang="en-US" altLang="ko-KR" sz="1300" dirty="0"/>
              <a:t>: </a:t>
            </a:r>
            <a:r>
              <a:rPr lang="en-US" altLang="ko-KR" sz="1300" dirty="0" err="1"/>
              <a:t>PyQt</a:t>
            </a:r>
            <a:r>
              <a:rPr lang="en-US" altLang="ko-KR" sz="1300" dirty="0"/>
              <a:t> </a:t>
            </a:r>
            <a:r>
              <a:rPr lang="ko-KR" altLang="en-US" sz="1300" dirty="0"/>
              <a:t>기반으로 전환하고</a:t>
            </a:r>
            <a:r>
              <a:rPr lang="en-US" altLang="ko-KR" sz="1300" dirty="0"/>
              <a:t>, Data/Processing </a:t>
            </a:r>
            <a:r>
              <a:rPr lang="ko-KR" altLang="en-US" sz="1300" dirty="0"/>
              <a:t>클래스 분리 및 </a:t>
            </a:r>
            <a:r>
              <a:rPr lang="en-US" altLang="ko-KR" sz="1300" dirty="0"/>
              <a:t>Publisher-Subscriber(</a:t>
            </a:r>
            <a:r>
              <a:rPr lang="ko-KR" altLang="en-US" sz="1300" dirty="0"/>
              <a:t>발행</a:t>
            </a:r>
            <a:r>
              <a:rPr lang="en-US" altLang="ko-KR" sz="1300" dirty="0"/>
              <a:t>-</a:t>
            </a:r>
            <a:r>
              <a:rPr lang="ko-KR" altLang="en-US" sz="1300" dirty="0"/>
              <a:t>구독</a:t>
            </a:r>
            <a:r>
              <a:rPr lang="en-US" altLang="ko-KR" sz="1300" dirty="0"/>
              <a:t>) </a:t>
            </a:r>
            <a:r>
              <a:rPr lang="ko-KR" altLang="en-US" sz="1300" dirty="0"/>
              <a:t>패턴을 적용하여 </a:t>
            </a:r>
            <a:r>
              <a:rPr lang="en-US" altLang="ko-KR" sz="1300" dirty="0"/>
              <a:t>UI </a:t>
            </a:r>
            <a:r>
              <a:rPr lang="ko-KR" altLang="en-US" sz="1300" dirty="0"/>
              <a:t>반응성 확보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C-scan </a:t>
            </a:r>
            <a:r>
              <a:rPr lang="ko-KR" altLang="en-US" sz="1300" b="1" dirty="0"/>
              <a:t>합성 알고리즘 개발</a:t>
            </a:r>
            <a:r>
              <a:rPr lang="en-US" altLang="ko-KR" sz="1300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/>
              <a:t>단면 영상 </a:t>
            </a:r>
            <a:r>
              <a:rPr lang="en-US" altLang="ko-KR" sz="1300" dirty="0"/>
              <a:t>Merge </a:t>
            </a:r>
            <a:r>
              <a:rPr lang="ko-KR" altLang="en-US" sz="1300" dirty="0"/>
              <a:t>로직 구현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/>
              <a:t>단일 영상에 대한 </a:t>
            </a:r>
            <a:r>
              <a:rPr lang="en-US" altLang="ko-KR" sz="1300" dirty="0"/>
              <a:t>Stretch </a:t>
            </a:r>
            <a:r>
              <a:rPr lang="ko-KR" altLang="en-US" sz="1300" dirty="0"/>
              <a:t>작업 </a:t>
            </a:r>
            <a:r>
              <a:rPr lang="en-US" altLang="ko-KR" sz="1300" dirty="0"/>
              <a:t>(</a:t>
            </a:r>
            <a:r>
              <a:rPr lang="ko-KR" altLang="en-US" sz="1300" dirty="0"/>
              <a:t>절대기준 및 히스토그램 분석 기반 상대기준</a:t>
            </a:r>
            <a:r>
              <a:rPr lang="en-US" altLang="ko-KR" sz="1300" dirty="0"/>
              <a:t>)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dirty="0"/>
              <a:t>노이즈 제거 필터링 알고리즘 적용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Phase Inversion </a:t>
            </a:r>
            <a:r>
              <a:rPr lang="ko-KR" altLang="en-US" sz="1300" b="1" dirty="0"/>
              <a:t>오버레이</a:t>
            </a:r>
            <a:r>
              <a:rPr lang="en-US" altLang="ko-KR" sz="1300" dirty="0"/>
              <a:t>: </a:t>
            </a:r>
            <a:r>
              <a:rPr lang="ko-KR" altLang="en-US" sz="1300" dirty="0"/>
              <a:t>좌표 변환을 통한 </a:t>
            </a:r>
            <a:r>
              <a:rPr lang="en-US" altLang="ko-KR" sz="1300" dirty="0"/>
              <a:t>C-scan </a:t>
            </a:r>
            <a:r>
              <a:rPr lang="ko-KR" altLang="en-US" sz="1300" dirty="0"/>
              <a:t>영상 상의 위치 매핑 구현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ko-KR" sz="1300" b="1" dirty="0"/>
              <a:t>C++ SDK </a:t>
            </a:r>
            <a:r>
              <a:rPr lang="ko-KR" altLang="en-US" sz="1300" b="1" dirty="0"/>
              <a:t>파이썬 </a:t>
            </a:r>
            <a:r>
              <a:rPr lang="ko-KR" altLang="en-US" sz="1300" b="1" dirty="0" err="1"/>
              <a:t>래핑</a:t>
            </a:r>
            <a:r>
              <a:rPr lang="en-US" altLang="ko-KR" sz="1300" dirty="0"/>
              <a:t>: </a:t>
            </a:r>
            <a:r>
              <a:rPr lang="ko-KR" altLang="en-US" sz="1300" dirty="0"/>
              <a:t>파이썬 환경에서 </a:t>
            </a:r>
            <a:r>
              <a:rPr lang="en-US" altLang="ko-KR" sz="1300" dirty="0"/>
              <a:t>HW </a:t>
            </a:r>
            <a:r>
              <a:rPr lang="ko-KR" altLang="en-US" sz="1300" dirty="0" err="1"/>
              <a:t>설정값</a:t>
            </a:r>
            <a:r>
              <a:rPr lang="ko-KR" altLang="en-US" sz="1300" dirty="0"/>
              <a:t> 파라미터 전달 및 파형 데이터 수신 후 </a:t>
            </a:r>
            <a:r>
              <a:rPr lang="en-US" altLang="ko-KR" sz="1300" dirty="0"/>
              <a:t>3D Cube </a:t>
            </a:r>
            <a:r>
              <a:rPr lang="ko-KR" altLang="en-US" sz="1300" dirty="0"/>
              <a:t>파이프라인으로 연결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z="1300" b="1" dirty="0"/>
              <a:t>실시간 렌더링 최적화</a:t>
            </a:r>
            <a:r>
              <a:rPr lang="en-US" altLang="ko-KR" sz="1300" dirty="0"/>
              <a:t>: </a:t>
            </a:r>
            <a:r>
              <a:rPr lang="ko-KR" altLang="en-US" sz="1300" dirty="0"/>
              <a:t>실시간 </a:t>
            </a:r>
            <a:r>
              <a:rPr lang="en-US" altLang="ko-KR" sz="1300" dirty="0"/>
              <a:t>3D Cube </a:t>
            </a:r>
            <a:r>
              <a:rPr lang="ko-KR" altLang="en-US" sz="1300" dirty="0"/>
              <a:t>데이터 갱신 시 </a:t>
            </a:r>
            <a:r>
              <a:rPr lang="en-US" altLang="ko-KR" sz="1300" dirty="0"/>
              <a:t>UI </a:t>
            </a:r>
            <a:r>
              <a:rPr lang="ko-KR" altLang="en-US" sz="1300" dirty="0"/>
              <a:t>병목현상을 방지하기 위한 스크롤링 및 </a:t>
            </a:r>
            <a:r>
              <a:rPr lang="ko-KR" altLang="en-US" sz="1300" dirty="0" err="1"/>
              <a:t>버퍼링</a:t>
            </a:r>
            <a:r>
              <a:rPr lang="en-US" altLang="ko-KR" sz="1300" dirty="0"/>
              <a:t>(Scrolling &amp; Buffering) </a:t>
            </a:r>
            <a:r>
              <a:rPr lang="ko-KR" altLang="en-US" sz="1300" dirty="0"/>
              <a:t>기법 도입</a:t>
            </a:r>
          </a:p>
        </p:txBody>
      </p:sp>
    </p:spTree>
    <p:extLst>
      <p:ext uri="{BB962C8B-B14F-4D97-AF65-F5344CB8AC3E}">
        <p14:creationId xmlns:p14="http://schemas.microsoft.com/office/powerpoint/2010/main" val="4505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4B18DFA-48CF-48A7-AC40-C36DE6EDDE3E}"/>
              </a:ext>
            </a:extLst>
          </p:cNvPr>
          <p:cNvSpPr txBox="1"/>
          <p:nvPr/>
        </p:nvSpPr>
        <p:spPr>
          <a:xfrm>
            <a:off x="170538" y="101625"/>
            <a:ext cx="9502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현재 개발 상태 </a:t>
            </a:r>
            <a:r>
              <a:rPr lang="en-US" altLang="ko-KR" sz="2800" b="1" dirty="0"/>
              <a:t>(26.09.17)</a:t>
            </a:r>
            <a:endParaRPr lang="ko-KR" altLang="en-US" sz="12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63974F-36B0-3753-2800-8DCF920F2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9" y="941153"/>
            <a:ext cx="10100733" cy="5388069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91B380F-3395-7EF8-A1B5-7821F1882179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9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4B18DFA-48CF-48A7-AC40-C36DE6EDDE3E}"/>
              </a:ext>
            </a:extLst>
          </p:cNvPr>
          <p:cNvSpPr txBox="1"/>
          <p:nvPr/>
        </p:nvSpPr>
        <p:spPr>
          <a:xfrm>
            <a:off x="170539" y="101625"/>
            <a:ext cx="637386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/>
              <a:t>세부 일정 </a:t>
            </a:r>
            <a:r>
              <a:rPr lang="en-US" altLang="ko-KR" sz="1700" b="1" dirty="0"/>
              <a:t>(1)  </a:t>
            </a:r>
            <a:r>
              <a:rPr lang="ko-KR" altLang="en-US" sz="1700" b="1" dirty="0"/>
              <a:t>데이터 구조 최적화 </a:t>
            </a:r>
            <a:r>
              <a:rPr lang="en-US" altLang="ko-KR" sz="1700" b="1" dirty="0"/>
              <a:t>&amp; UI </a:t>
            </a:r>
            <a:r>
              <a:rPr lang="ko-KR" altLang="en-US" sz="1700" b="1" dirty="0"/>
              <a:t>아키텍처 재설계 </a:t>
            </a:r>
            <a:r>
              <a:rPr lang="en-US" altLang="ko-KR" sz="1700" b="1" dirty="0"/>
              <a:t>(1~4</a:t>
            </a:r>
            <a:r>
              <a:rPr lang="ko-KR" altLang="en-US" sz="1700" b="1" dirty="0"/>
              <a:t>주차</a:t>
            </a:r>
            <a:r>
              <a:rPr lang="en-US" altLang="ko-KR" sz="1700" b="1" dirty="0"/>
              <a:t>)</a:t>
            </a:r>
          </a:p>
          <a:p>
            <a:endParaRPr lang="ko-KR" altLang="en-US" sz="1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2F88D-CAC2-D5D4-4A46-0B642D3DC69A}"/>
              </a:ext>
            </a:extLst>
          </p:cNvPr>
          <p:cNvSpPr txBox="1"/>
          <p:nvPr/>
        </p:nvSpPr>
        <p:spPr>
          <a:xfrm>
            <a:off x="610098" y="831306"/>
            <a:ext cx="9622366" cy="555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1" dirty="0"/>
              <a:t>1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기존 코드 분석 및 데이터 구조 최적화 </a:t>
            </a:r>
            <a:r>
              <a:rPr lang="en-US" altLang="ko-KR" sz="1400" b="1" dirty="0"/>
              <a:t>(3D Cube </a:t>
            </a:r>
            <a:r>
              <a:rPr lang="ko-KR" altLang="en-US" sz="1400" b="1" dirty="0"/>
              <a:t>전환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기존 </a:t>
            </a:r>
            <a:r>
              <a:rPr lang="en-US" altLang="ko-KR" sz="1400" dirty="0"/>
              <a:t>A-beam </a:t>
            </a:r>
            <a:r>
              <a:rPr lang="ko-KR" altLang="en-US" sz="1400" dirty="0"/>
              <a:t>단위 객체지향 기반 코드를 분석하고 병목 지점을 파악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대용량 초음파 신호 데이터를 처리하기 위해 기존 객체 배열 구조를 </a:t>
            </a:r>
            <a:r>
              <a:rPr lang="en-US" altLang="ko-KR" sz="1400" dirty="0"/>
              <a:t>NumPy </a:t>
            </a:r>
            <a:r>
              <a:rPr lang="en-US" altLang="ko-KR" sz="1400" dirty="0" err="1">
                <a:latin typeface="Courier New" panose="02070309020205020404" pitchFamily="49" charset="0"/>
              </a:rPr>
              <a:t>ndarray</a:t>
            </a:r>
            <a:r>
              <a:rPr lang="ko-KR" altLang="en-US" sz="1400" dirty="0"/>
              <a:t> 기반의 </a:t>
            </a:r>
            <a:r>
              <a:rPr lang="en-US" altLang="ko-KR" sz="1400" b="1" dirty="0"/>
              <a:t>3D Cube </a:t>
            </a:r>
            <a:r>
              <a:rPr lang="ko-KR" altLang="en-US" sz="1400" b="1" dirty="0"/>
              <a:t>데이터 구조</a:t>
            </a:r>
            <a:r>
              <a:rPr lang="ko-KR" altLang="en-US" sz="1400" dirty="0"/>
              <a:t>로 변환하는 파이프라인 작성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>
              <a:lnSpc>
                <a:spcPct val="150000"/>
              </a:lnSpc>
              <a:buNone/>
            </a:pPr>
            <a:r>
              <a:rPr lang="en-US" altLang="ko-KR" sz="1400" b="1" dirty="0"/>
              <a:t>2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en-US" altLang="ko-KR" sz="1400" b="1" dirty="0" err="1"/>
              <a:t>PyQt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기반 </a:t>
            </a:r>
            <a:r>
              <a:rPr lang="en-US" altLang="ko-KR" sz="1400" b="1" dirty="0"/>
              <a:t>UI </a:t>
            </a:r>
            <a:r>
              <a:rPr lang="ko-KR" altLang="en-US" sz="1400" b="1" dirty="0"/>
              <a:t>프레임워크 구축</a:t>
            </a:r>
            <a:endParaRPr lang="ko-KR" altLang="en-US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고성능 그래픽 처리를 위한 </a:t>
            </a:r>
            <a:r>
              <a:rPr lang="en-US" altLang="ko-KR" sz="1400" dirty="0" err="1"/>
              <a:t>PyQt</a:t>
            </a:r>
            <a:r>
              <a:rPr lang="en-US" altLang="ko-KR" sz="1400" dirty="0"/>
              <a:t> </a:t>
            </a:r>
            <a:r>
              <a:rPr lang="ko-KR" altLang="en-US" sz="1400" dirty="0"/>
              <a:t>기반 </a:t>
            </a:r>
            <a:r>
              <a:rPr lang="en-US" altLang="ko-KR" sz="1400" dirty="0"/>
              <a:t>UI </a:t>
            </a:r>
            <a:r>
              <a:rPr lang="ko-KR" altLang="en-US" sz="1400" dirty="0"/>
              <a:t>레이아웃 설계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PyQt</a:t>
            </a:r>
            <a:r>
              <a:rPr lang="en-US" altLang="ko-KR" sz="1400" dirty="0"/>
              <a:t> </a:t>
            </a:r>
            <a:r>
              <a:rPr lang="ko-KR" altLang="en-US" sz="1400" dirty="0"/>
              <a:t>메인 윈도우 레이아웃 구현 및 신호 표시를 위한 </a:t>
            </a:r>
            <a:r>
              <a:rPr lang="en-US" altLang="ko-KR" sz="1400" dirty="0" err="1"/>
              <a:t>PyPlot</a:t>
            </a:r>
            <a:r>
              <a:rPr lang="en-US" altLang="ko-KR" sz="1400" dirty="0"/>
              <a:t>/</a:t>
            </a:r>
            <a:r>
              <a:rPr lang="en-US" altLang="ko-KR" sz="1400" dirty="0" err="1"/>
              <a:t>VisPy</a:t>
            </a:r>
            <a:r>
              <a:rPr lang="en-US" altLang="ko-KR" sz="1400" dirty="0"/>
              <a:t> </a:t>
            </a:r>
            <a:r>
              <a:rPr lang="ko-KR" altLang="en-US" sz="1400" dirty="0"/>
              <a:t>그래픽 뷰어 기본 프레임워크 연동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>
              <a:lnSpc>
                <a:spcPct val="150000"/>
              </a:lnSpc>
              <a:buNone/>
            </a:pPr>
            <a:r>
              <a:rPr lang="en-US" altLang="ko-KR" sz="1400" b="1" dirty="0"/>
              <a:t>3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아키텍처 개선 </a:t>
            </a:r>
            <a:r>
              <a:rPr lang="en-US" altLang="ko-KR" sz="1400" b="1" dirty="0"/>
              <a:t>(Data/Processing/UI </a:t>
            </a:r>
            <a:r>
              <a:rPr lang="ko-KR" altLang="en-US" sz="1400" b="1" dirty="0"/>
              <a:t>분리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데이터 처리와 </a:t>
            </a:r>
            <a:r>
              <a:rPr lang="en-US" altLang="ko-KR" sz="1400" dirty="0"/>
              <a:t>UI </a:t>
            </a:r>
            <a:r>
              <a:rPr lang="ko-KR" altLang="en-US" sz="1400" dirty="0"/>
              <a:t>표현 간 독립성을 확보하는 </a:t>
            </a:r>
            <a:r>
              <a:rPr lang="en-US" altLang="ko-KR" sz="1400" dirty="0"/>
              <a:t>MVC/MVP </a:t>
            </a:r>
            <a:r>
              <a:rPr lang="ko-KR" altLang="en-US" sz="1400" dirty="0"/>
              <a:t>패턴 설계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데이터 모델</a:t>
            </a:r>
            <a:r>
              <a:rPr lang="en-US" altLang="ko-KR" sz="1400" dirty="0"/>
              <a:t>(Data)</a:t>
            </a:r>
            <a:r>
              <a:rPr lang="ko-KR" altLang="en-US" sz="1400" dirty="0"/>
              <a:t>과 신호 연산 클래스</a:t>
            </a:r>
            <a:r>
              <a:rPr lang="en-US" altLang="ko-KR" sz="1400" dirty="0"/>
              <a:t>(Processing)</a:t>
            </a:r>
            <a:r>
              <a:rPr lang="ko-KR" altLang="en-US" sz="1400" dirty="0"/>
              <a:t>를 </a:t>
            </a:r>
            <a:r>
              <a:rPr lang="en-US" altLang="ko-KR" sz="1400" dirty="0"/>
              <a:t>UI </a:t>
            </a:r>
            <a:r>
              <a:rPr lang="ko-KR" altLang="en-US" sz="1400" dirty="0"/>
              <a:t>모듈과 완벽히 분리하는 </a:t>
            </a:r>
            <a:r>
              <a:rPr lang="ko-KR" altLang="en-US" sz="1400" dirty="0" err="1"/>
              <a:t>리팩토링</a:t>
            </a:r>
            <a:r>
              <a:rPr lang="ko-KR" altLang="en-US" sz="1400" dirty="0"/>
              <a:t> 진행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>
              <a:lnSpc>
                <a:spcPct val="150000"/>
              </a:lnSpc>
              <a:buNone/>
            </a:pPr>
            <a:r>
              <a:rPr lang="en-US" altLang="ko-KR" sz="1400" b="1" dirty="0"/>
              <a:t>4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Publisher-Subscriber </a:t>
            </a:r>
            <a:r>
              <a:rPr lang="ko-KR" altLang="en-US" sz="1400" b="1" dirty="0"/>
              <a:t>패턴 적용 </a:t>
            </a:r>
            <a:r>
              <a:rPr lang="en-US" altLang="ko-KR" sz="1400" b="1" dirty="0"/>
              <a:t>(UI </a:t>
            </a:r>
            <a:r>
              <a:rPr lang="ko-KR" altLang="en-US" sz="1400" b="1" dirty="0"/>
              <a:t>반응성 확보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대용량 데이터 연산 시 </a:t>
            </a:r>
            <a:r>
              <a:rPr lang="en-US" altLang="ko-KR" sz="1400" dirty="0"/>
              <a:t>UI</a:t>
            </a:r>
            <a:r>
              <a:rPr lang="ko-KR" altLang="en-US" sz="1400" dirty="0"/>
              <a:t>가 멈추지 않도록 스레드 간 비동기 통신 구현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PyQt</a:t>
            </a:r>
            <a:r>
              <a:rPr lang="en-US" altLang="ko-KR" sz="1400" dirty="0"/>
              <a:t> Signal/Slot </a:t>
            </a:r>
            <a:r>
              <a:rPr lang="ko-KR" altLang="en-US" sz="1400" dirty="0"/>
              <a:t>또는 </a:t>
            </a:r>
            <a:r>
              <a:rPr lang="en-US" altLang="ko-KR" sz="1400" dirty="0"/>
              <a:t>Pub/Sub </a:t>
            </a:r>
            <a:r>
              <a:rPr lang="ko-KR" altLang="en-US" sz="1400" dirty="0"/>
              <a:t>라이브러리를 활용해 백그라운드 데이터 처리 완료 이벤트를 </a:t>
            </a:r>
            <a:r>
              <a:rPr lang="en-US" altLang="ko-KR" sz="1400" dirty="0"/>
              <a:t>UI</a:t>
            </a:r>
            <a:r>
              <a:rPr lang="ko-KR" altLang="en-US" sz="1400" dirty="0"/>
              <a:t>에 비동기 전달하는 로직 작성</a:t>
            </a:r>
            <a:r>
              <a:rPr lang="en-US" altLang="ko-KR" sz="1400" dirty="0"/>
              <a:t>.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B2DAD89-3D61-F4D8-99D0-3046E00AB9AE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75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F7C7-9DF3-B093-BB27-4168E523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CB520A0-6E20-77A9-5C07-E901D7EE568A}"/>
              </a:ext>
            </a:extLst>
          </p:cNvPr>
          <p:cNvSpPr txBox="1"/>
          <p:nvPr/>
        </p:nvSpPr>
        <p:spPr>
          <a:xfrm>
            <a:off x="170539" y="101625"/>
            <a:ext cx="583191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/>
              <a:t>세부 일정 </a:t>
            </a:r>
            <a:r>
              <a:rPr lang="en-US" altLang="ko-KR" sz="1700" b="1" dirty="0"/>
              <a:t>(2) </a:t>
            </a:r>
            <a:r>
              <a:rPr lang="en-US" altLang="ko-KR" sz="1600" b="1" dirty="0"/>
              <a:t>C-scan </a:t>
            </a:r>
            <a:r>
              <a:rPr lang="ko-KR" altLang="en-US" sz="1600" b="1" dirty="0"/>
              <a:t>합성 및 영상 처리 알고리즘 개발 </a:t>
            </a:r>
            <a:r>
              <a:rPr lang="en-US" altLang="ko-KR" sz="1600" b="1" dirty="0"/>
              <a:t>(5~8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en-US" altLang="ko-KR" sz="1700" b="1" dirty="0"/>
          </a:p>
          <a:p>
            <a:endParaRPr lang="ko-KR" altLang="en-US" sz="1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CDC2C-DC49-DF86-F12F-00679000A72A}"/>
              </a:ext>
            </a:extLst>
          </p:cNvPr>
          <p:cNvSpPr txBox="1"/>
          <p:nvPr/>
        </p:nvSpPr>
        <p:spPr>
          <a:xfrm>
            <a:off x="870075" y="876130"/>
            <a:ext cx="9622366" cy="555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5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단면 영상 </a:t>
            </a:r>
            <a:r>
              <a:rPr lang="en-US" altLang="ko-KR" sz="1400" b="1" dirty="0"/>
              <a:t>Merge </a:t>
            </a:r>
            <a:r>
              <a:rPr lang="ko-KR" altLang="en-US" sz="1400" b="1" dirty="0"/>
              <a:t>로직 구현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분할 수신된 초음파 단면</a:t>
            </a:r>
            <a:r>
              <a:rPr lang="en-US" altLang="ko-KR" sz="1400" dirty="0"/>
              <a:t>(B-scan) </a:t>
            </a:r>
            <a:r>
              <a:rPr lang="ko-KR" altLang="en-US" sz="1400" dirty="0"/>
              <a:t>데이터들을 통합하는 </a:t>
            </a:r>
            <a:r>
              <a:rPr lang="en-US" altLang="ko-KR" sz="1400" dirty="0"/>
              <a:t>C-scan </a:t>
            </a:r>
            <a:r>
              <a:rPr lang="ko-KR" altLang="en-US" sz="1400" dirty="0"/>
              <a:t>합성 기본 로직 구현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3D Cube </a:t>
            </a:r>
            <a:r>
              <a:rPr lang="ko-KR" altLang="en-US" sz="1400" dirty="0"/>
              <a:t>내에서 특정 시간</a:t>
            </a:r>
            <a:r>
              <a:rPr lang="en-US" altLang="ko-KR" sz="1400" dirty="0"/>
              <a:t>/</a:t>
            </a:r>
            <a:r>
              <a:rPr lang="ko-KR" altLang="en-US" sz="1400" dirty="0"/>
              <a:t>깊이 슬라이스</a:t>
            </a:r>
            <a:r>
              <a:rPr lang="en-US" altLang="ko-KR" sz="1400" dirty="0"/>
              <a:t>(Slice)</a:t>
            </a:r>
            <a:r>
              <a:rPr lang="ko-KR" altLang="en-US" sz="1400" dirty="0"/>
              <a:t>를 추출하여 </a:t>
            </a:r>
            <a:r>
              <a:rPr lang="en-US" altLang="ko-KR" sz="1400" dirty="0"/>
              <a:t>2D C-scan </a:t>
            </a:r>
            <a:r>
              <a:rPr lang="ko-KR" altLang="en-US" sz="1400" dirty="0"/>
              <a:t>평면 영상으로 매핑 및 합성하는 기능 개발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6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단일 영상 </a:t>
            </a:r>
            <a:r>
              <a:rPr lang="en-US" altLang="ko-KR" sz="1400" b="1" dirty="0"/>
              <a:t>Stretch </a:t>
            </a:r>
            <a:r>
              <a:rPr lang="ko-KR" altLang="en-US" sz="1400" b="1" dirty="0"/>
              <a:t>작업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명암 대비 최적화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C-scan </a:t>
            </a:r>
            <a:r>
              <a:rPr lang="ko-KR" altLang="en-US" sz="1400" dirty="0"/>
              <a:t>영상의 시각적 식별성을 높이기 위한 신호 대비</a:t>
            </a:r>
            <a:r>
              <a:rPr lang="en-US" altLang="ko-KR" sz="1400" dirty="0"/>
              <a:t>(Contrast) </a:t>
            </a:r>
            <a:r>
              <a:rPr lang="ko-KR" altLang="en-US" sz="1400" dirty="0"/>
              <a:t>조정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절대기준</a:t>
            </a:r>
            <a:r>
              <a:rPr lang="en-US" altLang="ko-KR" sz="1400" dirty="0"/>
              <a:t>(</a:t>
            </a:r>
            <a:r>
              <a:rPr lang="ko-KR" altLang="en-US" sz="1400" dirty="0"/>
              <a:t>절대 신호 크기 범위</a:t>
            </a:r>
            <a:r>
              <a:rPr lang="en-US" altLang="ko-KR" sz="1400" dirty="0"/>
              <a:t>) </a:t>
            </a:r>
            <a:r>
              <a:rPr lang="ko-KR" altLang="en-US" sz="1400" dirty="0"/>
              <a:t>및 히스토그램 분석 기반 상대기준</a:t>
            </a:r>
            <a:r>
              <a:rPr lang="en-US" altLang="ko-KR" sz="1400" dirty="0"/>
              <a:t>(</a:t>
            </a:r>
            <a:r>
              <a:rPr lang="ko-KR" altLang="en-US" sz="1400" dirty="0"/>
              <a:t>신호 분포 상위</a:t>
            </a:r>
            <a:r>
              <a:rPr lang="en-US" altLang="ko-KR" sz="1400" dirty="0"/>
              <a:t>/</a:t>
            </a:r>
            <a:r>
              <a:rPr lang="ko-KR" altLang="en-US" sz="1400" dirty="0"/>
              <a:t>하위 컷오프</a:t>
            </a:r>
            <a:r>
              <a:rPr lang="en-US" altLang="ko-KR" sz="1400" dirty="0"/>
              <a:t>) Stretch </a:t>
            </a:r>
            <a:r>
              <a:rPr lang="ko-KR" altLang="en-US" sz="1400" dirty="0"/>
              <a:t>알고리즘 작성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7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노이즈 제거 필터링 알고리즘 적용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수신 신호의 잡음을 제거하고 </a:t>
            </a:r>
            <a:r>
              <a:rPr lang="en-US" altLang="ko-KR" sz="1400" dirty="0"/>
              <a:t>C-scan </a:t>
            </a:r>
            <a:r>
              <a:rPr lang="ko-KR" altLang="en-US" sz="1400" dirty="0"/>
              <a:t>영상의 화질을 개선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Spatial Filter(Median, Gaussian </a:t>
            </a:r>
            <a:r>
              <a:rPr lang="ko-KR" altLang="en-US" sz="1400" dirty="0"/>
              <a:t>등</a:t>
            </a:r>
            <a:r>
              <a:rPr lang="en-US" altLang="ko-KR" sz="1400" dirty="0"/>
              <a:t>) </a:t>
            </a:r>
            <a:r>
              <a:rPr lang="ko-KR" altLang="en-US" sz="1400" dirty="0"/>
              <a:t>및 초음파 신호 특성에 맞춘 주파수 밴드패스</a:t>
            </a:r>
            <a:r>
              <a:rPr lang="en-US" altLang="ko-KR" sz="1400" dirty="0"/>
              <a:t>/</a:t>
            </a:r>
            <a:r>
              <a:rPr lang="ko-KR" altLang="en-US" sz="1400" dirty="0"/>
              <a:t>노이즈 제거 필터 로직 구현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8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Phase Inversion </a:t>
            </a:r>
            <a:r>
              <a:rPr lang="ko-KR" altLang="en-US" sz="1400" b="1" dirty="0"/>
              <a:t>좌표 오버레이 구현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C-scan </a:t>
            </a:r>
            <a:r>
              <a:rPr lang="ko-KR" altLang="en-US" sz="1400" dirty="0"/>
              <a:t>영상 위에 </a:t>
            </a:r>
            <a:r>
              <a:rPr lang="en-US" altLang="ko-KR" sz="1400" dirty="0"/>
              <a:t>Phase Inversion </a:t>
            </a:r>
            <a:r>
              <a:rPr lang="ko-KR" altLang="en-US" sz="1400" dirty="0"/>
              <a:t>데이터 매핑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신호 위상 반전</a:t>
            </a:r>
            <a:r>
              <a:rPr lang="en-US" altLang="ko-KR" sz="1400" dirty="0"/>
              <a:t>(Phase Inversion) </a:t>
            </a:r>
            <a:r>
              <a:rPr lang="ko-KR" altLang="en-US" sz="1400" dirty="0"/>
              <a:t>발생 위치의 좌표 변환 알고리즘을 작성하고</a:t>
            </a:r>
            <a:r>
              <a:rPr lang="en-US" altLang="ko-KR" sz="1400" dirty="0"/>
              <a:t>, C-scan </a:t>
            </a:r>
            <a:r>
              <a:rPr lang="ko-KR" altLang="en-US" sz="1400" dirty="0"/>
              <a:t>뷰어 위에 색상</a:t>
            </a:r>
            <a:r>
              <a:rPr lang="en-US" altLang="ko-KR" sz="1400" dirty="0"/>
              <a:t>/</a:t>
            </a:r>
            <a:r>
              <a:rPr lang="ko-KR" altLang="en-US" sz="1400" dirty="0"/>
              <a:t>아이콘으로 오버레이 표시</a:t>
            </a:r>
            <a:r>
              <a:rPr lang="en-US" altLang="ko-KR" sz="1400" dirty="0"/>
              <a:t>.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EB10D74-7AB9-C9E8-75B3-63CBA4274EBF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098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3D15-4B8D-E03E-9F26-23FFC2F1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78E0943-7CDA-D761-64C2-CC5B4C55C4C4}"/>
              </a:ext>
            </a:extLst>
          </p:cNvPr>
          <p:cNvSpPr txBox="1"/>
          <p:nvPr/>
        </p:nvSpPr>
        <p:spPr>
          <a:xfrm>
            <a:off x="170539" y="101625"/>
            <a:ext cx="532376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/>
              <a:t>세부 일정 </a:t>
            </a:r>
            <a:r>
              <a:rPr lang="en-US" altLang="ko-KR" sz="1700" b="1" dirty="0"/>
              <a:t>(3) </a:t>
            </a:r>
            <a:r>
              <a:rPr lang="en-US" altLang="ko-KR" sz="1600" b="1" dirty="0"/>
              <a:t>C++ SDK </a:t>
            </a:r>
            <a:r>
              <a:rPr lang="ko-KR" altLang="en-US" sz="1600" b="1" dirty="0"/>
              <a:t>파이썬 </a:t>
            </a:r>
            <a:r>
              <a:rPr lang="ko-KR" altLang="en-US" sz="1600" b="1" dirty="0" err="1"/>
              <a:t>래핑</a:t>
            </a:r>
            <a:r>
              <a:rPr lang="ko-KR" altLang="en-US" sz="1600" b="1" dirty="0"/>
              <a:t> 및 </a:t>
            </a:r>
            <a:r>
              <a:rPr lang="en-US" altLang="ko-KR" sz="1600" b="1" dirty="0"/>
              <a:t>HW </a:t>
            </a:r>
            <a:r>
              <a:rPr lang="ko-KR" altLang="en-US" sz="1600" b="1" dirty="0"/>
              <a:t>연동 </a:t>
            </a:r>
            <a:r>
              <a:rPr lang="en-US" altLang="ko-KR" sz="1600" b="1" dirty="0"/>
              <a:t>(9~11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6EDC7-77B9-F92B-2665-2DA223B60BA2}"/>
              </a:ext>
            </a:extLst>
          </p:cNvPr>
          <p:cNvSpPr txBox="1"/>
          <p:nvPr/>
        </p:nvSpPr>
        <p:spPr>
          <a:xfrm>
            <a:off x="601133" y="1100247"/>
            <a:ext cx="9622366" cy="4258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9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C++ SDK </a:t>
            </a:r>
            <a:r>
              <a:rPr lang="ko-KR" altLang="en-US" sz="1400" b="1" dirty="0"/>
              <a:t>파이썬 </a:t>
            </a:r>
            <a:r>
              <a:rPr lang="ko-KR" altLang="en-US" sz="1400" b="1" dirty="0" err="1"/>
              <a:t>래핑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(</a:t>
            </a:r>
            <a:r>
              <a:rPr lang="en-US" altLang="ko-KR" sz="1400" b="1" dirty="0" err="1"/>
              <a:t>Ctypes</a:t>
            </a:r>
            <a:r>
              <a:rPr lang="en-US" altLang="ko-KR" sz="1400" b="1" dirty="0"/>
              <a:t>/Pybind11)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초음파 </a:t>
            </a:r>
            <a:r>
              <a:rPr lang="en-US" altLang="ko-KR" sz="1400" dirty="0"/>
              <a:t>HW </a:t>
            </a:r>
            <a:r>
              <a:rPr lang="ko-KR" altLang="en-US" sz="1400" dirty="0"/>
              <a:t>제어를 위한 </a:t>
            </a:r>
            <a:r>
              <a:rPr lang="en-US" altLang="ko-KR" sz="1400" dirty="0"/>
              <a:t>C++ </a:t>
            </a:r>
            <a:r>
              <a:rPr lang="ko-KR" altLang="en-US" sz="1400" dirty="0"/>
              <a:t>라이브러리 연동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C++ SDK</a:t>
            </a:r>
            <a:r>
              <a:rPr lang="ko-KR" altLang="en-US" sz="1400" dirty="0"/>
              <a:t>의 파라미터 전달 및 제어 </a:t>
            </a:r>
            <a:r>
              <a:rPr lang="en-US" altLang="ko-KR" sz="1400" dirty="0"/>
              <a:t>API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파이썬에서</a:t>
            </a:r>
            <a:r>
              <a:rPr lang="ko-KR" altLang="en-US" sz="1400" dirty="0"/>
              <a:t> 호출할 수 있도록 </a:t>
            </a:r>
            <a:r>
              <a:rPr lang="en-US" altLang="ko-KR" sz="1400" dirty="0" err="1"/>
              <a:t>Ctypes</a:t>
            </a:r>
            <a:r>
              <a:rPr lang="en-US" altLang="ko-KR" sz="1400" dirty="0"/>
              <a:t> </a:t>
            </a:r>
            <a:r>
              <a:rPr lang="ko-KR" altLang="en-US" sz="1400" dirty="0"/>
              <a:t>또는 </a:t>
            </a:r>
            <a:r>
              <a:rPr lang="en-US" altLang="ko-KR" sz="1400" dirty="0"/>
              <a:t>Pybind11 </a:t>
            </a:r>
            <a:r>
              <a:rPr lang="ko-KR" altLang="en-US" sz="1400" dirty="0"/>
              <a:t>래퍼</a:t>
            </a:r>
            <a:r>
              <a:rPr lang="en-US" altLang="ko-KR" sz="1400" dirty="0"/>
              <a:t>(Wrapper) </a:t>
            </a:r>
            <a:r>
              <a:rPr lang="ko-KR" altLang="en-US" sz="1400" dirty="0"/>
              <a:t>모듈 작성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10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HW SDK </a:t>
            </a:r>
            <a:r>
              <a:rPr lang="ko-KR" altLang="en-US" sz="1400" b="1" dirty="0"/>
              <a:t>신호 수신 및 파이프라인 연동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HW </a:t>
            </a:r>
            <a:r>
              <a:rPr lang="ko-KR" altLang="en-US" sz="1400" dirty="0"/>
              <a:t>수신 파형 데이터를 </a:t>
            </a:r>
            <a:r>
              <a:rPr lang="en-US" altLang="ko-KR" sz="1400" dirty="0"/>
              <a:t>3D Cube </a:t>
            </a:r>
            <a:r>
              <a:rPr lang="ko-KR" altLang="en-US" sz="1400" dirty="0"/>
              <a:t>연산 구조로 실시간 전달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C++ SDK</a:t>
            </a:r>
            <a:r>
              <a:rPr lang="ko-KR" altLang="en-US" sz="1400" dirty="0"/>
              <a:t>에서 전달받은 실시간 파형 데이터 버퍼를 </a:t>
            </a:r>
            <a:r>
              <a:rPr lang="en-US" altLang="ko-KR" sz="1400" dirty="0"/>
              <a:t>Python 3D Cube </a:t>
            </a:r>
            <a:r>
              <a:rPr lang="ko-KR" altLang="en-US" sz="1400" dirty="0"/>
              <a:t>데이터 파이프라인으로 매끄럽게 연결하는 인터페이스 구축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11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A/B/C-scan </a:t>
            </a:r>
            <a:r>
              <a:rPr lang="ko-KR" altLang="en-US" sz="1400" b="1" dirty="0"/>
              <a:t>실시간 동기화 표현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수신되는 초음파 신호의 </a:t>
            </a:r>
            <a:r>
              <a:rPr lang="en-US" altLang="ko-KR" sz="1400" dirty="0"/>
              <a:t>multi-view </a:t>
            </a:r>
            <a:r>
              <a:rPr lang="ko-KR" altLang="en-US" sz="1400" dirty="0"/>
              <a:t>표시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</a:t>
            </a:r>
            <a:r>
              <a:rPr lang="en-US" altLang="ko-KR" sz="1400" dirty="0"/>
              <a:t>A-scan(</a:t>
            </a:r>
            <a:r>
              <a:rPr lang="ko-KR" altLang="en-US" sz="1400" dirty="0"/>
              <a:t>단일 파형</a:t>
            </a:r>
            <a:r>
              <a:rPr lang="en-US" altLang="ko-KR" sz="1400" dirty="0"/>
              <a:t>), B-scan(</a:t>
            </a:r>
            <a:r>
              <a:rPr lang="ko-KR" altLang="en-US" sz="1400" dirty="0"/>
              <a:t>단면</a:t>
            </a:r>
            <a:r>
              <a:rPr lang="en-US" altLang="ko-KR" sz="1400" dirty="0"/>
              <a:t>), C-scan(</a:t>
            </a:r>
            <a:r>
              <a:rPr lang="ko-KR" altLang="en-US" sz="1400" dirty="0"/>
              <a:t>평면</a:t>
            </a:r>
            <a:r>
              <a:rPr lang="en-US" altLang="ko-KR" sz="1400" dirty="0"/>
              <a:t>) </a:t>
            </a:r>
            <a:r>
              <a:rPr lang="ko-KR" altLang="en-US" sz="1400" dirty="0"/>
              <a:t>뷰를 연동하고 동기화하여 동시에 업데이트하는 </a:t>
            </a:r>
            <a:r>
              <a:rPr lang="en-US" altLang="ko-KR" sz="1400" dirty="0"/>
              <a:t>UI </a:t>
            </a:r>
            <a:r>
              <a:rPr lang="ko-KR" altLang="en-US" sz="1400" dirty="0"/>
              <a:t>연동</a:t>
            </a:r>
            <a:r>
              <a:rPr lang="en-US" altLang="ko-KR" sz="1400" dirty="0"/>
              <a:t>.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3F8FDEC-0DF9-64B5-7160-0ABDF14E9E24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46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7C7AA-B87E-B60C-D6EC-243D8016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F52FD1F-A7FA-DC94-2059-96A40AFD897D}"/>
              </a:ext>
            </a:extLst>
          </p:cNvPr>
          <p:cNvSpPr txBox="1"/>
          <p:nvPr/>
        </p:nvSpPr>
        <p:spPr>
          <a:xfrm>
            <a:off x="170539" y="101625"/>
            <a:ext cx="58625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b="1" dirty="0"/>
              <a:t>세부 일정 </a:t>
            </a:r>
            <a:r>
              <a:rPr lang="en-US" altLang="ko-KR" sz="1700" b="1" dirty="0"/>
              <a:t>(4) </a:t>
            </a:r>
            <a:r>
              <a:rPr lang="ko-KR" altLang="en-US" sz="1600" b="1" dirty="0"/>
              <a:t>실시간 렌더링 최적화 및 통합 테스트 </a:t>
            </a:r>
            <a:r>
              <a:rPr lang="en-US" altLang="ko-KR" sz="1600" b="1" dirty="0"/>
              <a:t>(12~15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02275-9D9E-9F07-2533-77670CEC61B4}"/>
              </a:ext>
            </a:extLst>
          </p:cNvPr>
          <p:cNvSpPr txBox="1"/>
          <p:nvPr/>
        </p:nvSpPr>
        <p:spPr>
          <a:xfrm>
            <a:off x="914897" y="831305"/>
            <a:ext cx="9622366" cy="555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/>
              <a:t>12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스크롤링 및 </a:t>
            </a:r>
            <a:r>
              <a:rPr lang="ko-KR" altLang="en-US" sz="1400" b="1" dirty="0" err="1"/>
              <a:t>버퍼링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(Scrolling &amp; Buffering) </a:t>
            </a:r>
            <a:r>
              <a:rPr lang="ko-KR" altLang="en-US" sz="1400" b="1" dirty="0"/>
              <a:t>기법 도입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연속 데이터 입력을 처리할 때 메모리 부하 최소화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Ring Buffer(</a:t>
            </a:r>
            <a:r>
              <a:rPr lang="ko-KR" altLang="en-US" sz="1400" dirty="0"/>
              <a:t>순환 버퍼</a:t>
            </a:r>
            <a:r>
              <a:rPr lang="en-US" altLang="ko-KR" sz="1400" dirty="0"/>
              <a:t>) </a:t>
            </a:r>
            <a:r>
              <a:rPr lang="ko-KR" altLang="en-US" sz="1400" dirty="0"/>
              <a:t>알고리즘을 적용하고 실시간 스크롤링 렌더링 로직을 구축하여 메모리 갱신 효율화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13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실시간 렌더링 성능 최적화 </a:t>
            </a:r>
            <a:r>
              <a:rPr lang="en-US" altLang="ko-KR" sz="1400" b="1" dirty="0"/>
              <a:t>(UI </a:t>
            </a:r>
            <a:r>
              <a:rPr lang="ko-KR" altLang="en-US" sz="1400" b="1" dirty="0"/>
              <a:t>병목 현상 제거</a:t>
            </a:r>
            <a:r>
              <a:rPr lang="en-US" altLang="ko-KR" sz="1400" b="1" dirty="0"/>
              <a:t>)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실시간 </a:t>
            </a:r>
            <a:r>
              <a:rPr lang="en-US" altLang="ko-KR" sz="1400" dirty="0"/>
              <a:t>3D Cube </a:t>
            </a:r>
            <a:r>
              <a:rPr lang="ko-KR" altLang="en-US" sz="1400" dirty="0"/>
              <a:t>데이터 갱신 시 </a:t>
            </a:r>
            <a:r>
              <a:rPr lang="en-US" altLang="ko-KR" sz="1400" dirty="0"/>
              <a:t>UI </a:t>
            </a:r>
            <a:r>
              <a:rPr lang="ko-KR" altLang="en-US" sz="1400" dirty="0"/>
              <a:t>프레임 드랍</a:t>
            </a:r>
            <a:r>
              <a:rPr lang="en-US" altLang="ko-KR" sz="1400" dirty="0"/>
              <a:t>(Lag) </a:t>
            </a:r>
            <a:r>
              <a:rPr lang="ko-KR" altLang="en-US" sz="1400" dirty="0"/>
              <a:t>방지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멀티스레딩</a:t>
            </a:r>
            <a:r>
              <a:rPr lang="en-US" altLang="ko-KR" sz="1400" dirty="0"/>
              <a:t>(</a:t>
            </a:r>
            <a:r>
              <a:rPr lang="en-US" altLang="ko-KR" sz="1400" dirty="0" err="1"/>
              <a:t>PyQtThread</a:t>
            </a:r>
            <a:r>
              <a:rPr lang="en-US" altLang="ko-KR" sz="1400" dirty="0"/>
              <a:t>) </a:t>
            </a:r>
            <a:r>
              <a:rPr lang="ko-KR" altLang="en-US" sz="1400" dirty="0"/>
              <a:t>및 </a:t>
            </a:r>
            <a:r>
              <a:rPr lang="en-US" altLang="ko-KR" sz="1400" dirty="0"/>
              <a:t>GPU </a:t>
            </a:r>
            <a:r>
              <a:rPr lang="ko-KR" altLang="en-US" sz="1400" dirty="0"/>
              <a:t>가속 렌더링</a:t>
            </a:r>
            <a:r>
              <a:rPr lang="en-US" altLang="ko-KR" sz="1400" dirty="0"/>
              <a:t>(</a:t>
            </a:r>
            <a:r>
              <a:rPr lang="en-US" altLang="ko-KR" sz="1400" dirty="0" err="1"/>
              <a:t>PyQtGraph</a:t>
            </a:r>
            <a:r>
              <a:rPr lang="en-US" altLang="ko-KR" sz="1400" dirty="0"/>
              <a:t>/OpenGL)</a:t>
            </a:r>
            <a:r>
              <a:rPr lang="ko-KR" altLang="en-US" sz="1400" dirty="0"/>
              <a:t>을 활용한 고속 그려주기 최적화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14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상용화 수준 통합 기능 검증 및 </a:t>
            </a:r>
            <a:r>
              <a:rPr lang="en-US" altLang="ko-KR" sz="1400" b="1" dirty="0"/>
              <a:t>UI/UX </a:t>
            </a:r>
            <a:r>
              <a:rPr lang="ko-KR" altLang="en-US" sz="1400" b="1" dirty="0"/>
              <a:t>고도화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전체 모듈 통합 및 사용자 편의성 최적화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데이터 수신</a:t>
            </a:r>
            <a:r>
              <a:rPr lang="en-US" altLang="ko-KR" sz="1400" dirty="0"/>
              <a:t>-</a:t>
            </a:r>
            <a:r>
              <a:rPr lang="ko-KR" altLang="en-US" sz="1400" dirty="0"/>
              <a:t>합성</a:t>
            </a:r>
            <a:r>
              <a:rPr lang="en-US" altLang="ko-KR" sz="1400" dirty="0"/>
              <a:t>-</a:t>
            </a:r>
            <a:r>
              <a:rPr lang="ko-KR" altLang="en-US" sz="1400" dirty="0"/>
              <a:t>필터링</a:t>
            </a:r>
            <a:r>
              <a:rPr lang="en-US" altLang="ko-KR" sz="1400" dirty="0"/>
              <a:t>-</a:t>
            </a:r>
            <a:r>
              <a:rPr lang="ko-KR" altLang="en-US" sz="1400" dirty="0"/>
              <a:t>표시 전 과정을 통합 연동하고</a:t>
            </a:r>
            <a:r>
              <a:rPr lang="en-US" altLang="ko-KR" sz="1400" dirty="0"/>
              <a:t>, </a:t>
            </a:r>
            <a:r>
              <a:rPr lang="ko-KR" altLang="en-US" sz="1400" dirty="0"/>
              <a:t>파라미터 설정 패널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칼라맵</a:t>
            </a:r>
            <a:r>
              <a:rPr lang="ko-KR" altLang="en-US" sz="1400" dirty="0"/>
              <a:t> 변경 등 상용화 레벨 </a:t>
            </a:r>
            <a:r>
              <a:rPr lang="en-US" altLang="ko-KR" sz="1400" dirty="0"/>
              <a:t>UI </a:t>
            </a:r>
            <a:r>
              <a:rPr lang="ko-KR" altLang="en-US" sz="1400" dirty="0"/>
              <a:t>요소 보완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15</a:t>
            </a:r>
            <a:r>
              <a:rPr lang="ko-KR" altLang="en-US" sz="1400" b="1" dirty="0"/>
              <a:t>주차</a:t>
            </a:r>
            <a:r>
              <a:rPr lang="en-US" altLang="ko-KR" sz="1400" b="1" dirty="0"/>
              <a:t>: </a:t>
            </a:r>
            <a:r>
              <a:rPr lang="ko-KR" altLang="en-US" sz="1400" b="1" dirty="0"/>
              <a:t>디버깅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스트레스 테스트 및 최종 성능 검증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내용</a:t>
            </a:r>
            <a:r>
              <a:rPr lang="en-US" altLang="ko-KR" sz="1400" dirty="0"/>
              <a:t>: </a:t>
            </a:r>
            <a:r>
              <a:rPr lang="ko-KR" altLang="en-US" sz="1400" dirty="0"/>
              <a:t>대용량 실시간 신호 환경에서의 안정성 평가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/>
              <a:t>코딩 작업</a:t>
            </a:r>
            <a:r>
              <a:rPr lang="en-US" altLang="ko-KR" sz="1400" dirty="0"/>
              <a:t>: </a:t>
            </a:r>
            <a:r>
              <a:rPr lang="ko-KR" altLang="en-US" sz="1400" dirty="0"/>
              <a:t>대용량 데이터 로드 시 메모리 누수 점검</a:t>
            </a:r>
            <a:r>
              <a:rPr lang="en-US" altLang="ko-KR" sz="1400" dirty="0"/>
              <a:t>, </a:t>
            </a:r>
            <a:r>
              <a:rPr lang="ko-KR" altLang="en-US" sz="1400" dirty="0"/>
              <a:t>프레임 </a:t>
            </a:r>
            <a:r>
              <a:rPr lang="ko-KR" altLang="en-US" sz="1400" dirty="0" err="1"/>
              <a:t>레이트</a:t>
            </a:r>
            <a:r>
              <a:rPr lang="en-US" altLang="ko-KR" sz="1400" dirty="0"/>
              <a:t>(FPS) </a:t>
            </a:r>
            <a:r>
              <a:rPr lang="ko-KR" altLang="en-US" sz="1400" dirty="0"/>
              <a:t>측정</a:t>
            </a:r>
            <a:r>
              <a:rPr lang="en-US" altLang="ko-KR" sz="1400" dirty="0"/>
              <a:t>, Phase Inversion </a:t>
            </a:r>
            <a:r>
              <a:rPr lang="ko-KR" altLang="en-US" sz="1400" dirty="0"/>
              <a:t>오버레이 정확도 최종 검증 및 예외 처리</a:t>
            </a:r>
            <a:r>
              <a:rPr lang="en-US" altLang="ko-KR" sz="1400" dirty="0"/>
              <a:t>.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C7E29EA-39AB-2B87-EF8D-9903293E23AD}"/>
              </a:ext>
            </a:extLst>
          </p:cNvPr>
          <p:cNvCxnSpPr/>
          <p:nvPr/>
        </p:nvCxnSpPr>
        <p:spPr>
          <a:xfrm>
            <a:off x="2484713" y="637563"/>
            <a:ext cx="97072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70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176969-D23D-0C50-9178-0AAD5AC09825}"/>
              </a:ext>
            </a:extLst>
          </p:cNvPr>
          <p:cNvSpPr txBox="1"/>
          <p:nvPr/>
        </p:nvSpPr>
        <p:spPr>
          <a:xfrm>
            <a:off x="2859741" y="2805954"/>
            <a:ext cx="61139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5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795533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</TotalTime>
  <Words>1034</Words>
  <Application>Microsoft Office PowerPoint</Application>
  <PresentationFormat>와이드스크린</PresentationFormat>
  <Paragraphs>82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뷰온 주식회사</dc:creator>
  <cp:lastModifiedBy>뷰온 주식회사</cp:lastModifiedBy>
  <cp:revision>1</cp:revision>
  <dcterms:created xsi:type="dcterms:W3CDTF">2026-09-18T00:36:48Z</dcterms:created>
  <dcterms:modified xsi:type="dcterms:W3CDTF">2026-09-18T00:44:51Z</dcterms:modified>
</cp:coreProperties>
</file>