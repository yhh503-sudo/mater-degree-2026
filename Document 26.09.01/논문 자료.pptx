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1577" r:id="rId3"/>
    <p:sldId id="1578" r:id="rId4"/>
    <p:sldId id="1579" r:id="rId5"/>
    <p:sldId id="1580" r:id="rId6"/>
    <p:sldId id="1581" r:id="rId7"/>
    <p:sldId id="1582" r:id="rId8"/>
    <p:sldId id="1583" r:id="rId9"/>
    <p:sldId id="1584" r:id="rId10"/>
    <p:sldId id="1585" r:id="rId11"/>
    <p:sldId id="1596" r:id="rId12"/>
    <p:sldId id="1586" r:id="rId13"/>
    <p:sldId id="1588" r:id="rId14"/>
    <p:sldId id="1591" r:id="rId15"/>
    <p:sldId id="1589" r:id="rId16"/>
    <p:sldId id="1590" r:id="rId17"/>
    <p:sldId id="1592" r:id="rId18"/>
    <p:sldId id="1593" r:id="rId19"/>
    <p:sldId id="1594" r:id="rId20"/>
    <p:sldId id="1595" r:id="rId21"/>
    <p:sldId id="1597" r:id="rId22"/>
    <p:sldId id="1598" r:id="rId23"/>
    <p:sldId id="1599" r:id="rId24"/>
    <p:sldId id="1600" r:id="rId25"/>
    <p:sldId id="1601" r:id="rId26"/>
    <p:sldId id="1602" r:id="rId27"/>
    <p:sldId id="1603" r:id="rId28"/>
    <p:sldId id="1604" r:id="rId29"/>
    <p:sldId id="1605" r:id="rId30"/>
    <p:sldId id="1606" r:id="rId31"/>
    <p:sldId id="1607" r:id="rId32"/>
    <p:sldId id="1608" r:id="rId33"/>
    <p:sldId id="1609" r:id="rId34"/>
    <p:sldId id="1610" r:id="rId35"/>
    <p:sldId id="1611" r:id="rId36"/>
    <p:sldId id="1612" r:id="rId37"/>
    <p:sldId id="1613" r:id="rId38"/>
    <p:sldId id="1614" r:id="rId39"/>
    <p:sldId id="1615" r:id="rId40"/>
    <p:sldId id="1616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2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DD0A9-ECE3-4046-AAEC-24AACBBB2F3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6EFEF-B488-4401-9D81-0EE426595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B1949-7D16-449C-A13E-547710A7B59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613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B1949-7D16-449C-A13E-547710A7B59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724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B1949-7D16-449C-A13E-547710A7B59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76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B1949-7D16-449C-A13E-547710A7B59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486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FE657-7742-E0C5-D4A8-F577E68EB3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EF8CA0-86EC-42C4-AAF0-62A24D3C6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D47F0-9976-F843-DD7B-858028652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344BE4-F112-668C-1EDE-26149663F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970829-1E3A-B922-11B3-B96805DD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01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A8FFE-D795-B6BA-28DE-F6EC4E18B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9E831B-0393-F000-C5FE-A4307A58F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26D494-DF0A-3E16-C1ED-B31842215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8C0161-C039-C82C-C6E6-C8E3A9726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28277A-A1CF-B86A-16F3-8BFD528E1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67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1AE3CC-10E5-C5D8-32B2-F1B198836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48E34B-06F2-6B2B-22E5-5F1F1C8CE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63D840-3769-0D7D-A9B4-4019E2414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877B21-5102-A863-AB4A-F74405210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5BF295-6A23-AE1E-38BA-8966A62B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35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48962-97E7-B041-D172-45DAF9B6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254D94-F4CA-1F06-8AF6-0587D075B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854417-D1B3-EC71-7A5D-43F8CB619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9D2A6E-89C1-A574-4FB8-1735F07E8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074CCD-E2AD-6FC5-4EB2-697B30256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1BAB2F-F559-131D-BADF-C6EC4E00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321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C9785-F695-467E-6325-592C76DF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DAA1AA-C835-D371-A526-559BA3E22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205F4C-F3E5-2A71-D955-DF6EA2DDF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973A42-A4B7-1B43-FF52-111A089A5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D3DCF10-348B-8B59-2F2F-613BD2DC2A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D12FF44-2F58-CA31-9970-DAD07319D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FEA5CA7-192A-DB3E-40E0-8A3258F6A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3C0A00A-5BAE-99FC-4E22-8778CC61A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728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7DE7D-3284-FAF5-5AE0-E6149479A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FF4FE-BF05-CC3A-B131-528CF0844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F5032F-7925-89BC-1C51-C0B89D8D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D506BF-4AE3-2F69-BE16-09E9D1634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081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63006D0-8030-1B61-0182-8113EFD2E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E45945-7B77-08C0-C9F4-AA5EFE527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842093-EC89-7D09-B6D0-A1CC5DABA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27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ABED0-9C48-4779-0B68-4496A597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20EF03-C908-54F0-83BD-2D35140FF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3A9D77-EA9B-AF5E-11EE-87AC6B3C4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3A5143-CAB1-919C-60CB-E7F30CBB0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487EB5-65EE-ED42-132D-8C383CA7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6123F2-4D3B-AFFF-2845-4806FC3B1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98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F1A39-C58F-530A-E517-03989507A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558D83B-F9A9-8965-3F28-806761934D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0D8B5E-8866-9D23-A557-072AC53D7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600DB3-6605-B6C2-B2C8-E6A36AC62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4E0ACB-95DE-5C3C-3882-0810249A2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64C1CC-56EB-2A70-C27F-1F632B632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95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0D868-0C29-162C-3684-D0FF39D5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F6B9A7-2CC9-E678-2416-CEA064EA1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F7D980-68CB-7392-522A-DB8CEF82E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96932F-CF14-8C69-6968-AC481C19E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9078F7-A344-D772-BDA6-8A7FBEA0E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562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CA105C5-AA27-92F5-F4AD-F4805F8293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D60020-D92B-43F4-5E81-F33711ED8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26DE57-161F-DF8F-69B3-3A36C3DFF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F881-97E8-4F41-BDDF-BD69BA0EFE12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A214E7-8AEB-E224-CAAF-550CBC836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816F71-D356-F95F-41C6-5C6A90E3D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908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32B564-2980-6ABB-902E-68753CB8D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C6AF4B-992C-22CD-24FE-4316E4388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A7F7DA-A919-524C-EF9D-CDA4175AC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AFF881-97E8-4F41-BDDF-BD69BA0EFE12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5B5486-C54B-DEBA-C96C-685294460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34AED7-67FA-4D44-9220-A315A875D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BA24C-1217-4368-AA55-6C5A694BA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084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11" Type="http://schemas.openxmlformats.org/officeDocument/2006/relationships/image" Target="../media/image22.jpg"/><Relationship Id="rId5" Type="http://schemas.openxmlformats.org/officeDocument/2006/relationships/image" Target="../media/image16.jpg"/><Relationship Id="rId10" Type="http://schemas.openxmlformats.org/officeDocument/2006/relationships/image" Target="../media/image21.jpg"/><Relationship Id="rId4" Type="http://schemas.openxmlformats.org/officeDocument/2006/relationships/image" Target="../media/image15.jpg"/><Relationship Id="rId9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hyperlink" Target="https://doi.org/10.1049/pel2.70185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dtmachine.com/ko/knowledge/a-scan-in-ultrasonic-testing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FECAE-EF7D-F08B-BED4-D8C161AD28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논문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050E3B6-0C88-DE38-6357-7ACE5081A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67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B5E277-D48D-94ED-1E05-6EEDC52FF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510" y="310243"/>
            <a:ext cx="11880979" cy="623751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7CAEF12-9364-7A46-29DC-5FB2C62C3F6F}"/>
              </a:ext>
            </a:extLst>
          </p:cNvPr>
          <p:cNvSpPr/>
          <p:nvPr/>
        </p:nvSpPr>
        <p:spPr>
          <a:xfrm>
            <a:off x="155510" y="500743"/>
            <a:ext cx="12036490" cy="89262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251DD3-2FF0-3691-9897-19BA3CEA279C}"/>
              </a:ext>
            </a:extLst>
          </p:cNvPr>
          <p:cNvSpPr/>
          <p:nvPr/>
        </p:nvSpPr>
        <p:spPr>
          <a:xfrm>
            <a:off x="0" y="1469570"/>
            <a:ext cx="12289971" cy="5170715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158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5DC4C-C907-A62A-67D2-2308155DD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0A5292-1119-012B-D6BC-DC419329A996}"/>
              </a:ext>
            </a:extLst>
          </p:cNvPr>
          <p:cNvSpPr/>
          <p:nvPr/>
        </p:nvSpPr>
        <p:spPr>
          <a:xfrm>
            <a:off x="0" y="1583073"/>
            <a:ext cx="12192000" cy="8941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B2C1F8-47A0-C5C6-C85F-7EFCC77DC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3379"/>
            <a:ext cx="12192000" cy="7246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9BC17D8-2DF1-7F9B-AF3E-7C70E6BF7A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839" b="15021"/>
          <a:stretch>
            <a:fillRect/>
          </a:stretch>
        </p:blipFill>
        <p:spPr>
          <a:xfrm>
            <a:off x="0" y="1583073"/>
            <a:ext cx="3799114" cy="49178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F95E58A-A516-1869-CCED-F1CE4BFFBB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232" t="15021" r="42857"/>
          <a:stretch>
            <a:fillRect/>
          </a:stretch>
        </p:blipFill>
        <p:spPr>
          <a:xfrm>
            <a:off x="2585357" y="1976588"/>
            <a:ext cx="3037114" cy="4917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33B6EE4-5265-0D24-C10F-CC191B7D8716}"/>
              </a:ext>
            </a:extLst>
          </p:cNvPr>
          <p:cNvSpPr txBox="1"/>
          <p:nvPr/>
        </p:nvSpPr>
        <p:spPr>
          <a:xfrm>
            <a:off x="6204857" y="1825679"/>
            <a:ext cx="21227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Align </a:t>
            </a:r>
            <a:r>
              <a:rPr lang="en-US" altLang="ko-KR" sz="1300" dirty="0" err="1"/>
              <a:t>Mathod</a:t>
            </a:r>
            <a:r>
              <a:rPr lang="en-US" altLang="ko-KR" sz="1300" dirty="0"/>
              <a:t>:</a:t>
            </a:r>
            <a:endParaRPr lang="ko-KR" altLang="en-US" sz="13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FB221-FFB9-C8A1-9A17-A65E6476E7C7}"/>
              </a:ext>
            </a:extLst>
          </p:cNvPr>
          <p:cNvSpPr txBox="1"/>
          <p:nvPr/>
        </p:nvSpPr>
        <p:spPr>
          <a:xfrm>
            <a:off x="7739740" y="2218223"/>
            <a:ext cx="21227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Neg Min</a:t>
            </a:r>
            <a:endParaRPr lang="ko-KR" altLang="en-US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6BE46A-CEF9-3D03-8CEF-6358CBE2440F}"/>
              </a:ext>
            </a:extLst>
          </p:cNvPr>
          <p:cNvSpPr txBox="1"/>
          <p:nvPr/>
        </p:nvSpPr>
        <p:spPr>
          <a:xfrm>
            <a:off x="7717971" y="1833447"/>
            <a:ext cx="21227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Envelope Peak</a:t>
            </a:r>
            <a:endParaRPr lang="ko-KR" altLang="en-US" sz="13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CABBFF-4548-15AE-008D-5DDA3010FE59}"/>
              </a:ext>
            </a:extLst>
          </p:cNvPr>
          <p:cNvSpPr txBox="1"/>
          <p:nvPr/>
        </p:nvSpPr>
        <p:spPr>
          <a:xfrm>
            <a:off x="9954985" y="1890994"/>
            <a:ext cx="21227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Pos Max</a:t>
            </a:r>
            <a:endParaRPr lang="ko-KR" altLang="en-US" sz="13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8B979E-F55A-99E6-BE93-945C7BE22CFB}"/>
              </a:ext>
            </a:extLst>
          </p:cNvPr>
          <p:cNvSpPr txBox="1"/>
          <p:nvPr/>
        </p:nvSpPr>
        <p:spPr>
          <a:xfrm>
            <a:off x="9954985" y="2218223"/>
            <a:ext cx="21227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Cross Corr</a:t>
            </a:r>
            <a:endParaRPr lang="ko-KR" altLang="en-US" sz="1300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6146420-3410-B399-2988-36A7D42E95AF}"/>
              </a:ext>
            </a:extLst>
          </p:cNvPr>
          <p:cNvSpPr/>
          <p:nvPr/>
        </p:nvSpPr>
        <p:spPr>
          <a:xfrm>
            <a:off x="7543800" y="1890994"/>
            <a:ext cx="174171" cy="1564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D113D67-DB83-10B9-74E7-8C9835A82248}"/>
              </a:ext>
            </a:extLst>
          </p:cNvPr>
          <p:cNvSpPr/>
          <p:nvPr/>
        </p:nvSpPr>
        <p:spPr>
          <a:xfrm>
            <a:off x="7543800" y="2281935"/>
            <a:ext cx="174171" cy="156472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33639D3-3AC6-4E74-5B61-0966415A28F9}"/>
              </a:ext>
            </a:extLst>
          </p:cNvPr>
          <p:cNvSpPr/>
          <p:nvPr/>
        </p:nvSpPr>
        <p:spPr>
          <a:xfrm>
            <a:off x="9775370" y="1858337"/>
            <a:ext cx="174171" cy="1564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FFA2C9D-0A98-57EB-2FC1-28861FF3A97E}"/>
              </a:ext>
            </a:extLst>
          </p:cNvPr>
          <p:cNvSpPr/>
          <p:nvPr/>
        </p:nvSpPr>
        <p:spPr>
          <a:xfrm>
            <a:off x="9775368" y="2304652"/>
            <a:ext cx="174171" cy="1564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13BC2A8A-088C-D883-C531-109A73A67935}"/>
              </a:ext>
            </a:extLst>
          </p:cNvPr>
          <p:cNvSpPr/>
          <p:nvPr/>
        </p:nvSpPr>
        <p:spPr>
          <a:xfrm>
            <a:off x="4484914" y="1079209"/>
            <a:ext cx="1415143" cy="3966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97423F-4275-1E2E-9B53-6D158B66F226}"/>
              </a:ext>
            </a:extLst>
          </p:cNvPr>
          <p:cNvSpPr txBox="1"/>
          <p:nvPr/>
        </p:nvSpPr>
        <p:spPr>
          <a:xfrm>
            <a:off x="152400" y="0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UI </a:t>
            </a:r>
            <a:r>
              <a:rPr lang="ko-KR" altLang="en-US" dirty="0"/>
              <a:t>개편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34DAAE-AEC7-BCFB-9834-836E5E60A4E9}"/>
              </a:ext>
            </a:extLst>
          </p:cNvPr>
          <p:cNvSpPr txBox="1"/>
          <p:nvPr/>
        </p:nvSpPr>
        <p:spPr>
          <a:xfrm>
            <a:off x="152400" y="2799224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UI </a:t>
            </a:r>
            <a:r>
              <a:rPr lang="ko-KR" altLang="en-US" dirty="0"/>
              <a:t>개편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6F5CF918-90F1-FEC0-5E71-DC61EE0ED5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31" r="4357"/>
          <a:stretch>
            <a:fillRect/>
          </a:stretch>
        </p:blipFill>
        <p:spPr>
          <a:xfrm>
            <a:off x="7652651" y="3091542"/>
            <a:ext cx="4539349" cy="3507659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5479435-990B-6010-F654-1E5CEF9A3A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16" y="3700954"/>
            <a:ext cx="4566556" cy="2024498"/>
          </a:xfrm>
          <a:prstGeom prst="rect">
            <a:avLst/>
          </a:prstGeom>
        </p:spPr>
      </p:pic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DBA3B509-4CD3-F4FA-3696-31B828CD9933}"/>
              </a:ext>
            </a:extLst>
          </p:cNvPr>
          <p:cNvSpPr/>
          <p:nvPr/>
        </p:nvSpPr>
        <p:spPr>
          <a:xfrm>
            <a:off x="4724400" y="4434203"/>
            <a:ext cx="522514" cy="7946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F3D4D8DB-19C8-F0C2-C090-4DF2ACC69B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92" r="48507" b="11417"/>
          <a:stretch>
            <a:fillRect/>
          </a:stretch>
        </p:blipFill>
        <p:spPr>
          <a:xfrm>
            <a:off x="5246914" y="2904961"/>
            <a:ext cx="2220686" cy="1790743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65535E0D-0C05-C5F5-7A1B-8700DBD037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470" t="-1713" r="812" b="1713"/>
          <a:stretch>
            <a:fillRect/>
          </a:stretch>
        </p:blipFill>
        <p:spPr>
          <a:xfrm>
            <a:off x="5372094" y="4720822"/>
            <a:ext cx="2095506" cy="203207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D4DBFC6-E25B-AF62-AC3F-BCF32E703D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2472"/>
          <a:stretch>
            <a:fillRect/>
          </a:stretch>
        </p:blipFill>
        <p:spPr>
          <a:xfrm>
            <a:off x="5372094" y="6599201"/>
            <a:ext cx="6648450" cy="22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061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9686B54-C165-6EBC-E3A6-A64D7FFAF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86278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F4FA735-9372-653C-6C73-498063265A41}"/>
              </a:ext>
            </a:extLst>
          </p:cNvPr>
          <p:cNvSpPr/>
          <p:nvPr/>
        </p:nvSpPr>
        <p:spPr>
          <a:xfrm>
            <a:off x="555171" y="0"/>
            <a:ext cx="642258" cy="261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5-1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00E63-8410-9CFA-509A-A62C4F65579A}"/>
              </a:ext>
            </a:extLst>
          </p:cNvPr>
          <p:cNvSpPr/>
          <p:nvPr/>
        </p:nvSpPr>
        <p:spPr>
          <a:xfrm>
            <a:off x="544285" y="4180115"/>
            <a:ext cx="642258" cy="261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5-3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3A5B79-FC91-EA73-62B1-0D021BF41FC2}"/>
              </a:ext>
            </a:extLst>
          </p:cNvPr>
          <p:cNvSpPr/>
          <p:nvPr/>
        </p:nvSpPr>
        <p:spPr>
          <a:xfrm>
            <a:off x="468085" y="2764971"/>
            <a:ext cx="642258" cy="261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5-2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4ABE6F-BF33-539F-5664-63D72BE9B265}"/>
              </a:ext>
            </a:extLst>
          </p:cNvPr>
          <p:cNvSpPr/>
          <p:nvPr/>
        </p:nvSpPr>
        <p:spPr>
          <a:xfrm>
            <a:off x="555171" y="5464630"/>
            <a:ext cx="642258" cy="261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5-4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550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3CF40D1-0C17-8839-0FE9-5059C2EDF1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766"/>
          <a:stretch>
            <a:fillRect/>
          </a:stretch>
        </p:blipFill>
        <p:spPr>
          <a:xfrm>
            <a:off x="0" y="0"/>
            <a:ext cx="12192000" cy="133362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4F956DC-5BF1-62A4-BE6C-0AE8EE3005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766"/>
          <a:stretch>
            <a:fillRect/>
          </a:stretch>
        </p:blipFill>
        <p:spPr>
          <a:xfrm>
            <a:off x="0" y="1763485"/>
            <a:ext cx="12192000" cy="133362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62B09DB-DAC9-2AB1-6B1F-6AA7BF0E18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43" t="9982" r="35625" b="84755"/>
          <a:stretch>
            <a:fillRect/>
          </a:stretch>
        </p:blipFill>
        <p:spPr>
          <a:xfrm>
            <a:off x="195943" y="2667000"/>
            <a:ext cx="3929744" cy="31568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26E54AF-3CD8-7A02-2FC9-70C4E7DF4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136" y="2315936"/>
            <a:ext cx="4381500" cy="66675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604983-F1F4-AE64-03E0-2386BE3BF7E5}"/>
              </a:ext>
            </a:extLst>
          </p:cNvPr>
          <p:cNvSpPr/>
          <p:nvPr/>
        </p:nvSpPr>
        <p:spPr>
          <a:xfrm>
            <a:off x="3962401" y="2280558"/>
            <a:ext cx="3001736" cy="3864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645FAFA-9D8B-F90D-5DC0-6188C61CB228}"/>
              </a:ext>
            </a:extLst>
          </p:cNvPr>
          <p:cNvCxnSpPr/>
          <p:nvPr/>
        </p:nvCxnSpPr>
        <p:spPr>
          <a:xfrm>
            <a:off x="7040338" y="2280558"/>
            <a:ext cx="0" cy="61504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DFA5A4A3-96DB-6602-B000-108951F12796}"/>
              </a:ext>
            </a:extLst>
          </p:cNvPr>
          <p:cNvSpPr/>
          <p:nvPr/>
        </p:nvSpPr>
        <p:spPr>
          <a:xfrm>
            <a:off x="5007429" y="1333624"/>
            <a:ext cx="849085" cy="3864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540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">
            <a:extLst>
              <a:ext uri="{FF2B5EF4-FFF2-40B4-BE49-F238E27FC236}">
                <a16:creationId xmlns:a16="http://schemas.microsoft.com/office/drawing/2014/main" id="{20266196-8738-03FC-D1DF-A142047BD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9613"/>
            <a:ext cx="12205687" cy="647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439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2A7C4-0AC3-8A99-7F29-7E98DF938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">
            <a:extLst>
              <a:ext uri="{FF2B5EF4-FFF2-40B4-BE49-F238E27FC236}">
                <a16:creationId xmlns:a16="http://schemas.microsoft.com/office/drawing/2014/main" id="{B5AB1016-645D-AD6A-4411-3D9775A68E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964"/>
          <a:stretch>
            <a:fillRect/>
          </a:stretch>
        </p:blipFill>
        <p:spPr>
          <a:xfrm>
            <a:off x="-1" y="179614"/>
            <a:ext cx="12205687" cy="843644"/>
          </a:xfrm>
          <a:prstGeom prst="rect">
            <a:avLst/>
          </a:prstGeom>
        </p:spPr>
      </p:pic>
      <p:pic>
        <p:nvPicPr>
          <p:cNvPr id="3" name="그림 2" descr="Image">
            <a:extLst>
              <a:ext uri="{FF2B5EF4-FFF2-40B4-BE49-F238E27FC236}">
                <a16:creationId xmlns:a16="http://schemas.microsoft.com/office/drawing/2014/main" id="{6D5874AE-A967-620B-0FE2-562DAEF5E1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964"/>
          <a:stretch>
            <a:fillRect/>
          </a:stretch>
        </p:blipFill>
        <p:spPr>
          <a:xfrm>
            <a:off x="-1" y="1562101"/>
            <a:ext cx="12205687" cy="843644"/>
          </a:xfrm>
          <a:prstGeom prst="rect">
            <a:avLst/>
          </a:prstGeom>
        </p:spPr>
      </p:pic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A356AEDC-6915-C8AF-2B1C-264C143B847C}"/>
              </a:ext>
            </a:extLst>
          </p:cNvPr>
          <p:cNvSpPr/>
          <p:nvPr/>
        </p:nvSpPr>
        <p:spPr>
          <a:xfrm>
            <a:off x="4180114" y="1023258"/>
            <a:ext cx="1055915" cy="45719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E6A753-DC90-DE6D-AED5-A767C25158B2}"/>
              </a:ext>
            </a:extLst>
          </p:cNvPr>
          <p:cNvSpPr/>
          <p:nvPr/>
        </p:nvSpPr>
        <p:spPr>
          <a:xfrm>
            <a:off x="2492829" y="2090057"/>
            <a:ext cx="620485" cy="1959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C40766-F1B3-8381-071D-DFD5B493F389}"/>
              </a:ext>
            </a:extLst>
          </p:cNvPr>
          <p:cNvSpPr/>
          <p:nvPr/>
        </p:nvSpPr>
        <p:spPr>
          <a:xfrm>
            <a:off x="3211287" y="1763480"/>
            <a:ext cx="620485" cy="522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ROI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Align</a:t>
            </a:r>
            <a:endParaRPr lang="ko-KR" altLang="en-US" sz="1100" dirty="0"/>
          </a:p>
        </p:txBody>
      </p:sp>
      <p:pic>
        <p:nvPicPr>
          <p:cNvPr id="20" name="그림 19" descr="Image">
            <a:extLst>
              <a:ext uri="{FF2B5EF4-FFF2-40B4-BE49-F238E27FC236}">
                <a16:creationId xmlns:a16="http://schemas.microsoft.com/office/drawing/2014/main" id="{5E91F0C7-2450-212F-1634-C6E2340F7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01" b="-420"/>
          <a:stretch>
            <a:fillRect/>
          </a:stretch>
        </p:blipFill>
        <p:spPr>
          <a:xfrm>
            <a:off x="1088571" y="2481953"/>
            <a:ext cx="10344229" cy="4376048"/>
          </a:xfrm>
          <a:prstGeom prst="rect">
            <a:avLst/>
          </a:prstGeom>
        </p:spPr>
      </p:pic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BED0098-3D03-41ED-1AAD-B55A0F8C9271}"/>
              </a:ext>
            </a:extLst>
          </p:cNvPr>
          <p:cNvCxnSpPr/>
          <p:nvPr/>
        </p:nvCxnSpPr>
        <p:spPr>
          <a:xfrm flipH="1">
            <a:off x="5236029" y="2688771"/>
            <a:ext cx="533400" cy="130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B5A56FD-046B-F96C-D1DB-21337CDB3531}"/>
              </a:ext>
            </a:extLst>
          </p:cNvPr>
          <p:cNvCxnSpPr>
            <a:cxnSpLocks/>
          </p:cNvCxnSpPr>
          <p:nvPr/>
        </p:nvCxnSpPr>
        <p:spPr>
          <a:xfrm flipH="1" flipV="1">
            <a:off x="5208815" y="2645227"/>
            <a:ext cx="560614" cy="217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435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A4555F-F725-CA6F-940C-0F7580220235}"/>
              </a:ext>
            </a:extLst>
          </p:cNvPr>
          <p:cNvSpPr txBox="1"/>
          <p:nvPr/>
        </p:nvSpPr>
        <p:spPr>
          <a:xfrm>
            <a:off x="76200" y="0"/>
            <a:ext cx="8899544" cy="6878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ko-KR" altLang="ko-KR" sz="1600" b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ko-KR" altLang="ko-KR" sz="1600" b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raw_data_in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row_index_in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1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col_index_in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):</a:t>
            </a: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raw_data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raw_data_in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row_index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row_index_in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단일 CSV 시 0으로 고정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col_index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col_index_in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CSV 파일 내 행(</a:t>
            </a:r>
            <a:r>
              <a:rPr lang="ko-KR" altLang="ko-KR" sz="1600" b="1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) 번호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1. </a:t>
            </a:r>
            <a:r>
              <a:rPr lang="ko-KR" altLang="ko-KR" sz="1600" b="1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Raw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파형 분석 결과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fft_magnitude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center_freq_Mhz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#self.raw_envelope_data:Optional[np.ndarray] = </a:t>
            </a:r>
            <a:r>
              <a:rPr lang="ko-KR" altLang="ko-KR" sz="1600" b="1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#2. </a:t>
            </a:r>
            <a:r>
              <a:rPr lang="ko-KR" altLang="ko-KR" sz="1600" b="1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Filtered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파형 분석 결과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filtered_data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filtered_fft_magnitude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filtered_center_freq_Mhz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filtered_envelope_data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#3. STEP4 : </a:t>
            </a:r>
            <a:r>
              <a:rPr lang="ko-KR" altLang="ko-KR" sz="1600" b="1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및 600 샘플 ROI 결과 저장 변수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align_indices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AlignIndices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AlignIndices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#4. STEP4-2 : </a:t>
            </a:r>
            <a:r>
              <a:rPr lang="ko-KR" altLang="ko-KR" sz="1600" b="1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Phase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Inversion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phase_inverse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altLang="ko-KR" sz="1600" b="1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sz="1600" b="1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ko-KR" altLang="ko-KR" sz="9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A33D91-A864-62B7-AAED-D6761704EE86}"/>
              </a:ext>
            </a:extLst>
          </p:cNvPr>
          <p:cNvSpPr txBox="1"/>
          <p:nvPr/>
        </p:nvSpPr>
        <p:spPr>
          <a:xfrm>
            <a:off x="8371114" y="0"/>
            <a:ext cx="6096000" cy="556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#5. Step5-1 : TGC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tgc_ROI_Max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tgc_ROI_min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tgc_ROI_Corr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tgc_ROI_Envelope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#5. Step5-3 : </a:t>
            </a:r>
            <a:r>
              <a:rPr lang="ko-KR" altLang="ko-KR" sz="1600" b="1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Envelope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env_tgc_ROI_Max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env_tgc_ROI_min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env_tgc_ROI_Corr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env_tgc_ROI_Envelope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ko-KR" altLang="ko-KR" sz="1600" b="1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ko-KR" sz="16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ko-KR" sz="16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ko-KR" sz="16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br>
              <a:rPr lang="ko-KR" altLang="ko-KR" sz="9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ko-KR" altLang="ko-KR" sz="9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462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A05CDBE-A58E-E663-8643-9EDD78677A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593"/>
          <a:stretch>
            <a:fillRect/>
          </a:stretch>
        </p:blipFill>
        <p:spPr>
          <a:xfrm>
            <a:off x="0" y="285750"/>
            <a:ext cx="12192000" cy="103142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4E29522-F59C-DCDB-7603-9440672AC1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9" t="54805" r="54375" b="9004"/>
          <a:stretch>
            <a:fillRect/>
          </a:stretch>
        </p:blipFill>
        <p:spPr>
          <a:xfrm>
            <a:off x="530678" y="4733082"/>
            <a:ext cx="4117523" cy="184274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090DA30-5678-1D01-C6AD-3F1DBCA15D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9" t="20606" r="54197" b="47013"/>
          <a:stretch>
            <a:fillRect/>
          </a:stretch>
        </p:blipFill>
        <p:spPr>
          <a:xfrm>
            <a:off x="247649" y="3058180"/>
            <a:ext cx="4400552" cy="165574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B9737BC-D4AC-95C3-86CA-1B090C6DE4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964" t="20909" r="1250" b="10347"/>
          <a:stretch>
            <a:fillRect/>
          </a:stretch>
        </p:blipFill>
        <p:spPr>
          <a:xfrm>
            <a:off x="443593" y="1420407"/>
            <a:ext cx="4117522" cy="1618612"/>
          </a:xfrm>
          <a:prstGeom prst="rect">
            <a:avLst/>
          </a:prstGeom>
        </p:spPr>
      </p:pic>
      <p:pic>
        <p:nvPicPr>
          <p:cNvPr id="13" name="그림 12" descr="Image">
            <a:extLst>
              <a:ext uri="{FF2B5EF4-FFF2-40B4-BE49-F238E27FC236}">
                <a16:creationId xmlns:a16="http://schemas.microsoft.com/office/drawing/2014/main" id="{769C926F-373A-91D2-25F3-C3BBDD7557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972"/>
          <a:stretch>
            <a:fillRect/>
          </a:stretch>
        </p:blipFill>
        <p:spPr>
          <a:xfrm>
            <a:off x="13687" y="6572250"/>
            <a:ext cx="12205687" cy="23603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7C16D8A-6128-971B-1B57-755206A8E0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9" t="15525" r="2507" b="15806"/>
          <a:stretch>
            <a:fillRect/>
          </a:stretch>
        </p:blipFill>
        <p:spPr>
          <a:xfrm>
            <a:off x="5246914" y="2307771"/>
            <a:ext cx="6335486" cy="28847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3DB495C-A926-4DFC-F46F-D5EBF9A50923}"/>
              </a:ext>
            </a:extLst>
          </p:cNvPr>
          <p:cNvSpPr txBox="1"/>
          <p:nvPr/>
        </p:nvSpPr>
        <p:spPr>
          <a:xfrm>
            <a:off x="11549743" y="2338365"/>
            <a:ext cx="71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-100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09A177-5DA6-5554-47EF-6706693A525B}"/>
              </a:ext>
            </a:extLst>
          </p:cNvPr>
          <p:cNvSpPr txBox="1"/>
          <p:nvPr/>
        </p:nvSpPr>
        <p:spPr>
          <a:xfrm>
            <a:off x="11549743" y="4986440"/>
            <a:ext cx="71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500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10E29C-F9D6-AAC9-7EDE-6FCA411FD648}"/>
              </a:ext>
            </a:extLst>
          </p:cNvPr>
          <p:cNvSpPr txBox="1"/>
          <p:nvPr/>
        </p:nvSpPr>
        <p:spPr>
          <a:xfrm>
            <a:off x="5116285" y="5262571"/>
            <a:ext cx="71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79ACDB-78B9-651B-939B-5A443B8C2DA7}"/>
              </a:ext>
            </a:extLst>
          </p:cNvPr>
          <p:cNvSpPr txBox="1"/>
          <p:nvPr/>
        </p:nvSpPr>
        <p:spPr>
          <a:xfrm>
            <a:off x="11190515" y="5262571"/>
            <a:ext cx="71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310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B314183-FB59-D956-FB85-7DC8C5AFF54B}"/>
              </a:ext>
            </a:extLst>
          </p:cNvPr>
          <p:cNvSpPr/>
          <p:nvPr/>
        </p:nvSpPr>
        <p:spPr>
          <a:xfrm>
            <a:off x="5116285" y="2144486"/>
            <a:ext cx="64661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A514F8B-F4C6-5F1B-1280-DB50060CE48F}"/>
              </a:ext>
            </a:extLst>
          </p:cNvPr>
          <p:cNvCxnSpPr/>
          <p:nvPr/>
        </p:nvCxnSpPr>
        <p:spPr>
          <a:xfrm>
            <a:off x="6311153" y="2513818"/>
            <a:ext cx="0" cy="265728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59304CA-04D0-3A21-E3B3-DAABFACB2A05}"/>
              </a:ext>
            </a:extLst>
          </p:cNvPr>
          <p:cNvSpPr txBox="1"/>
          <p:nvPr/>
        </p:nvSpPr>
        <p:spPr>
          <a:xfrm>
            <a:off x="6015317" y="5447237"/>
            <a:ext cx="4724401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CTRL </a:t>
            </a:r>
            <a:r>
              <a:rPr lang="ko-KR" altLang="en-US" dirty="0"/>
              <a:t>누르고</a:t>
            </a:r>
            <a:r>
              <a:rPr lang="en-US" altLang="ko-KR" dirty="0"/>
              <a:t>, </a:t>
            </a:r>
            <a:r>
              <a:rPr lang="ko-KR" altLang="en-US" dirty="0"/>
              <a:t>마우스로 </a:t>
            </a:r>
            <a:r>
              <a:rPr lang="en-US" altLang="ko-KR" dirty="0"/>
              <a:t>B</a:t>
            </a:r>
            <a:r>
              <a:rPr lang="ko-KR" altLang="en-US" dirty="0"/>
              <a:t>스캔 이미지의 위치 가리키면</a:t>
            </a:r>
            <a:r>
              <a:rPr lang="en-US" altLang="ko-KR" dirty="0"/>
              <a:t>, X</a:t>
            </a:r>
            <a:r>
              <a:rPr lang="ko-KR" altLang="en-US" dirty="0"/>
              <a:t>축 따라가며</a:t>
            </a:r>
            <a:r>
              <a:rPr lang="en-US" altLang="ko-KR" dirty="0"/>
              <a:t>, </a:t>
            </a:r>
            <a:r>
              <a:rPr lang="ko-KR" altLang="en-US" dirty="0"/>
              <a:t>왼쪽 </a:t>
            </a:r>
            <a:r>
              <a:rPr lang="en-US" altLang="ko-KR" dirty="0"/>
              <a:t>3</a:t>
            </a:r>
            <a:r>
              <a:rPr lang="ko-KR" altLang="en-US" dirty="0"/>
              <a:t>개의 </a:t>
            </a:r>
            <a:r>
              <a:rPr lang="en-US" altLang="ko-KR" dirty="0"/>
              <a:t>A</a:t>
            </a:r>
            <a:r>
              <a:rPr lang="ko-KR" altLang="en-US" dirty="0"/>
              <a:t>파형들이 자동으로 바뀜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6A350E-8ACD-3A4D-5774-DA6D8FBEFD9B}"/>
              </a:ext>
            </a:extLst>
          </p:cNvPr>
          <p:cNvSpPr txBox="1"/>
          <p:nvPr/>
        </p:nvSpPr>
        <p:spPr>
          <a:xfrm>
            <a:off x="7652017" y="2031589"/>
            <a:ext cx="2061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</a:t>
            </a:r>
            <a:r>
              <a:rPr lang="ko-KR" altLang="en-US" dirty="0"/>
              <a:t> </a:t>
            </a:r>
            <a:r>
              <a:rPr lang="en-US" altLang="ko-KR" dirty="0"/>
              <a:t>SCAN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3081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B510A77-1FED-F501-DB74-6D8F6CB08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68" y="482640"/>
            <a:ext cx="7721178" cy="638624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C9120BC-0FAD-0075-8D05-7F1B7C41D1B8}"/>
              </a:ext>
            </a:extLst>
          </p:cNvPr>
          <p:cNvSpPr/>
          <p:nvPr/>
        </p:nvSpPr>
        <p:spPr>
          <a:xfrm>
            <a:off x="8033657" y="849086"/>
            <a:ext cx="4158343" cy="6019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EE7F87D-28BF-611A-2982-068A72DE6AF0}"/>
              </a:ext>
            </a:extLst>
          </p:cNvPr>
          <p:cNvSpPr/>
          <p:nvPr/>
        </p:nvSpPr>
        <p:spPr>
          <a:xfrm>
            <a:off x="5976254" y="2188028"/>
            <a:ext cx="217715" cy="1197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2218DF1-FB92-F4C6-B409-363CDD68EB9B}"/>
              </a:ext>
            </a:extLst>
          </p:cNvPr>
          <p:cNvSpPr/>
          <p:nvPr/>
        </p:nvSpPr>
        <p:spPr>
          <a:xfrm>
            <a:off x="9067800" y="2205566"/>
            <a:ext cx="217715" cy="1197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E8B124C-738B-D2E6-011D-B6BDF3B6BA94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>
            <a:off x="6193969" y="2247900"/>
            <a:ext cx="2873831" cy="1753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42F2C43-D511-FF1A-4C44-EDE0CF17AF5D}"/>
              </a:ext>
            </a:extLst>
          </p:cNvPr>
          <p:cNvSpPr txBox="1"/>
          <p:nvPr/>
        </p:nvSpPr>
        <p:spPr>
          <a:xfrm>
            <a:off x="8160446" y="2264229"/>
            <a:ext cx="4031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[</a:t>
            </a:r>
            <a:r>
              <a:rPr lang="ko-KR" altLang="en-US" dirty="0">
                <a:solidFill>
                  <a:schemeClr val="bg1"/>
                </a:solidFill>
              </a:rPr>
              <a:t>ⓐ</a:t>
            </a:r>
            <a:r>
              <a:rPr lang="en-US" altLang="ko-KR" dirty="0">
                <a:solidFill>
                  <a:schemeClr val="bg1"/>
                </a:solidFill>
              </a:rPr>
              <a:t>. Inverse Phase Index </a:t>
            </a:r>
            <a:r>
              <a:rPr lang="ko-KR" altLang="en-US" dirty="0">
                <a:solidFill>
                  <a:schemeClr val="bg1"/>
                </a:solidFill>
              </a:rPr>
              <a:t>추출하기</a:t>
            </a:r>
            <a:r>
              <a:rPr lang="en-US" altLang="ko-KR" dirty="0">
                <a:solidFill>
                  <a:schemeClr val="bg1"/>
                </a:solidFill>
              </a:rPr>
              <a:t>]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- Align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Index</a:t>
            </a:r>
            <a:r>
              <a:rPr lang="ko-KR" altLang="en-US" dirty="0">
                <a:solidFill>
                  <a:schemeClr val="bg1"/>
                </a:solidFill>
              </a:rPr>
              <a:t>로부터 </a:t>
            </a:r>
            <a:r>
              <a:rPr lang="en-US" altLang="ko-KR" dirty="0">
                <a:solidFill>
                  <a:schemeClr val="bg1"/>
                </a:solidFill>
              </a:rPr>
              <a:t>ROI </a:t>
            </a:r>
            <a:r>
              <a:rPr lang="ko-KR" altLang="en-US" dirty="0">
                <a:solidFill>
                  <a:schemeClr val="bg1"/>
                </a:solidFill>
              </a:rPr>
              <a:t>범위 안에서 </a:t>
            </a:r>
            <a:r>
              <a:rPr lang="en-US" altLang="ko-KR" dirty="0">
                <a:solidFill>
                  <a:schemeClr val="bg1"/>
                </a:solidFill>
              </a:rPr>
              <a:t>Search. Ref </a:t>
            </a:r>
            <a:r>
              <a:rPr lang="ko-KR" altLang="en-US" dirty="0">
                <a:solidFill>
                  <a:schemeClr val="bg1"/>
                </a:solidFill>
              </a:rPr>
              <a:t>기준 파형과 정 반대 모양이 있을 경우 </a:t>
            </a:r>
            <a:r>
              <a:rPr lang="en-US" altLang="ko-KR" dirty="0">
                <a:solidFill>
                  <a:schemeClr val="bg1"/>
                </a:solidFill>
              </a:rPr>
              <a:t>Return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43CFCA8-5E65-7969-0084-A8FAD407D9A5}"/>
              </a:ext>
            </a:extLst>
          </p:cNvPr>
          <p:cNvSpPr/>
          <p:nvPr/>
        </p:nvSpPr>
        <p:spPr>
          <a:xfrm>
            <a:off x="9252859" y="3453672"/>
            <a:ext cx="217715" cy="1197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5EF9650-8D42-9A8A-F9F2-302EC7142489}"/>
              </a:ext>
            </a:extLst>
          </p:cNvPr>
          <p:cNvSpPr/>
          <p:nvPr/>
        </p:nvSpPr>
        <p:spPr>
          <a:xfrm>
            <a:off x="5099957" y="6558543"/>
            <a:ext cx="217715" cy="1197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32761B-558F-5FAB-9022-C6B0008DE308}"/>
              </a:ext>
            </a:extLst>
          </p:cNvPr>
          <p:cNvSpPr txBox="1"/>
          <p:nvPr/>
        </p:nvSpPr>
        <p:spPr>
          <a:xfrm>
            <a:off x="8846246" y="5062216"/>
            <a:ext cx="29974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[</a:t>
            </a:r>
            <a:r>
              <a:rPr lang="ko-KR" altLang="en-US" dirty="0">
                <a:solidFill>
                  <a:schemeClr val="bg1"/>
                </a:solidFill>
              </a:rPr>
              <a:t>ⓑ</a:t>
            </a:r>
            <a:r>
              <a:rPr lang="en-US" altLang="ko-KR" dirty="0">
                <a:solidFill>
                  <a:schemeClr val="bg1"/>
                </a:solidFill>
              </a:rPr>
              <a:t>. Inverse Phase Index</a:t>
            </a:r>
            <a:r>
              <a:rPr lang="ko-KR" altLang="en-US" dirty="0">
                <a:solidFill>
                  <a:schemeClr val="bg1"/>
                </a:solidFill>
              </a:rPr>
              <a:t>가 있을 경우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이에 해당하는 </a:t>
            </a:r>
            <a:r>
              <a:rPr lang="en-US" altLang="ko-KR" dirty="0">
                <a:solidFill>
                  <a:schemeClr val="bg1"/>
                </a:solidFill>
              </a:rPr>
              <a:t>B-scan </a:t>
            </a:r>
            <a:r>
              <a:rPr lang="ko-KR" altLang="en-US" dirty="0">
                <a:solidFill>
                  <a:schemeClr val="bg1"/>
                </a:solidFill>
              </a:rPr>
              <a:t>부위에 파란색을 </a:t>
            </a:r>
            <a:r>
              <a:rPr lang="en-US" altLang="ko-KR" dirty="0">
                <a:solidFill>
                  <a:schemeClr val="bg1"/>
                </a:solidFill>
              </a:rPr>
              <a:t>Overlay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: Toggle Switch</a:t>
            </a:r>
            <a:r>
              <a:rPr lang="ko-KR" altLang="en-US" dirty="0">
                <a:solidFill>
                  <a:schemeClr val="bg1"/>
                </a:solidFill>
              </a:rPr>
              <a:t>로 적용 유</a:t>
            </a:r>
            <a:r>
              <a:rPr lang="en-US" altLang="ko-KR" dirty="0">
                <a:solidFill>
                  <a:schemeClr val="bg1"/>
                </a:solidFill>
              </a:rPr>
              <a:t>/</a:t>
            </a:r>
            <a:r>
              <a:rPr lang="ko-KR" altLang="en-US" dirty="0">
                <a:solidFill>
                  <a:schemeClr val="bg1"/>
                </a:solidFill>
              </a:rPr>
              <a:t>무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69C6526-F374-9F1A-0D0A-0ABE45075DDF}"/>
              </a:ext>
            </a:extLst>
          </p:cNvPr>
          <p:cNvSpPr/>
          <p:nvPr/>
        </p:nvSpPr>
        <p:spPr>
          <a:xfrm>
            <a:off x="9285519" y="4960250"/>
            <a:ext cx="217715" cy="1197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2AFE7BD-4FD2-985F-3AD4-031709B798FC}"/>
              </a:ext>
            </a:extLst>
          </p:cNvPr>
          <p:cNvCxnSpPr>
            <a:stCxn id="11" idx="0"/>
            <a:endCxn id="21" idx="0"/>
          </p:cNvCxnSpPr>
          <p:nvPr/>
        </p:nvCxnSpPr>
        <p:spPr>
          <a:xfrm>
            <a:off x="9361717" y="3453672"/>
            <a:ext cx="32660" cy="15065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25BFBC86-C7A8-5544-D910-8B416C2A8431}"/>
              </a:ext>
            </a:extLst>
          </p:cNvPr>
          <p:cNvSpPr/>
          <p:nvPr/>
        </p:nvSpPr>
        <p:spPr>
          <a:xfrm>
            <a:off x="9209322" y="6517772"/>
            <a:ext cx="217715" cy="1197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04EC664-D0CB-C9CC-DBFF-731E0CF6246E}"/>
              </a:ext>
            </a:extLst>
          </p:cNvPr>
          <p:cNvCxnSpPr>
            <a:stCxn id="27" idx="3"/>
            <a:endCxn id="13" idx="5"/>
          </p:cNvCxnSpPr>
          <p:nvPr/>
        </p:nvCxnSpPr>
        <p:spPr>
          <a:xfrm flipH="1">
            <a:off x="5285788" y="6619979"/>
            <a:ext cx="3955418" cy="407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2DB6470-13DA-2071-7259-BE54267BBF7A}"/>
              </a:ext>
            </a:extLst>
          </p:cNvPr>
          <p:cNvSpPr txBox="1"/>
          <p:nvPr/>
        </p:nvSpPr>
        <p:spPr>
          <a:xfrm>
            <a:off x="439268" y="113307"/>
            <a:ext cx="3403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</a:t>
            </a:r>
            <a:r>
              <a:rPr lang="ko-KR" altLang="en-US" dirty="0"/>
              <a:t>스캔 만들기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52BCF3-187B-03C2-F468-C7E6A65711DF}"/>
              </a:ext>
            </a:extLst>
          </p:cNvPr>
          <p:cNvSpPr txBox="1"/>
          <p:nvPr/>
        </p:nvSpPr>
        <p:spPr>
          <a:xfrm>
            <a:off x="8411133" y="433049"/>
            <a:ext cx="3403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Inverse Phase </a:t>
            </a:r>
            <a:r>
              <a:rPr lang="ko-KR" altLang="en-US" dirty="0"/>
              <a:t>만들기</a:t>
            </a:r>
          </a:p>
        </p:txBody>
      </p:sp>
    </p:spTree>
    <p:extLst>
      <p:ext uri="{BB962C8B-B14F-4D97-AF65-F5344CB8AC3E}">
        <p14:creationId xmlns:p14="http://schemas.microsoft.com/office/powerpoint/2010/main" val="788091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DAD12E2-61E4-EAD1-9487-964725765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532" y="104775"/>
            <a:ext cx="6810375" cy="66484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3E6A897-FF83-BE3F-18C3-E0E8C7102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0184" y="1834608"/>
            <a:ext cx="7263020" cy="418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14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B8EE143-5CD9-2686-EC38-C5DA9B6099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24" r="12770" b="6072"/>
          <a:stretch>
            <a:fillRect/>
          </a:stretch>
        </p:blipFill>
        <p:spPr>
          <a:xfrm>
            <a:off x="52639" y="0"/>
            <a:ext cx="1296000" cy="466000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E0C2BA2-E1A0-1868-6E2E-F0FE9C570E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94" r="12901" b="6072"/>
          <a:stretch>
            <a:fillRect/>
          </a:stretch>
        </p:blipFill>
        <p:spPr>
          <a:xfrm>
            <a:off x="1411498" y="14652"/>
            <a:ext cx="1296000" cy="46600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67D55C-3A36-2E7E-EDB5-D2D42A213019}"/>
              </a:ext>
            </a:extLst>
          </p:cNvPr>
          <p:cNvSpPr txBox="1"/>
          <p:nvPr/>
        </p:nvSpPr>
        <p:spPr>
          <a:xfrm>
            <a:off x="277106" y="4698831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9.01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8EE63C-F46B-1F0A-6BAF-95F30B1C9BA7}"/>
              </a:ext>
            </a:extLst>
          </p:cNvPr>
          <p:cNvSpPr txBox="1"/>
          <p:nvPr/>
        </p:nvSpPr>
        <p:spPr>
          <a:xfrm>
            <a:off x="1724996" y="4684176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9.76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474C461-F4BB-2D30-986F-A0B21F479E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43" r="13637" b="6072"/>
          <a:stretch>
            <a:fillRect/>
          </a:stretch>
        </p:blipFill>
        <p:spPr>
          <a:xfrm>
            <a:off x="2770357" y="14652"/>
            <a:ext cx="1235072" cy="46746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3F242C0-A9C5-0C96-A276-DE1E249319EE}"/>
              </a:ext>
            </a:extLst>
          </p:cNvPr>
          <p:cNvSpPr txBox="1"/>
          <p:nvPr/>
        </p:nvSpPr>
        <p:spPr>
          <a:xfrm>
            <a:off x="3072365" y="4631465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10.51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4983F47-DC08-A415-06D4-E24674603E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23" r="14156" b="6072"/>
          <a:stretch>
            <a:fillRect/>
          </a:stretch>
        </p:blipFill>
        <p:spPr>
          <a:xfrm>
            <a:off x="4045428" y="5136"/>
            <a:ext cx="1237586" cy="46841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3723366-8BAE-998D-CD8B-C26D870D2195}"/>
              </a:ext>
            </a:extLst>
          </p:cNvPr>
          <p:cNvSpPr txBox="1"/>
          <p:nvPr/>
        </p:nvSpPr>
        <p:spPr>
          <a:xfrm>
            <a:off x="4309047" y="4642632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11.18</a:t>
            </a:r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640ACD3-0BD2-EF5F-6BB8-CE88DF68A3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96" r="13983" b="6072"/>
          <a:stretch>
            <a:fillRect/>
          </a:stretch>
        </p:blipFill>
        <p:spPr>
          <a:xfrm>
            <a:off x="5350028" y="14652"/>
            <a:ext cx="1237586" cy="468417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A99BDA9-5EEB-00C7-7F00-24C6EFCCFE1B}"/>
              </a:ext>
            </a:extLst>
          </p:cNvPr>
          <p:cNvSpPr txBox="1"/>
          <p:nvPr/>
        </p:nvSpPr>
        <p:spPr>
          <a:xfrm>
            <a:off x="5664066" y="4642632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11.93</a:t>
            </a:r>
            <a:endParaRPr lang="ko-KR" altLang="en-US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9FC4C47-59B8-9796-D026-A14B074406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24" r="14156" b="6072"/>
          <a:stretch>
            <a:fillRect/>
          </a:stretch>
        </p:blipFill>
        <p:spPr>
          <a:xfrm>
            <a:off x="6683803" y="-1"/>
            <a:ext cx="1237586" cy="46841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C8D0A19-A244-E8F6-BB9C-A09068792325}"/>
              </a:ext>
            </a:extLst>
          </p:cNvPr>
          <p:cNvSpPr txBox="1"/>
          <p:nvPr/>
        </p:nvSpPr>
        <p:spPr>
          <a:xfrm>
            <a:off x="6958378" y="4676289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12.16</a:t>
            </a:r>
            <a:endParaRPr lang="ko-KR" altLang="en-US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B1C79B9E-3797-05F6-5A41-68B1502BD3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24" r="12944" b="6072"/>
          <a:stretch>
            <a:fillRect/>
          </a:stretch>
        </p:blipFill>
        <p:spPr>
          <a:xfrm>
            <a:off x="7979803" y="14652"/>
            <a:ext cx="1294581" cy="468417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6C9A5395-EAF0-1E24-A8A5-6A2748BA58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51" r="12770" b="6072"/>
          <a:stretch>
            <a:fillRect/>
          </a:stretch>
        </p:blipFill>
        <p:spPr>
          <a:xfrm>
            <a:off x="9332797" y="-1"/>
            <a:ext cx="1314965" cy="4698832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4A3328BE-FBA4-71CE-8E56-B900A9525C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32" r="14822" b="6072"/>
          <a:stretch>
            <a:fillRect/>
          </a:stretch>
        </p:blipFill>
        <p:spPr>
          <a:xfrm>
            <a:off x="10780502" y="-1"/>
            <a:ext cx="1252076" cy="469883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9DA3E49-79C1-42ED-4158-7B99F44A347D}"/>
              </a:ext>
            </a:extLst>
          </p:cNvPr>
          <p:cNvSpPr txBox="1"/>
          <p:nvPr/>
        </p:nvSpPr>
        <p:spPr>
          <a:xfrm>
            <a:off x="8322509" y="4668217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12.91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6A0BF6-BD41-B5BD-D070-34A60A1F42E4}"/>
              </a:ext>
            </a:extLst>
          </p:cNvPr>
          <p:cNvSpPr txBox="1"/>
          <p:nvPr/>
        </p:nvSpPr>
        <p:spPr>
          <a:xfrm>
            <a:off x="9615734" y="4631464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13.51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61500A-711A-AEF3-C764-6276E3D27F94}"/>
              </a:ext>
            </a:extLst>
          </p:cNvPr>
          <p:cNvSpPr txBox="1"/>
          <p:nvPr/>
        </p:nvSpPr>
        <p:spPr>
          <a:xfrm>
            <a:off x="11007698" y="4668217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14.03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9901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AB0ED-BE9E-C6F9-6705-729861DB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4530020-CA86-75F3-F21C-021D5CDE2D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709" r="55626" b="22052"/>
          <a:stretch>
            <a:fillRect/>
          </a:stretch>
        </p:blipFill>
        <p:spPr>
          <a:xfrm>
            <a:off x="0" y="11641"/>
            <a:ext cx="5040000" cy="10894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10E3AC-9BF7-03B9-627E-4745A363B079}"/>
              </a:ext>
            </a:extLst>
          </p:cNvPr>
          <p:cNvSpPr txBox="1"/>
          <p:nvPr/>
        </p:nvSpPr>
        <p:spPr>
          <a:xfrm>
            <a:off x="2189683" y="1063173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47D8-C4FE-18CC-7A25-5D826AAE19F3}"/>
              </a:ext>
            </a:extLst>
          </p:cNvPr>
          <p:cNvSpPr txBox="1"/>
          <p:nvPr/>
        </p:nvSpPr>
        <p:spPr>
          <a:xfrm>
            <a:off x="7781427" y="1041633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1</a:t>
            </a:r>
            <a:r>
              <a:rPr lang="ko-KR" altLang="en-US" dirty="0"/>
              <a:t>000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5C6E034-E92B-DD31-913C-FE1B4C3B71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774" r="55625" b="22635"/>
          <a:stretch>
            <a:fillRect/>
          </a:stretch>
        </p:blipFill>
        <p:spPr>
          <a:xfrm>
            <a:off x="-22052" y="1343558"/>
            <a:ext cx="5040000" cy="10894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1645E-01F0-F296-D3AA-FDC9B7F78F01}"/>
              </a:ext>
            </a:extLst>
          </p:cNvPr>
          <p:cNvSpPr txBox="1"/>
          <p:nvPr/>
        </p:nvSpPr>
        <p:spPr>
          <a:xfrm>
            <a:off x="2138885" y="2365703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2</a:t>
            </a:r>
            <a:r>
              <a:rPr lang="ko-KR" altLang="en-US" dirty="0"/>
              <a:t>000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E75FE8-875F-95CD-B8F0-4D9A5981983E}"/>
              </a:ext>
            </a:extLst>
          </p:cNvPr>
          <p:cNvSpPr txBox="1"/>
          <p:nvPr/>
        </p:nvSpPr>
        <p:spPr>
          <a:xfrm>
            <a:off x="7912256" y="2380022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29</a:t>
            </a:r>
            <a:r>
              <a:rPr lang="ko-KR" altLang="en-US" dirty="0"/>
              <a:t>00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5E33585-635E-9DB5-00AD-6263175F7E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58" t="25344" r="51667" b="22463"/>
          <a:stretch>
            <a:fillRect/>
          </a:stretch>
        </p:blipFill>
        <p:spPr>
          <a:xfrm>
            <a:off x="0" y="2655919"/>
            <a:ext cx="5040000" cy="10894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AE3A45-8776-C1E5-46D3-EAC079A97106}"/>
              </a:ext>
            </a:extLst>
          </p:cNvPr>
          <p:cNvSpPr txBox="1"/>
          <p:nvPr/>
        </p:nvSpPr>
        <p:spPr>
          <a:xfrm>
            <a:off x="2189683" y="3725245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39</a:t>
            </a:r>
            <a:r>
              <a:rPr lang="ko-KR" altLang="en-US" dirty="0"/>
              <a:t>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8A211D-7472-1E88-07FF-FA3170000EC2}"/>
              </a:ext>
            </a:extLst>
          </p:cNvPr>
          <p:cNvSpPr txBox="1"/>
          <p:nvPr/>
        </p:nvSpPr>
        <p:spPr>
          <a:xfrm>
            <a:off x="7912256" y="3738339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42</a:t>
            </a:r>
            <a:r>
              <a:rPr lang="ko-KR" altLang="en-US" dirty="0"/>
              <a:t>00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A429313-FC48-C7AE-E01B-E12B85FCC6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51" t="30324" r="51874" b="19997"/>
          <a:stretch>
            <a:fillRect/>
          </a:stretch>
        </p:blipFill>
        <p:spPr>
          <a:xfrm>
            <a:off x="0" y="4029681"/>
            <a:ext cx="5040000" cy="103234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32DFEA0-8F64-C518-9F7D-8E4F776A805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38" t="26683" r="51771" b="18550"/>
          <a:stretch>
            <a:fillRect/>
          </a:stretch>
        </p:blipFill>
        <p:spPr>
          <a:xfrm>
            <a:off x="-22052" y="5295530"/>
            <a:ext cx="5040000" cy="115086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033DF8E-0721-8B79-0131-CE66F4D2B2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938" t="26709" r="4688" b="22052"/>
          <a:stretch>
            <a:fillRect/>
          </a:stretch>
        </p:blipFill>
        <p:spPr>
          <a:xfrm>
            <a:off x="5711565" y="11641"/>
            <a:ext cx="5040000" cy="108945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E56573F-4E78-7051-D233-2A398939B4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585" t="24774" r="5485" b="22635"/>
          <a:stretch>
            <a:fillRect/>
          </a:stretch>
        </p:blipFill>
        <p:spPr>
          <a:xfrm>
            <a:off x="5704263" y="1367520"/>
            <a:ext cx="5040000" cy="107596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B36E55C-342F-73E3-D7CF-BCE496E3D7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236" t="25344" r="834" b="22463"/>
          <a:stretch>
            <a:fillRect/>
          </a:stretch>
        </p:blipFill>
        <p:spPr>
          <a:xfrm>
            <a:off x="5704263" y="2687772"/>
            <a:ext cx="5040000" cy="107596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FA33621-62C9-EC8C-71B2-9B44B770686A}"/>
              </a:ext>
            </a:extLst>
          </p:cNvPr>
          <p:cNvSpPr txBox="1"/>
          <p:nvPr/>
        </p:nvSpPr>
        <p:spPr>
          <a:xfrm>
            <a:off x="2189683" y="4993729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52</a:t>
            </a:r>
            <a:r>
              <a:rPr lang="ko-KR" altLang="en-US" dirty="0"/>
              <a:t>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A4CDA0-B646-A1DC-0E2E-F4F062FDC815}"/>
              </a:ext>
            </a:extLst>
          </p:cNvPr>
          <p:cNvSpPr txBox="1"/>
          <p:nvPr/>
        </p:nvSpPr>
        <p:spPr>
          <a:xfrm>
            <a:off x="7912256" y="4993728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60</a:t>
            </a:r>
            <a:r>
              <a:rPr lang="ko-KR" altLang="en-US" dirty="0"/>
              <a:t>00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9AFC077-0C4B-E41C-438D-229048D6CA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610" t="30324" r="1459" b="19997"/>
          <a:stretch>
            <a:fillRect/>
          </a:stretch>
        </p:blipFill>
        <p:spPr>
          <a:xfrm>
            <a:off x="5704263" y="4033424"/>
            <a:ext cx="5040000" cy="101956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32EE094-174E-842D-7A75-524003AABD8A}"/>
              </a:ext>
            </a:extLst>
          </p:cNvPr>
          <p:cNvSpPr txBox="1"/>
          <p:nvPr/>
        </p:nvSpPr>
        <p:spPr>
          <a:xfrm>
            <a:off x="2189683" y="6446395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67</a:t>
            </a:r>
            <a:r>
              <a:rPr lang="ko-KR" alt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524535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C3885-C8DD-D83F-0010-F0B39F065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71CAA49-8764-3BEF-3A4E-6B5C899338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709" r="55626" b="22052"/>
          <a:stretch>
            <a:fillRect/>
          </a:stretch>
        </p:blipFill>
        <p:spPr>
          <a:xfrm>
            <a:off x="0" y="11641"/>
            <a:ext cx="5040000" cy="10894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D8F06D-EA9C-ED68-79AE-48FB8B8EEFBD}"/>
              </a:ext>
            </a:extLst>
          </p:cNvPr>
          <p:cNvSpPr txBox="1"/>
          <p:nvPr/>
        </p:nvSpPr>
        <p:spPr>
          <a:xfrm>
            <a:off x="2189683" y="1063173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6518D4-24F4-6140-A40A-FEDD1A828BCA}"/>
              </a:ext>
            </a:extLst>
          </p:cNvPr>
          <p:cNvSpPr txBox="1"/>
          <p:nvPr/>
        </p:nvSpPr>
        <p:spPr>
          <a:xfrm>
            <a:off x="7781427" y="1041633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1</a:t>
            </a:r>
            <a:r>
              <a:rPr lang="ko-KR" altLang="en-US" dirty="0"/>
              <a:t>000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459E7B2-4D00-83F9-E651-10568BC100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774" r="55625" b="22635"/>
          <a:stretch>
            <a:fillRect/>
          </a:stretch>
        </p:blipFill>
        <p:spPr>
          <a:xfrm>
            <a:off x="-22052" y="1343558"/>
            <a:ext cx="5040000" cy="10894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4491427-29FF-7D7B-D6C6-6AA33E015329}"/>
              </a:ext>
            </a:extLst>
          </p:cNvPr>
          <p:cNvSpPr txBox="1"/>
          <p:nvPr/>
        </p:nvSpPr>
        <p:spPr>
          <a:xfrm>
            <a:off x="2138885" y="2365703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2</a:t>
            </a:r>
            <a:r>
              <a:rPr lang="ko-KR" altLang="en-US" dirty="0"/>
              <a:t>000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92FC7-6D47-C2AF-7D72-83A41EF61898}"/>
              </a:ext>
            </a:extLst>
          </p:cNvPr>
          <p:cNvSpPr txBox="1"/>
          <p:nvPr/>
        </p:nvSpPr>
        <p:spPr>
          <a:xfrm>
            <a:off x="7912256" y="2380022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29</a:t>
            </a:r>
            <a:r>
              <a:rPr lang="ko-KR" altLang="en-US" dirty="0"/>
              <a:t>00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EAF1E54-E6B4-68C5-F14A-B38C8D8387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58" t="25344" r="51667" b="22463"/>
          <a:stretch>
            <a:fillRect/>
          </a:stretch>
        </p:blipFill>
        <p:spPr>
          <a:xfrm>
            <a:off x="0" y="2655919"/>
            <a:ext cx="5040000" cy="10894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908916-00D4-916F-CEC3-FE721AC53F35}"/>
              </a:ext>
            </a:extLst>
          </p:cNvPr>
          <p:cNvSpPr txBox="1"/>
          <p:nvPr/>
        </p:nvSpPr>
        <p:spPr>
          <a:xfrm>
            <a:off x="2189683" y="3725245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39</a:t>
            </a:r>
            <a:r>
              <a:rPr lang="ko-KR" altLang="en-US" dirty="0"/>
              <a:t>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68343A-EDAE-B3FE-3A84-B8636CBED756}"/>
              </a:ext>
            </a:extLst>
          </p:cNvPr>
          <p:cNvSpPr txBox="1"/>
          <p:nvPr/>
        </p:nvSpPr>
        <p:spPr>
          <a:xfrm>
            <a:off x="7912256" y="3738339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42</a:t>
            </a:r>
            <a:r>
              <a:rPr lang="ko-KR" altLang="en-US" dirty="0"/>
              <a:t>00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493DA8A-3ED2-CFFC-E711-B29EAA7A36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51" t="30324" r="51874" b="19997"/>
          <a:stretch>
            <a:fillRect/>
          </a:stretch>
        </p:blipFill>
        <p:spPr>
          <a:xfrm>
            <a:off x="0" y="4029681"/>
            <a:ext cx="5040000" cy="103234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5B6E9E9-B91A-50F9-7FFD-34BC02E61BE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38" t="26683" r="51771" b="18550"/>
          <a:stretch>
            <a:fillRect/>
          </a:stretch>
        </p:blipFill>
        <p:spPr>
          <a:xfrm>
            <a:off x="-22052" y="5295530"/>
            <a:ext cx="5040000" cy="115086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74383AB-4D43-28FB-45CF-53965C7AFC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938" t="26709" r="4688" b="22052"/>
          <a:stretch>
            <a:fillRect/>
          </a:stretch>
        </p:blipFill>
        <p:spPr>
          <a:xfrm>
            <a:off x="5711565" y="11641"/>
            <a:ext cx="5040000" cy="108945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26AF591-46BE-9B36-E036-6C5994C2B1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585" t="24774" r="5485" b="22635"/>
          <a:stretch>
            <a:fillRect/>
          </a:stretch>
        </p:blipFill>
        <p:spPr>
          <a:xfrm>
            <a:off x="5704263" y="1367520"/>
            <a:ext cx="5040000" cy="107596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3BAFEFB-7457-3F0B-B158-4645EE5247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236" t="25344" r="834" b="22463"/>
          <a:stretch>
            <a:fillRect/>
          </a:stretch>
        </p:blipFill>
        <p:spPr>
          <a:xfrm>
            <a:off x="5704263" y="2687772"/>
            <a:ext cx="5040000" cy="107596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72B8727-382E-8A17-6689-48AF7EDE4DCD}"/>
              </a:ext>
            </a:extLst>
          </p:cNvPr>
          <p:cNvSpPr txBox="1"/>
          <p:nvPr/>
        </p:nvSpPr>
        <p:spPr>
          <a:xfrm>
            <a:off x="2189683" y="4993729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52</a:t>
            </a:r>
            <a:r>
              <a:rPr lang="ko-KR" altLang="en-US" dirty="0"/>
              <a:t>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A3D711-8834-CD6A-FBEC-31188433BACF}"/>
              </a:ext>
            </a:extLst>
          </p:cNvPr>
          <p:cNvSpPr txBox="1"/>
          <p:nvPr/>
        </p:nvSpPr>
        <p:spPr>
          <a:xfrm>
            <a:off x="7912256" y="4993728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60</a:t>
            </a:r>
            <a:r>
              <a:rPr lang="ko-KR" altLang="en-US" dirty="0"/>
              <a:t>00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F8075DD6-D6EC-05A2-CC91-7960B8647A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610" t="30324" r="1459" b="19997"/>
          <a:stretch>
            <a:fillRect/>
          </a:stretch>
        </p:blipFill>
        <p:spPr>
          <a:xfrm>
            <a:off x="5704263" y="4033424"/>
            <a:ext cx="5040000" cy="101956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01F5496-60FA-7726-4755-F21F7E4ACEA1}"/>
              </a:ext>
            </a:extLst>
          </p:cNvPr>
          <p:cNvSpPr txBox="1"/>
          <p:nvPr/>
        </p:nvSpPr>
        <p:spPr>
          <a:xfrm>
            <a:off x="2189683" y="6446395"/>
            <a:ext cx="1088571" cy="38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3</a:t>
            </a:r>
            <a:r>
              <a:rPr lang="en-US" altLang="ko-KR" dirty="0"/>
              <a:t>67</a:t>
            </a:r>
            <a:r>
              <a:rPr lang="ko-KR" alt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587290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2F03F4C-5864-738F-3349-766F215CA2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2669"/>
          <a:stretch>
            <a:fillRect/>
          </a:stretch>
        </p:blipFill>
        <p:spPr>
          <a:xfrm>
            <a:off x="0" y="285750"/>
            <a:ext cx="12192000" cy="6667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2F083C1-03A5-2CD3-2BA9-01AFCEBA0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4" y="2334193"/>
            <a:ext cx="6286500" cy="30480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5D0C20-9DCF-BC78-C8E9-66DC556FEB8A}"/>
              </a:ext>
            </a:extLst>
          </p:cNvPr>
          <p:cNvSpPr/>
          <p:nvPr/>
        </p:nvSpPr>
        <p:spPr>
          <a:xfrm>
            <a:off x="34925" y="952500"/>
            <a:ext cx="12122150" cy="99136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ABA9EAD-FC92-0087-6B53-DFB495F65FE4}"/>
              </a:ext>
            </a:extLst>
          </p:cNvPr>
          <p:cNvSpPr/>
          <p:nvPr/>
        </p:nvSpPr>
        <p:spPr>
          <a:xfrm>
            <a:off x="250824" y="1011690"/>
            <a:ext cx="1454150" cy="4204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Open Image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E610587-D8C5-4A0E-F744-FFC0079550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70" t="7374" r="74969" b="88235"/>
          <a:stretch>
            <a:fillRect/>
          </a:stretch>
        </p:blipFill>
        <p:spPr>
          <a:xfrm>
            <a:off x="1920873" y="1018381"/>
            <a:ext cx="2908301" cy="42046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C11CE93-5879-3145-E961-3318ADF05B0E}"/>
              </a:ext>
            </a:extLst>
          </p:cNvPr>
          <p:cNvSpPr/>
          <p:nvPr/>
        </p:nvSpPr>
        <p:spPr>
          <a:xfrm>
            <a:off x="3216274" y="1078026"/>
            <a:ext cx="1435100" cy="3011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6"/>
                </a:solidFill>
              </a:rPr>
              <a:t>jpg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A156DFC-221C-84E7-B561-E2A834FBF9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04" t="7778" r="61563" b="88445"/>
          <a:stretch>
            <a:fillRect/>
          </a:stretch>
        </p:blipFill>
        <p:spPr>
          <a:xfrm>
            <a:off x="5045073" y="1067366"/>
            <a:ext cx="2134855" cy="31183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0735C25-1F26-AE3F-AB0E-CCD920214A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04" t="7778" r="61563" b="88445"/>
          <a:stretch>
            <a:fillRect/>
          </a:stretch>
        </p:blipFill>
        <p:spPr>
          <a:xfrm>
            <a:off x="7038973" y="1097641"/>
            <a:ext cx="2134855" cy="31183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18578DC-818F-3B5E-E164-95675976FD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04" t="7778" r="61563" b="88445"/>
          <a:stretch>
            <a:fillRect/>
          </a:stretch>
        </p:blipFill>
        <p:spPr>
          <a:xfrm>
            <a:off x="5045073" y="1475807"/>
            <a:ext cx="2134855" cy="31183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1778C6A-9507-F231-9D82-288F32C5FD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04" t="7778" r="61563" b="88445"/>
          <a:stretch>
            <a:fillRect/>
          </a:stretch>
        </p:blipFill>
        <p:spPr>
          <a:xfrm>
            <a:off x="7038973" y="1475807"/>
            <a:ext cx="2134855" cy="31183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362C82A-57EF-1804-CA1A-DCE7E391ABAF}"/>
              </a:ext>
            </a:extLst>
          </p:cNvPr>
          <p:cNvSpPr txBox="1"/>
          <p:nvPr/>
        </p:nvSpPr>
        <p:spPr>
          <a:xfrm>
            <a:off x="5045073" y="1097641"/>
            <a:ext cx="9017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Start X</a:t>
            </a:r>
            <a:endParaRPr lang="ko-KR" alt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86FB6F-2B27-A1C5-5FEC-A88A3F61295A}"/>
              </a:ext>
            </a:extLst>
          </p:cNvPr>
          <p:cNvSpPr txBox="1"/>
          <p:nvPr/>
        </p:nvSpPr>
        <p:spPr>
          <a:xfrm>
            <a:off x="7038973" y="1106475"/>
            <a:ext cx="9017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Start Y</a:t>
            </a:r>
            <a:endParaRPr lang="ko-KR" alt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DE0ACF-FC78-EEC3-C13F-287D11887D69}"/>
              </a:ext>
            </a:extLst>
          </p:cNvPr>
          <p:cNvSpPr txBox="1"/>
          <p:nvPr/>
        </p:nvSpPr>
        <p:spPr>
          <a:xfrm>
            <a:off x="5045073" y="1438842"/>
            <a:ext cx="9017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X Leng</a:t>
            </a:r>
            <a:endParaRPr lang="ko-KR" alt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3F10C1-CB6E-8957-1696-6B4D14AE3418}"/>
              </a:ext>
            </a:extLst>
          </p:cNvPr>
          <p:cNvSpPr txBox="1"/>
          <p:nvPr/>
        </p:nvSpPr>
        <p:spPr>
          <a:xfrm>
            <a:off x="6987547" y="1476343"/>
            <a:ext cx="9017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Y Leng</a:t>
            </a:r>
            <a:endParaRPr lang="ko-KR" altLang="en-US" sz="16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34B1C04-C6C7-EF8E-4093-6D84956763B4}"/>
              </a:ext>
            </a:extLst>
          </p:cNvPr>
          <p:cNvSpPr/>
          <p:nvPr/>
        </p:nvSpPr>
        <p:spPr>
          <a:xfrm>
            <a:off x="10591803" y="1010773"/>
            <a:ext cx="1454150" cy="4204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STD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A28444E-E9E2-16E4-437F-362959C77D42}"/>
              </a:ext>
            </a:extLst>
          </p:cNvPr>
          <p:cNvSpPr/>
          <p:nvPr/>
        </p:nvSpPr>
        <p:spPr>
          <a:xfrm>
            <a:off x="10591803" y="1482635"/>
            <a:ext cx="1454150" cy="4204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Grey Distribution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F9B5E6E-9469-6B21-2A3A-A0C5495F0872}"/>
              </a:ext>
            </a:extLst>
          </p:cNvPr>
          <p:cNvSpPr/>
          <p:nvPr/>
        </p:nvSpPr>
        <p:spPr>
          <a:xfrm>
            <a:off x="977899" y="2717800"/>
            <a:ext cx="635001" cy="5969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FC4929E-1398-24E1-332B-EFB79AC32887}"/>
              </a:ext>
            </a:extLst>
          </p:cNvPr>
          <p:cNvSpPr/>
          <p:nvPr/>
        </p:nvSpPr>
        <p:spPr>
          <a:xfrm>
            <a:off x="8959853" y="982775"/>
            <a:ext cx="1454150" cy="4204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ROI SET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C5735CB6-106A-678E-D3F9-76D038136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914" y="2490417"/>
            <a:ext cx="4983161" cy="378302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3A2CE93-9F3F-1EE5-56DE-BE055825987A}"/>
              </a:ext>
            </a:extLst>
          </p:cNvPr>
          <p:cNvSpPr txBox="1"/>
          <p:nvPr/>
        </p:nvSpPr>
        <p:spPr>
          <a:xfrm>
            <a:off x="7179928" y="6387584"/>
            <a:ext cx="1765300" cy="369332"/>
          </a:xfrm>
          <a:prstGeom prst="rect">
            <a:avLst/>
          </a:prstGeom>
          <a:solidFill>
            <a:srgbClr val="FFC00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STD = 3.56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628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7D321C-6EB1-DA72-0265-A0A90AAF02E0}"/>
              </a:ext>
            </a:extLst>
          </p:cNvPr>
          <p:cNvSpPr txBox="1"/>
          <p:nvPr/>
        </p:nvSpPr>
        <p:spPr>
          <a:xfrm>
            <a:off x="76200" y="152400"/>
            <a:ext cx="13095515" cy="614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lnSpc>
                <a:spcPct val="170000"/>
              </a:lnSpc>
              <a:buNone/>
            </a:pPr>
            <a:r>
              <a:rPr lang="ko-KR" altLang="ko-KR" sz="1800" b="1" i="0" spc="0" dirty="0">
                <a:solidFill>
                  <a:srgbClr val="000000"/>
                </a:solidFill>
                <a:effectLst/>
                <a:latin typeface="바탕체,한컴돋움"/>
              </a:rPr>
              <a:t>제 2 장 전력반도체 음파 특성 및 기존 기술 분석·· 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·········</a:t>
            </a:r>
            <a:r>
              <a:rPr lang="ko-KR" altLang="ko-KR" sz="1800" b="1" i="0" spc="0" dirty="0">
                <a:solidFill>
                  <a:srgbClr val="000000"/>
                </a:solidFill>
                <a:effectLst/>
                <a:latin typeface="바탕체,한컴돋움"/>
              </a:rPr>
              <a:t>····· 5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1 절 전력반도체 음파 특성 분석·················· 5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2 절 기존 기술 한계 및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B스캔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,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Inverse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Phase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 제안······ ··· 8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1" i="0" spc="0" dirty="0">
                <a:solidFill>
                  <a:srgbClr val="000000"/>
                </a:solidFill>
                <a:effectLst/>
                <a:latin typeface="바탕체,한컴돋움"/>
              </a:rPr>
              <a:t>제 3 장 </a:t>
            </a:r>
            <a:r>
              <a:rPr lang="ko-KR" altLang="ko-KR" sz="1800" b="1" i="0" spc="0" dirty="0" err="1">
                <a:solidFill>
                  <a:srgbClr val="000000"/>
                </a:solidFill>
                <a:effectLst/>
                <a:latin typeface="바탕체,한컴돋움"/>
              </a:rPr>
              <a:t>B스캔</a:t>
            </a:r>
            <a:r>
              <a:rPr lang="ko-KR" altLang="ko-KR" sz="1800" b="1" i="0" spc="0" dirty="0">
                <a:solidFill>
                  <a:srgbClr val="000000"/>
                </a:solidFill>
                <a:effectLst/>
                <a:latin typeface="바탕체,한컴돋움"/>
              </a:rPr>
              <a:t> 및 </a:t>
            </a:r>
            <a:r>
              <a:rPr lang="ko-KR" altLang="ko-KR" sz="1800" b="1" i="0" spc="0" dirty="0" err="1">
                <a:solidFill>
                  <a:srgbClr val="000000"/>
                </a:solidFill>
                <a:effectLst/>
                <a:latin typeface="바탕체,한컴돋움"/>
              </a:rPr>
              <a:t>Phase</a:t>
            </a:r>
            <a:r>
              <a:rPr lang="ko-KR" altLang="ko-KR" sz="1800" b="1" i="0" spc="0" dirty="0">
                <a:solidFill>
                  <a:srgbClr val="000000"/>
                </a:solidFill>
                <a:effectLst/>
                <a:latin typeface="바탕체,한컴돋움"/>
              </a:rPr>
              <a:t> </a:t>
            </a:r>
            <a:r>
              <a:rPr lang="ko-KR" altLang="ko-KR" sz="1800" b="1" i="0" spc="0" dirty="0" err="1">
                <a:solidFill>
                  <a:srgbClr val="000000"/>
                </a:solidFill>
                <a:effectLst/>
                <a:latin typeface="바탕체,한컴돋움"/>
              </a:rPr>
              <a:t>Inverse</a:t>
            </a:r>
            <a:r>
              <a:rPr lang="ko-KR" altLang="ko-KR" sz="1800" b="1" i="0" spc="0" dirty="0">
                <a:solidFill>
                  <a:srgbClr val="000000"/>
                </a:solidFill>
                <a:effectLst/>
                <a:latin typeface="바탕체,한컴돋움"/>
              </a:rPr>
              <a:t> 모델링·········· 11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1 절 프레임워크 개요················ 11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2 절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B스캔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 원리··········· 13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3 절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Inverse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Phase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 원리·········· 19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4 절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B스캔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 및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Inverse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 </a:t>
            </a:r>
            <a:r>
              <a:rPr lang="ko-KR" altLang="ko-KR" sz="1800" b="0" i="0" spc="0" dirty="0" err="1">
                <a:solidFill>
                  <a:srgbClr val="000000"/>
                </a:solidFill>
                <a:effectLst/>
                <a:latin typeface="바탕체,한컴돋움"/>
              </a:rPr>
              <a:t>Phase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 구성········· 22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1" i="0" spc="0" dirty="0">
                <a:solidFill>
                  <a:srgbClr val="000000"/>
                </a:solidFill>
                <a:effectLst/>
                <a:latin typeface="바탕체,한컴돋움"/>
              </a:rPr>
              <a:t>제 4 장 실험 및 고찰·················· 37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1 절 실험 환경 설정············ 37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2 절 결과 및 레이어 추정 분석··········· 41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함초롬바탕"/>
              </a:rPr>
              <a:t>        </a:t>
            </a:r>
            <a:r>
              <a:rPr lang="ko-KR" altLang="ko-KR" sz="1800" b="0" i="0" spc="0" dirty="0">
                <a:solidFill>
                  <a:srgbClr val="000000"/>
                </a:solidFill>
                <a:effectLst/>
                <a:latin typeface="바탕체,한컴돋움"/>
              </a:rPr>
              <a:t>제 3 절 최적 WD 도출··········· 41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  <a:p>
            <a:pPr indent="0" algn="just">
              <a:lnSpc>
                <a:spcPct val="170000"/>
              </a:lnSpc>
              <a:buNone/>
            </a:pPr>
            <a:r>
              <a:rPr lang="ko-KR" altLang="ko-KR" sz="1800" b="1" i="0" spc="0" dirty="0">
                <a:solidFill>
                  <a:srgbClr val="000000"/>
                </a:solidFill>
                <a:effectLst/>
                <a:latin typeface="바탕체,한컴돋움"/>
              </a:rPr>
              <a:t>제 5 장 결 론··········· 47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1595580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3ABCE1B-6B6A-A138-FF0F-A681D2620093}"/>
              </a:ext>
            </a:extLst>
          </p:cNvPr>
          <p:cNvSpPr/>
          <p:nvPr/>
        </p:nvSpPr>
        <p:spPr>
          <a:xfrm>
            <a:off x="1284514" y="4408714"/>
            <a:ext cx="9688286" cy="1556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40096D53-7D25-3A32-9937-99B53CBC6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29"/>
            <a:ext cx="12192000" cy="398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74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FACC8C3-7732-CBB3-7CCA-6E98895C2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429"/>
            <a:ext cx="12192000" cy="3989941"/>
          </a:xfrm>
          <a:prstGeom prst="rect">
            <a:avLst/>
          </a:prstGeom>
        </p:spPr>
      </p:pic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3807E5FE-4FB6-E935-9161-6FE5C1AC0AAA}"/>
              </a:ext>
            </a:extLst>
          </p:cNvPr>
          <p:cNvSpPr/>
          <p:nvPr/>
        </p:nvSpPr>
        <p:spPr>
          <a:xfrm rot="10800000">
            <a:off x="4910667" y="4106333"/>
            <a:ext cx="1591733" cy="1041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52AFAC-2315-9317-6D3B-D17542F07289}"/>
              </a:ext>
            </a:extLst>
          </p:cNvPr>
          <p:cNvSpPr txBox="1"/>
          <p:nvPr/>
        </p:nvSpPr>
        <p:spPr>
          <a:xfrm>
            <a:off x="6581018" y="4501403"/>
            <a:ext cx="795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음파 진행</a:t>
            </a:r>
          </a:p>
        </p:txBody>
      </p:sp>
    </p:spTree>
    <p:extLst>
      <p:ext uri="{BB962C8B-B14F-4D97-AF65-F5344CB8AC3E}">
        <p14:creationId xmlns:p14="http://schemas.microsoft.com/office/powerpoint/2010/main" val="306474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in graphic">
            <a:extLst>
              <a:ext uri="{FF2B5EF4-FFF2-40B4-BE49-F238E27FC236}">
                <a16:creationId xmlns:a16="http://schemas.microsoft.com/office/drawing/2014/main" id="{31E6868F-AE2D-B4E2-1B22-466B83C6943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91994" y="479032"/>
            <a:ext cx="5335920" cy="3809880"/>
          </a:xfrm>
          <a:prstGeom prst="rect">
            <a:avLst/>
          </a:prstGeom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A70B09-DB35-90B6-3486-3D822B3DAB64}"/>
              </a:ext>
            </a:extLst>
          </p:cNvPr>
          <p:cNvSpPr txBox="1"/>
          <p:nvPr/>
        </p:nvSpPr>
        <p:spPr>
          <a:xfrm>
            <a:off x="1970314" y="4849517"/>
            <a:ext cx="9220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T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Reiter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J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Schapdick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M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Krug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M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Muenzer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, and 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F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Wolter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, “ PWM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Dead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Times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in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Automotive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Traction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Inverters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using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IGBT,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SiC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MOSFET,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or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Si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/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SiC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Fusion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Switch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Power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Modules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.” </a:t>
            </a:r>
            <a:r>
              <a:rPr lang="ko-KR" altLang="ko-KR" sz="1800" b="0" i="1" dirty="0">
                <a:solidFill>
                  <a:schemeClr val="tx1"/>
                </a:solidFill>
                <a:effectLst/>
                <a:latin typeface="+mn-lt"/>
              </a:rPr>
              <a:t>IET Power Electronics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 19, </a:t>
            </a:r>
            <a:r>
              <a:rPr lang="ko-KR" altLang="ko-KR" sz="1800" b="0" i="0" dirty="0" err="1">
                <a:solidFill>
                  <a:schemeClr val="tx1"/>
                </a:solidFill>
                <a:effectLst/>
                <a:latin typeface="+mn-lt"/>
              </a:rPr>
              <a:t>no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. 1 (2026): e70185. </a:t>
            </a:r>
            <a:r>
              <a:rPr lang="ko-KR" altLang="ko-KR" sz="1800" b="0" i="0" u="none" strike="noStrike" dirty="0">
                <a:solidFill>
                  <a:schemeClr val="tx1"/>
                </a:solidFill>
                <a:effectLst/>
                <a:latin typeface="+mn-lt"/>
                <a:hlinkClick r:id="rId4"/>
              </a:rPr>
              <a:t>https://doi.org/10.1049/pel2.70185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38091CA-97E9-A082-395B-2123CF23C2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514" y="213170"/>
            <a:ext cx="6411686" cy="296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581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74C3A8D-F6E4-B034-8DBF-49F5DF2EB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566737"/>
            <a:ext cx="9753600" cy="57245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A416EAB-CFB1-3C1D-A6F0-D62F72BFF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639" y="5263243"/>
            <a:ext cx="438150" cy="266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47F416-6D48-783C-8505-1A13D51A2A4D}"/>
              </a:ext>
            </a:extLst>
          </p:cNvPr>
          <p:cNvSpPr txBox="1"/>
          <p:nvPr/>
        </p:nvSpPr>
        <p:spPr>
          <a:xfrm>
            <a:off x="478971" y="62912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>
                <a:hlinkClick r:id="rId4"/>
              </a:rPr>
              <a:t>초음파 검사의 </a:t>
            </a:r>
            <a:r>
              <a:rPr lang="ko-KR" altLang="ko-KR" dirty="0" err="1">
                <a:hlinkClick r:id="rId4"/>
              </a:rPr>
              <a:t>A-Scan</a:t>
            </a:r>
            <a:r>
              <a:rPr lang="ko-KR" altLang="ko-KR" dirty="0">
                <a:hlinkClick r:id="rId4"/>
              </a:rPr>
              <a:t>: 판독 방법, 표시 내용 및 사용 시기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2896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46DD3C24-C8D0-46E0-6447-76CF62CBFA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644" t="4718" r="16331" b="13072"/>
          <a:stretch>
            <a:fillRect/>
          </a:stretch>
        </p:blipFill>
        <p:spPr>
          <a:xfrm>
            <a:off x="1177582" y="2236969"/>
            <a:ext cx="1222168" cy="10286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CC34F1F5-C7E2-F829-CB68-ED01A157D1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644" t="4718" r="16331" b="13072"/>
          <a:stretch>
            <a:fillRect/>
          </a:stretch>
        </p:blipFill>
        <p:spPr>
          <a:xfrm>
            <a:off x="1025182" y="2084569"/>
            <a:ext cx="1222168" cy="10286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150CF6D-3DA0-7FD6-7FDF-DCF9EF0B54D4}"/>
              </a:ext>
            </a:extLst>
          </p:cNvPr>
          <p:cNvSpPr/>
          <p:nvPr/>
        </p:nvSpPr>
        <p:spPr>
          <a:xfrm>
            <a:off x="786300" y="488351"/>
            <a:ext cx="10440503" cy="5785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7E842C7-F543-1E5F-4EE6-2C573692AD99}"/>
              </a:ext>
            </a:extLst>
          </p:cNvPr>
          <p:cNvCxnSpPr>
            <a:cxnSpLocks/>
          </p:cNvCxnSpPr>
          <p:nvPr/>
        </p:nvCxnSpPr>
        <p:spPr>
          <a:xfrm>
            <a:off x="2664887" y="562190"/>
            <a:ext cx="0" cy="43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86FAB1D-5E95-7E9F-1974-0DD0777E5C8F}"/>
              </a:ext>
            </a:extLst>
          </p:cNvPr>
          <p:cNvSpPr txBox="1"/>
          <p:nvPr/>
        </p:nvSpPr>
        <p:spPr>
          <a:xfrm>
            <a:off x="1045087" y="567658"/>
            <a:ext cx="1354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바탕체" panose="02030609000101010101" pitchFamily="17" charset="-127"/>
                <a:ea typeface="바탕체" panose="02030609000101010101" pitchFamily="17" charset="-127"/>
              </a:rPr>
              <a:t>Input Data</a:t>
            </a:r>
            <a:endParaRPr lang="ko-KR" altLang="en-US" b="1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29B4BB-E678-25A4-8B83-3F038DB0BC60}"/>
              </a:ext>
            </a:extLst>
          </p:cNvPr>
          <p:cNvSpPr txBox="1"/>
          <p:nvPr/>
        </p:nvSpPr>
        <p:spPr>
          <a:xfrm>
            <a:off x="4614337" y="567658"/>
            <a:ext cx="296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latin typeface="바탕체" panose="02030609000101010101" pitchFamily="17" charset="-127"/>
                <a:ea typeface="바탕체" panose="02030609000101010101" pitchFamily="17" charset="-127"/>
              </a:rPr>
              <a:t>신호 처리 및 경로 분리</a:t>
            </a:r>
            <a:endParaRPr lang="ko-KR" altLang="en-US" b="1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728A20-5BF9-6121-E953-48ABEF1089B1}"/>
              </a:ext>
            </a:extLst>
          </p:cNvPr>
          <p:cNvSpPr txBox="1"/>
          <p:nvPr/>
        </p:nvSpPr>
        <p:spPr>
          <a:xfrm>
            <a:off x="9745137" y="567658"/>
            <a:ext cx="296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바탕체" panose="02030609000101010101" pitchFamily="17" charset="-127"/>
                <a:ea typeface="바탕체" panose="02030609000101010101" pitchFamily="17" charset="-127"/>
              </a:rPr>
              <a:t>Output</a:t>
            </a:r>
            <a:endParaRPr lang="ko-KR" altLang="en-US" b="1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87C71757-B8BE-DB7D-65E5-042B9B73F9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644" t="4718" r="16331" b="13072"/>
          <a:stretch>
            <a:fillRect/>
          </a:stretch>
        </p:blipFill>
        <p:spPr>
          <a:xfrm>
            <a:off x="872782" y="1932169"/>
            <a:ext cx="1222168" cy="10286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BF63937-ADD6-0484-0E1A-167D49556606}"/>
              </a:ext>
            </a:extLst>
          </p:cNvPr>
          <p:cNvSpPr txBox="1"/>
          <p:nvPr/>
        </p:nvSpPr>
        <p:spPr>
          <a:xfrm>
            <a:off x="810945" y="3546230"/>
            <a:ext cx="1937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바탕체" panose="02030609000101010101" pitchFamily="17" charset="-127"/>
                <a:ea typeface="바탕체" panose="02030609000101010101" pitchFamily="17" charset="-127"/>
              </a:rPr>
              <a:t>A-Scan 1D Data</a:t>
            </a:r>
          </a:p>
          <a:p>
            <a:r>
              <a:rPr lang="en-US" altLang="ko-KR" sz="1600" dirty="0">
                <a:latin typeface="바탕체" panose="02030609000101010101" pitchFamily="17" charset="-127"/>
                <a:ea typeface="바탕체" panose="02030609000101010101" pitchFamily="17" charset="-127"/>
              </a:rPr>
              <a:t>* Row Array</a:t>
            </a:r>
            <a:endParaRPr lang="ko-KR" altLang="en-US" sz="1600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0E77A1-6277-B22E-E389-4100DB8D4E7A}"/>
              </a:ext>
            </a:extLst>
          </p:cNvPr>
          <p:cNvSpPr/>
          <p:nvPr/>
        </p:nvSpPr>
        <p:spPr>
          <a:xfrm>
            <a:off x="2726222" y="1146221"/>
            <a:ext cx="5144395" cy="358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1. </a:t>
            </a:r>
            <a:r>
              <a:rPr lang="en-US" altLang="ko-KR" sz="1200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BandPass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Filter</a:t>
            </a:r>
            <a:endParaRPr lang="ko-KR" altLang="en-US" sz="1200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0F4C51A-0F9C-F17B-2FF6-291ADFCB1F75}"/>
              </a:ext>
            </a:extLst>
          </p:cNvPr>
          <p:cNvSpPr/>
          <p:nvPr/>
        </p:nvSpPr>
        <p:spPr>
          <a:xfrm>
            <a:off x="2726222" y="1642253"/>
            <a:ext cx="6157156" cy="358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2. </a:t>
            </a:r>
            <a:r>
              <a:rPr lang="en-US" altLang="ko-KR" sz="1200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Alignent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&amp; ROI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잘라내기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: Align Index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기준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2D Matrix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생성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9A2C4DE-3150-2D6A-5DD9-2B41133C1A9C}"/>
              </a:ext>
            </a:extLst>
          </p:cNvPr>
          <p:cNvSpPr/>
          <p:nvPr/>
        </p:nvSpPr>
        <p:spPr>
          <a:xfrm>
            <a:off x="2717756" y="2146136"/>
            <a:ext cx="6157156" cy="358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3. T.G.C (Time Gain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보상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적용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깊이 감쇄에 따른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보상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E7AD8DB-BDB4-8F64-704C-8BAF98214E26}"/>
              </a:ext>
            </a:extLst>
          </p:cNvPr>
          <p:cNvSpPr/>
          <p:nvPr/>
        </p:nvSpPr>
        <p:spPr>
          <a:xfrm>
            <a:off x="2700822" y="2650547"/>
            <a:ext cx="6157156" cy="358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4. Envelope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추출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힐베르트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변환 기반 양의 진폭 추출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FD64C44-B9EC-4A3D-18BC-234ED395FEC0}"/>
              </a:ext>
            </a:extLst>
          </p:cNvPr>
          <p:cNvSpPr/>
          <p:nvPr/>
        </p:nvSpPr>
        <p:spPr>
          <a:xfrm>
            <a:off x="2700822" y="3154814"/>
            <a:ext cx="6157156" cy="358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5. Log Compression :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어두운 신호를 밝게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밝은 신호를 조금 어둡게 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02960B3-0B92-B0C8-532B-CB4687E78760}"/>
              </a:ext>
            </a:extLst>
          </p:cNvPr>
          <p:cNvSpPr/>
          <p:nvPr/>
        </p:nvSpPr>
        <p:spPr>
          <a:xfrm>
            <a:off x="2700822" y="3666335"/>
            <a:ext cx="6157156" cy="4499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6. Min-Max Clipping &amp; </a:t>
            </a:r>
            <a:r>
              <a:rPr lang="en-US" altLang="ko-KR" sz="1200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Normaliziation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: 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  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사용자 지정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[Min, Max]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범위 밖 잘라내기 후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[0, 1]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스케일링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C57B0DD-1E06-D0F7-0FD2-D7F37835D953}"/>
              </a:ext>
            </a:extLst>
          </p:cNvPr>
          <p:cNvSpPr/>
          <p:nvPr/>
        </p:nvSpPr>
        <p:spPr>
          <a:xfrm>
            <a:off x="2726222" y="4257841"/>
            <a:ext cx="6157156" cy="358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7. 8-bit Quantization : 0-255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영상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8bit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화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6D129E8-72B9-36AA-7C3D-C79DEB9E35A8}"/>
              </a:ext>
            </a:extLst>
          </p:cNvPr>
          <p:cNvSpPr/>
          <p:nvPr/>
        </p:nvSpPr>
        <p:spPr>
          <a:xfrm>
            <a:off x="2717756" y="4762254"/>
            <a:ext cx="6157156" cy="4779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3. Inverse Phase Index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추출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:  Align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Index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로부터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ROI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범위 안에서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Search. Ref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기준 파형과 정 반대 모양이 있을 경우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Return</a:t>
            </a:r>
            <a:endParaRPr lang="ko-KR" altLang="en-US" sz="1200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257BB24-602C-12A2-BEEC-CFD4547E49A7}"/>
              </a:ext>
            </a:extLst>
          </p:cNvPr>
          <p:cNvSpPr/>
          <p:nvPr/>
        </p:nvSpPr>
        <p:spPr>
          <a:xfrm>
            <a:off x="2700822" y="5391137"/>
            <a:ext cx="6157156" cy="4779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7. Inverse Phase Index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가 있을 경우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이에 해당하는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B-scan 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해당 부위에 파란색을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Overlay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: Toggle Switch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로 적용 유</a:t>
            </a:r>
            <a:r>
              <a:rPr lang="en-US" altLang="ko-KR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A8DEA5-E57A-873D-81FD-90BE9E460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32" r="14822" b="6072"/>
          <a:stretch>
            <a:fillRect/>
          </a:stretch>
        </p:blipFill>
        <p:spPr>
          <a:xfrm>
            <a:off x="9336851" y="1419828"/>
            <a:ext cx="872162" cy="327307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8457BDC-013F-A7B4-2F69-B1D6043EAB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32" r="14822" b="6072"/>
          <a:stretch>
            <a:fillRect/>
          </a:stretch>
        </p:blipFill>
        <p:spPr>
          <a:xfrm>
            <a:off x="10294662" y="1419828"/>
            <a:ext cx="872162" cy="327307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B4063BB-B38E-AEAE-CA44-7830298D6CD3}"/>
              </a:ext>
            </a:extLst>
          </p:cNvPr>
          <p:cNvSpPr/>
          <p:nvPr/>
        </p:nvSpPr>
        <p:spPr>
          <a:xfrm>
            <a:off x="10705344" y="2871425"/>
            <a:ext cx="45719" cy="728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76C058-4C6A-96EA-A0D1-073142C1D632}"/>
              </a:ext>
            </a:extLst>
          </p:cNvPr>
          <p:cNvSpPr txBox="1"/>
          <p:nvPr/>
        </p:nvSpPr>
        <p:spPr>
          <a:xfrm>
            <a:off x="9633300" y="4727562"/>
            <a:ext cx="19376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B-scan Data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B0538C60-8C55-6F08-5843-7E714E25D658}"/>
              </a:ext>
            </a:extLst>
          </p:cNvPr>
          <p:cNvGraphicFramePr>
            <a:graphicFrameLocks noGrp="1"/>
          </p:cNvGraphicFramePr>
          <p:nvPr/>
        </p:nvGraphicFramePr>
        <p:xfrm>
          <a:off x="9383908" y="5011188"/>
          <a:ext cx="1821508" cy="64409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910754">
                  <a:extLst>
                    <a:ext uri="{9D8B030D-6E8A-4147-A177-3AD203B41FA5}">
                      <a16:colId xmlns:a16="http://schemas.microsoft.com/office/drawing/2014/main" val="3111505578"/>
                    </a:ext>
                  </a:extLst>
                </a:gridCol>
                <a:gridCol w="910754">
                  <a:extLst>
                    <a:ext uri="{9D8B030D-6E8A-4147-A177-3AD203B41FA5}">
                      <a16:colId xmlns:a16="http://schemas.microsoft.com/office/drawing/2014/main" val="1898531984"/>
                    </a:ext>
                  </a:extLst>
                </a:gridCol>
              </a:tblGrid>
              <a:tr h="32204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Inverse Phase</a:t>
                      </a:r>
                      <a:endParaRPr lang="ko-KR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095302"/>
                  </a:ext>
                </a:extLst>
              </a:tr>
              <a:tr h="3220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Off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On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094202"/>
                  </a:ext>
                </a:extLst>
              </a:tr>
            </a:tbl>
          </a:graphicData>
        </a:graphic>
      </p:graphicFrame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E897584-6E12-C026-C55D-A5197569CDC5}"/>
              </a:ext>
            </a:extLst>
          </p:cNvPr>
          <p:cNvCxnSpPr>
            <a:cxnSpLocks/>
          </p:cNvCxnSpPr>
          <p:nvPr/>
        </p:nvCxnSpPr>
        <p:spPr>
          <a:xfrm>
            <a:off x="9163659" y="562190"/>
            <a:ext cx="0" cy="43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9E41950-F39C-5C1B-038D-B9107770FD1C}"/>
              </a:ext>
            </a:extLst>
          </p:cNvPr>
          <p:cNvSpPr txBox="1"/>
          <p:nvPr/>
        </p:nvSpPr>
        <p:spPr>
          <a:xfrm>
            <a:off x="2748547" y="6105676"/>
            <a:ext cx="6351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ko-KR" altLang="ko-KR" sz="1800" b="0" i="0" spc="0" dirty="0">
                <a:solidFill>
                  <a:schemeClr val="tx1"/>
                </a:solidFill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그림 </a:t>
            </a:r>
            <a:r>
              <a:rPr lang="en-US" altLang="ko-KR" sz="1800" b="0" i="0" spc="0" dirty="0">
                <a:solidFill>
                  <a:schemeClr val="tx1"/>
                </a:solidFill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3</a:t>
            </a:r>
            <a:r>
              <a:rPr lang="ko-KR" altLang="ko-KR" sz="1800" b="0" i="0" spc="0" dirty="0">
                <a:solidFill>
                  <a:schemeClr val="tx1"/>
                </a:solidFill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. </a:t>
            </a:r>
            <a:r>
              <a:rPr lang="ko-KR" altLang="en-US" sz="1800" b="0" i="0" spc="0" dirty="0">
                <a:solidFill>
                  <a:schemeClr val="tx1"/>
                </a:solidFill>
                <a:effectLst/>
                <a:latin typeface="바탕체" panose="02030609000101010101" pitchFamily="17" charset="-127"/>
                <a:ea typeface="바탕체" panose="02030609000101010101" pitchFamily="17" charset="-127"/>
              </a:rPr>
              <a:t>전체 프레임 워크</a:t>
            </a:r>
            <a:endParaRPr lang="ko-KR" altLang="ko-KR" sz="1800" b="0" i="0" spc="0" dirty="0">
              <a:solidFill>
                <a:srgbClr val="000000"/>
              </a:solidFill>
              <a:effectLst/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3168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10FC5A8-349F-7F14-4E15-D786D98F0BBC}"/>
              </a:ext>
            </a:extLst>
          </p:cNvPr>
          <p:cNvSpPr/>
          <p:nvPr/>
        </p:nvSpPr>
        <p:spPr>
          <a:xfrm>
            <a:off x="108488" y="356460"/>
            <a:ext cx="11887200" cy="1053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Phase Inverse </a:t>
            </a:r>
            <a:r>
              <a:rPr lang="ko-KR" altLang="en-US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과검</a:t>
            </a:r>
            <a:r>
              <a:rPr lang="ko-KR" altLang="en-US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제어 </a:t>
            </a:r>
            <a:r>
              <a:rPr lang="en-US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복합 필터링 </a:t>
            </a:r>
            <a:r>
              <a:rPr lang="ko-KR" altLang="en-US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매커니즘</a:t>
            </a:r>
            <a:endParaRPr lang="ko-KR" altLang="en-US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663435-24C2-6B32-9C3B-E81D7F0176C8}"/>
              </a:ext>
            </a:extLst>
          </p:cNvPr>
          <p:cNvSpPr/>
          <p:nvPr/>
        </p:nvSpPr>
        <p:spPr>
          <a:xfrm>
            <a:off x="108488" y="1704812"/>
            <a:ext cx="11887200" cy="49376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8E8F3A4-AF6B-F7E4-7B93-8DB2A8B1166E}"/>
              </a:ext>
            </a:extLst>
          </p:cNvPr>
          <p:cNvSpPr/>
          <p:nvPr/>
        </p:nvSpPr>
        <p:spPr>
          <a:xfrm>
            <a:off x="457198" y="1921788"/>
            <a:ext cx="6261315" cy="604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[원시 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A-Scan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신호] </a:t>
            </a:r>
            <a:r>
              <a:rPr lang="ko-KR" altLang="en-US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를</a:t>
            </a:r>
            <a:r>
              <a:rPr lang="en-US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상관계수 연산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C288EFB-AF18-D85C-814C-7BF7FFE91A53}"/>
              </a:ext>
            </a:extLst>
          </p:cNvPr>
          <p:cNvSpPr/>
          <p:nvPr/>
        </p:nvSpPr>
        <p:spPr>
          <a:xfrm>
            <a:off x="457198" y="2916263"/>
            <a:ext cx="11244022" cy="604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[1단계] 상관계수 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임계값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검증 (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r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k_inv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] ≤ 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r_th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 ───(불만족)───► [정상/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비결함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처리]</a:t>
            </a:r>
            <a:endParaRPr lang="ko-KR" altLang="en-US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29F3993-6B61-F3BF-86A8-73615CB149CF}"/>
              </a:ext>
            </a:extLst>
          </p:cNvPr>
          <p:cNvSpPr/>
          <p:nvPr/>
        </p:nvSpPr>
        <p:spPr>
          <a:xfrm>
            <a:off x="457197" y="3908154"/>
            <a:ext cx="11244022" cy="604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[2단계] 절대 진폭 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임계값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검증 (|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s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k_inv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]| ≥ 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A_th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 ──(불만족)───► [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과검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차단 (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Noise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)]</a:t>
            </a:r>
            <a:endParaRPr lang="ko-KR" altLang="en-US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4A43A3F-88BA-016D-6F1F-1564108183F7}"/>
              </a:ext>
            </a:extLst>
          </p:cNvPr>
          <p:cNvSpPr/>
          <p:nvPr/>
        </p:nvSpPr>
        <p:spPr>
          <a:xfrm>
            <a:off x="457197" y="4897461"/>
            <a:ext cx="11244022" cy="6044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[3단계] 공간 ROI 경계 검증 (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n_start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≤ 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k_inv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≤ 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n_end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 ─(불만족)──► [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과검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차단 (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Boundary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)]</a:t>
            </a:r>
            <a:endParaRPr lang="ko-KR" altLang="en-US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7B11A30-10CF-80B1-454E-6E77F513D950}"/>
              </a:ext>
            </a:extLst>
          </p:cNvPr>
          <p:cNvSpPr/>
          <p:nvPr/>
        </p:nvSpPr>
        <p:spPr>
          <a:xfrm>
            <a:off x="457196" y="5855772"/>
            <a:ext cx="6261315" cy="604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[최종 결함 판정 (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k_inv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확정 및 </a:t>
            </a:r>
            <a:r>
              <a:rPr lang="ko-KR" altLang="ko-KR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Overlay</a:t>
            </a:r>
            <a:r>
              <a:rPr lang="ko-KR" altLang="ko-KR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표시)]</a:t>
            </a:r>
            <a:endParaRPr lang="ko-KR" altLang="en-US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F030184-E2DF-0C43-1B4B-8386E9F0B139}"/>
              </a:ext>
            </a:extLst>
          </p:cNvPr>
          <p:cNvCxnSpPr/>
          <p:nvPr/>
        </p:nvCxnSpPr>
        <p:spPr>
          <a:xfrm>
            <a:off x="1906292" y="2557219"/>
            <a:ext cx="0" cy="359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0E3BA0D9-4D3D-9C89-F978-988CE43AB022}"/>
              </a:ext>
            </a:extLst>
          </p:cNvPr>
          <p:cNvCxnSpPr/>
          <p:nvPr/>
        </p:nvCxnSpPr>
        <p:spPr>
          <a:xfrm>
            <a:off x="1906292" y="3520698"/>
            <a:ext cx="0" cy="359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345C715-F26B-3E88-62F4-B1B19FB6BB26}"/>
              </a:ext>
            </a:extLst>
          </p:cNvPr>
          <p:cNvCxnSpPr/>
          <p:nvPr/>
        </p:nvCxnSpPr>
        <p:spPr>
          <a:xfrm>
            <a:off x="1934706" y="4553915"/>
            <a:ext cx="0" cy="359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AE2A058-01C4-C026-21CA-1477E7DFD0B8}"/>
              </a:ext>
            </a:extLst>
          </p:cNvPr>
          <p:cNvCxnSpPr/>
          <p:nvPr/>
        </p:nvCxnSpPr>
        <p:spPr>
          <a:xfrm>
            <a:off x="1906292" y="5496725"/>
            <a:ext cx="0" cy="359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F5DF7A9-59D7-3E4A-AC21-EE790EEB628A}"/>
              </a:ext>
            </a:extLst>
          </p:cNvPr>
          <p:cNvSpPr txBox="1"/>
          <p:nvPr/>
        </p:nvSpPr>
        <p:spPr>
          <a:xfrm>
            <a:off x="1934706" y="2526223"/>
            <a:ext cx="107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바탕체" panose="02030609000101010101" pitchFamily="17" charset="-127"/>
                <a:ea typeface="바탕체" panose="02030609000101010101" pitchFamily="17" charset="-127"/>
              </a:rPr>
              <a:t>만족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A2186A-061B-5241-5673-54D19B727841}"/>
              </a:ext>
            </a:extLst>
          </p:cNvPr>
          <p:cNvSpPr txBox="1"/>
          <p:nvPr/>
        </p:nvSpPr>
        <p:spPr>
          <a:xfrm>
            <a:off x="1934706" y="3499990"/>
            <a:ext cx="107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바탕체" panose="02030609000101010101" pitchFamily="17" charset="-127"/>
                <a:ea typeface="바탕체" panose="02030609000101010101" pitchFamily="17" charset="-127"/>
              </a:rPr>
              <a:t>만족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60E021-CCD3-129D-8906-92DE6A3608FD}"/>
              </a:ext>
            </a:extLst>
          </p:cNvPr>
          <p:cNvSpPr txBox="1"/>
          <p:nvPr/>
        </p:nvSpPr>
        <p:spPr>
          <a:xfrm>
            <a:off x="1934706" y="4503569"/>
            <a:ext cx="107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바탕체" panose="02030609000101010101" pitchFamily="17" charset="-127"/>
                <a:ea typeface="바탕체" panose="02030609000101010101" pitchFamily="17" charset="-127"/>
              </a:rPr>
              <a:t>만족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1F5196-7A53-4CFE-A3CD-904FA82833E9}"/>
              </a:ext>
            </a:extLst>
          </p:cNvPr>
          <p:cNvSpPr txBox="1"/>
          <p:nvPr/>
        </p:nvSpPr>
        <p:spPr>
          <a:xfrm>
            <a:off x="1934706" y="5468316"/>
            <a:ext cx="107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바탕체" panose="02030609000101010101" pitchFamily="17" charset="-127"/>
                <a:ea typeface="바탕체" panose="02030609000101010101" pitchFamily="17" charset="-127"/>
              </a:rPr>
              <a:t>만족</a:t>
            </a:r>
          </a:p>
        </p:txBody>
      </p:sp>
    </p:spTree>
    <p:extLst>
      <p:ext uri="{BB962C8B-B14F-4D97-AF65-F5344CB8AC3E}">
        <p14:creationId xmlns:p14="http://schemas.microsoft.com/office/powerpoint/2010/main" val="902168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8DB5243-2A9A-ECB4-1226-0AE1721E2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250"/>
            <a:ext cx="12192000" cy="64135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64FD839-F092-A26A-AD31-7D9463E776C7}"/>
              </a:ext>
            </a:extLst>
          </p:cNvPr>
          <p:cNvCxnSpPr/>
          <p:nvPr/>
        </p:nvCxnSpPr>
        <p:spPr>
          <a:xfrm>
            <a:off x="7968343" y="631371"/>
            <a:ext cx="0" cy="64225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41E3A63C-3843-6DDA-3BF4-3B07FBC305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893" t="6209" r="35893" b="83777"/>
          <a:stretch>
            <a:fillRect/>
          </a:stretch>
        </p:blipFill>
        <p:spPr>
          <a:xfrm>
            <a:off x="9318173" y="631371"/>
            <a:ext cx="1001485" cy="64225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B949753-04B8-CDC0-F51A-681F4A1E1A51}"/>
              </a:ext>
            </a:extLst>
          </p:cNvPr>
          <p:cNvSpPr/>
          <p:nvPr/>
        </p:nvSpPr>
        <p:spPr>
          <a:xfrm>
            <a:off x="7968343" y="881744"/>
            <a:ext cx="1240969" cy="228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Phase Inverse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302BAA3-E586-64AC-B13A-A81C0DF01405}"/>
              </a:ext>
            </a:extLst>
          </p:cNvPr>
          <p:cNvSpPr/>
          <p:nvPr/>
        </p:nvSpPr>
        <p:spPr>
          <a:xfrm>
            <a:off x="9492340" y="756558"/>
            <a:ext cx="1240969" cy="228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Blue Apply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B9238E5-2E4A-7120-95C0-7BAE0269CB65}"/>
              </a:ext>
            </a:extLst>
          </p:cNvPr>
          <p:cNvSpPr/>
          <p:nvPr/>
        </p:nvSpPr>
        <p:spPr>
          <a:xfrm>
            <a:off x="9514108" y="1015093"/>
            <a:ext cx="1240969" cy="228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No Apply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390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DF6755B-C4FE-F5F8-C381-31E65A8A9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4762"/>
            <a:ext cx="12125325" cy="684847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467EF61-7BA2-5D07-0535-A1C756D0C0F0}"/>
              </a:ext>
            </a:extLst>
          </p:cNvPr>
          <p:cNvSpPr/>
          <p:nvPr/>
        </p:nvSpPr>
        <p:spPr>
          <a:xfrm>
            <a:off x="6096000" y="4607859"/>
            <a:ext cx="6062662" cy="4751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C7A68C4A-B433-B1C3-8F90-B309B7726C7B}"/>
              </a:ext>
            </a:extLst>
          </p:cNvPr>
          <p:cNvSpPr/>
          <p:nvPr/>
        </p:nvSpPr>
        <p:spPr>
          <a:xfrm>
            <a:off x="2743200" y="5405718"/>
            <a:ext cx="421341" cy="21515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1838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9DBC31B-5375-2FE7-81DD-7B99DF899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58" y="704290"/>
            <a:ext cx="7562850" cy="51625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52359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6344EA7A-2786-0BEA-222E-BB0AED3D358B}"/>
              </a:ext>
            </a:extLst>
          </p:cNvPr>
          <p:cNvGrpSpPr/>
          <p:nvPr/>
        </p:nvGrpSpPr>
        <p:grpSpPr>
          <a:xfrm>
            <a:off x="87957" y="600237"/>
            <a:ext cx="4407843" cy="411481"/>
            <a:chOff x="349214" y="752637"/>
            <a:chExt cx="4407843" cy="41148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1178F32-5787-F7BA-6363-26C108D8A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5222" t="7560" r="62568" b="88435"/>
            <a:stretch>
              <a:fillRect/>
            </a:stretch>
          </p:blipFill>
          <p:spPr>
            <a:xfrm>
              <a:off x="3276600" y="832104"/>
              <a:ext cx="1480457" cy="274321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D6E9552A-CED8-A78C-B90E-CA136D07E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2678" t="7577" b="86038"/>
            <a:stretch>
              <a:fillRect/>
            </a:stretch>
          </p:blipFill>
          <p:spPr>
            <a:xfrm>
              <a:off x="1198300" y="752637"/>
              <a:ext cx="2111828" cy="411481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55480C3-FAD3-3DFC-DC20-E1E9A39581E6}"/>
                </a:ext>
              </a:extLst>
            </p:cNvPr>
            <p:cNvSpPr/>
            <p:nvPr/>
          </p:nvSpPr>
          <p:spPr>
            <a:xfrm>
              <a:off x="2499359" y="779198"/>
              <a:ext cx="1480457" cy="274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Row Index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560064D-0087-5EAF-50DA-74D4BB9E3646}"/>
                </a:ext>
              </a:extLst>
            </p:cNvPr>
            <p:cNvSpPr/>
            <p:nvPr/>
          </p:nvSpPr>
          <p:spPr>
            <a:xfrm>
              <a:off x="349214" y="812291"/>
              <a:ext cx="1857974" cy="2743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Open csv files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8A99767-63AE-C443-30C5-B16C64D0F866}"/>
              </a:ext>
            </a:extLst>
          </p:cNvPr>
          <p:cNvGrpSpPr/>
          <p:nvPr/>
        </p:nvGrpSpPr>
        <p:grpSpPr>
          <a:xfrm>
            <a:off x="43543" y="358966"/>
            <a:ext cx="12192000" cy="6444867"/>
            <a:chOff x="152400" y="358966"/>
            <a:chExt cx="12192000" cy="6444867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45A9D30-440C-3415-E3AC-83BDB58EB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" y="358966"/>
              <a:ext cx="12192000" cy="6444867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0ADB72E-5DA0-1B7F-D404-0FE739EE0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5222" t="7560" r="62568" b="88435"/>
            <a:stretch>
              <a:fillRect/>
            </a:stretch>
          </p:blipFill>
          <p:spPr>
            <a:xfrm>
              <a:off x="3276600" y="832104"/>
              <a:ext cx="1480457" cy="274321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47118BB-AA42-02E9-C5DB-1B5AD902C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2678" t="7577" b="86038"/>
            <a:stretch>
              <a:fillRect/>
            </a:stretch>
          </p:blipFill>
          <p:spPr>
            <a:xfrm>
              <a:off x="1198300" y="752637"/>
              <a:ext cx="2111828" cy="411481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2B66FC8-FBA8-4B8C-9F4B-D0B214989749}"/>
                </a:ext>
              </a:extLst>
            </p:cNvPr>
            <p:cNvSpPr/>
            <p:nvPr/>
          </p:nvSpPr>
          <p:spPr>
            <a:xfrm>
              <a:off x="2499359" y="779198"/>
              <a:ext cx="1480457" cy="274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Row Index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8EF9CFA-548F-253E-5681-8B3BCEF06AB4}"/>
                </a:ext>
              </a:extLst>
            </p:cNvPr>
            <p:cNvSpPr/>
            <p:nvPr/>
          </p:nvSpPr>
          <p:spPr>
            <a:xfrm>
              <a:off x="349214" y="812291"/>
              <a:ext cx="1857974" cy="2743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Open csv files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0C3E7912-7F80-E8C2-A55F-29E4713A12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95" t="11487" r="36982" b="84668"/>
          <a:stretch>
            <a:fillRect/>
          </a:stretch>
        </p:blipFill>
        <p:spPr>
          <a:xfrm>
            <a:off x="8990731" y="880056"/>
            <a:ext cx="875828" cy="263324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2991DDBD-1666-074D-39E3-910441FBD35C}"/>
              </a:ext>
            </a:extLst>
          </p:cNvPr>
          <p:cNvSpPr/>
          <p:nvPr/>
        </p:nvSpPr>
        <p:spPr>
          <a:xfrm>
            <a:off x="7870371" y="1164118"/>
            <a:ext cx="1996188" cy="263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EE49CD0A-07BB-BEEF-1B19-9F26C293E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6979" y="891975"/>
            <a:ext cx="171450" cy="238125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D0803FEF-C4D5-560A-1F61-1954B118F970}"/>
              </a:ext>
            </a:extLst>
          </p:cNvPr>
          <p:cNvSpPr/>
          <p:nvPr/>
        </p:nvSpPr>
        <p:spPr>
          <a:xfrm>
            <a:off x="6994543" y="989618"/>
            <a:ext cx="893248" cy="263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022DA94-EA23-699E-23C8-806B5BBCD1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5879" y="872924"/>
            <a:ext cx="790575" cy="27622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879C866F-B9A3-6CD1-13A7-C4C1E309AD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9871" y="787905"/>
            <a:ext cx="1771650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5207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37157-FF75-A967-E3CF-D80518640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00CBD3C-349B-C3C1-D82B-E6B909F18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2079"/>
            <a:ext cx="12192000" cy="619384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A27E148-A0F4-E841-642C-C2382065D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2079"/>
            <a:ext cx="12192000" cy="619384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FC66FE3-CEFF-340B-4066-01029CD7C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175" y="629210"/>
            <a:ext cx="1781175" cy="23812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67ECFE9-EB7B-82CF-241B-FBA1901C4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773" y="629210"/>
            <a:ext cx="3848100" cy="276225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CB87D0F1-492D-A672-89CC-AD0888613070}"/>
              </a:ext>
            </a:extLst>
          </p:cNvPr>
          <p:cNvSpPr/>
          <p:nvPr/>
        </p:nvSpPr>
        <p:spPr>
          <a:xfrm>
            <a:off x="4790094" y="621925"/>
            <a:ext cx="1270045" cy="238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>
                <a:solidFill>
                  <a:schemeClr val="tx1"/>
                </a:solidFill>
              </a:rPr>
              <a:t>BandPass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14105B52-91B8-18E9-9E4E-FD8CBDEB6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0724" y="676834"/>
            <a:ext cx="942975" cy="18097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203CC03A-25FD-7C1C-202C-47DB5A0064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31" b="16667"/>
          <a:stretch>
            <a:fillRect/>
          </a:stretch>
        </p:blipFill>
        <p:spPr>
          <a:xfrm>
            <a:off x="2703699" y="557771"/>
            <a:ext cx="2176462" cy="238125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DF652B8D-2669-A734-645E-DD6398A48717}"/>
              </a:ext>
            </a:extLst>
          </p:cNvPr>
          <p:cNvSpPr/>
          <p:nvPr/>
        </p:nvSpPr>
        <p:spPr>
          <a:xfrm>
            <a:off x="680058" y="631450"/>
            <a:ext cx="2050536" cy="238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905DD60-7A78-3462-DF31-96CAE8B2771C}"/>
              </a:ext>
            </a:extLst>
          </p:cNvPr>
          <p:cNvSpPr/>
          <p:nvPr/>
        </p:nvSpPr>
        <p:spPr>
          <a:xfrm>
            <a:off x="117732" y="824191"/>
            <a:ext cx="2499962" cy="238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A10B9E3-3169-17DC-840C-958B559DCBF1}"/>
              </a:ext>
            </a:extLst>
          </p:cNvPr>
          <p:cNvSpPr/>
          <p:nvPr/>
        </p:nvSpPr>
        <p:spPr>
          <a:xfrm>
            <a:off x="1101400" y="819709"/>
            <a:ext cx="2050536" cy="238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B80CE8E-FA36-C631-AE2E-9D42DD8D761A}"/>
              </a:ext>
            </a:extLst>
          </p:cNvPr>
          <p:cNvSpPr/>
          <p:nvPr/>
        </p:nvSpPr>
        <p:spPr>
          <a:xfrm>
            <a:off x="2921236" y="828672"/>
            <a:ext cx="2050536" cy="238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5C8E49-0EF6-BF05-F8F9-7062171677AD}"/>
              </a:ext>
            </a:extLst>
          </p:cNvPr>
          <p:cNvSpPr txBox="1"/>
          <p:nvPr/>
        </p:nvSpPr>
        <p:spPr>
          <a:xfrm>
            <a:off x="773032" y="565436"/>
            <a:ext cx="1955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10 Rows*310 Cols</a:t>
            </a:r>
            <a:endParaRPr lang="ko-KR" altLang="en-US" sz="14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80246B-E0A3-8537-DA46-D2BB627F11C3}"/>
              </a:ext>
            </a:extLst>
          </p:cNvPr>
          <p:cNvSpPr txBox="1"/>
          <p:nvPr/>
        </p:nvSpPr>
        <p:spPr>
          <a:xfrm>
            <a:off x="2632367" y="789364"/>
            <a:ext cx="1955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113.Csv Load</a:t>
            </a:r>
            <a:endParaRPr lang="ko-KR" altLang="en-US" sz="14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4D38F9D9-05DC-0810-F694-04B3348C30D8}"/>
              </a:ext>
            </a:extLst>
          </p:cNvPr>
          <p:cNvCxnSpPr/>
          <p:nvPr/>
        </p:nvCxnSpPr>
        <p:spPr>
          <a:xfrm>
            <a:off x="4880161" y="621925"/>
            <a:ext cx="0" cy="4448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41D78ED-9600-89D3-8F18-C7C68C2C1AF0}"/>
              </a:ext>
            </a:extLst>
          </p:cNvPr>
          <p:cNvCxnSpPr/>
          <p:nvPr/>
        </p:nvCxnSpPr>
        <p:spPr>
          <a:xfrm>
            <a:off x="2522443" y="612960"/>
            <a:ext cx="0" cy="4448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7452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BD0FA53-2F78-CB12-AEA6-FACBE63FA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0233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EF1175D-66C6-AFBB-066E-7C7032FE3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970" y="642937"/>
            <a:ext cx="3228975" cy="55721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0BA606E-DF6B-FBA5-E707-FF1B8DF2D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057" y="2979923"/>
            <a:ext cx="3476625" cy="35337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F27D940-F93B-4AA8-E6E7-32E2602C7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057" y="71719"/>
            <a:ext cx="1999903" cy="2671482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25A6DFC-8114-0F9A-CBDF-2ADA82A3A0FF}"/>
              </a:ext>
            </a:extLst>
          </p:cNvPr>
          <p:cNvSpPr/>
          <p:nvPr/>
        </p:nvSpPr>
        <p:spPr>
          <a:xfrm>
            <a:off x="4831976" y="2743201"/>
            <a:ext cx="968189" cy="9143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04CC7E51-FA3B-5F1A-CCC4-201CDC5F325B}"/>
              </a:ext>
            </a:extLst>
          </p:cNvPr>
          <p:cNvSpPr/>
          <p:nvPr/>
        </p:nvSpPr>
        <p:spPr>
          <a:xfrm rot="18430324">
            <a:off x="5952565" y="2065524"/>
            <a:ext cx="968189" cy="9143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5631FFCA-77DC-7455-2EA5-939D2BB56E57}"/>
              </a:ext>
            </a:extLst>
          </p:cNvPr>
          <p:cNvSpPr/>
          <p:nvPr/>
        </p:nvSpPr>
        <p:spPr>
          <a:xfrm rot="2450215">
            <a:off x="5944149" y="3609969"/>
            <a:ext cx="968189" cy="9143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7160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59CA828-D795-82CD-4998-216B4872B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206" y="507626"/>
            <a:ext cx="6477000" cy="20002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181096A-7CAF-302D-693D-10B1D83A7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69024"/>
            <a:ext cx="10668000" cy="3181350"/>
          </a:xfrm>
          <a:prstGeom prst="rect">
            <a:avLst/>
          </a:prstGeom>
        </p:spPr>
      </p:pic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85B14240-8402-AC57-C528-1826719E7261}"/>
              </a:ext>
            </a:extLst>
          </p:cNvPr>
          <p:cNvSpPr/>
          <p:nvPr/>
        </p:nvSpPr>
        <p:spPr>
          <a:xfrm>
            <a:off x="4141694" y="2507876"/>
            <a:ext cx="2034988" cy="5939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061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0E238DE-87D0-EBAF-085C-C758680FD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441" y="0"/>
            <a:ext cx="10283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4670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DLO와 OPC _ Photo 공정을 위한 Mask 변형">
            <a:extLst>
              <a:ext uri="{FF2B5EF4-FFF2-40B4-BE49-F238E27FC236}">
                <a16:creationId xmlns:a16="http://schemas.microsoft.com/office/drawing/2014/main" id="{00D042DF-30F3-5D9D-E7CC-AC320953E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538163"/>
            <a:ext cx="11668125" cy="578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271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0E9CD-2792-C8B9-118A-B1A356C06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79B23A6-594E-61B5-E757-5D1E0FFD7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5643"/>
            <a:ext cx="1219200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4935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AA2D733-1603-3010-8F79-A324922C6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800"/>
            <a:ext cx="12192000" cy="65024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C431A56-591E-8276-5FEC-B76399F11071}"/>
              </a:ext>
            </a:extLst>
          </p:cNvPr>
          <p:cNvSpPr/>
          <p:nvPr/>
        </p:nvSpPr>
        <p:spPr>
          <a:xfrm>
            <a:off x="5791199" y="1111624"/>
            <a:ext cx="6176682" cy="5190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A65F375-6FF6-1790-4199-949CFF8419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59" t="14085" r="662" b="4573"/>
          <a:stretch>
            <a:fillRect/>
          </a:stretch>
        </p:blipFill>
        <p:spPr>
          <a:xfrm>
            <a:off x="5791199" y="1193801"/>
            <a:ext cx="6145238" cy="17466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E2C21DD-CAD3-474F-F9BB-3CA9D96DCA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09"/>
          <a:stretch>
            <a:fillRect/>
          </a:stretch>
        </p:blipFill>
        <p:spPr>
          <a:xfrm flipH="1">
            <a:off x="6241317" y="2861236"/>
            <a:ext cx="5457624" cy="329086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3955C95-FC57-6506-9F66-4DCD62A10A80}"/>
              </a:ext>
            </a:extLst>
          </p:cNvPr>
          <p:cNvSpPr/>
          <p:nvPr/>
        </p:nvSpPr>
        <p:spPr>
          <a:xfrm>
            <a:off x="8588188" y="1027206"/>
            <a:ext cx="1067742" cy="198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B-SCAN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4B2550D-D3F4-0C56-12CC-E5C954963940}"/>
              </a:ext>
            </a:extLst>
          </p:cNvPr>
          <p:cNvSpPr/>
          <p:nvPr/>
        </p:nvSpPr>
        <p:spPr>
          <a:xfrm>
            <a:off x="6033247" y="2770089"/>
            <a:ext cx="5903190" cy="2487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353B39C-0C7C-C362-7865-A9318D97A99E}"/>
              </a:ext>
            </a:extLst>
          </p:cNvPr>
          <p:cNvCxnSpPr>
            <a:cxnSpLocks/>
          </p:cNvCxnSpPr>
          <p:nvPr/>
        </p:nvCxnSpPr>
        <p:spPr>
          <a:xfrm>
            <a:off x="9430871" y="3045761"/>
            <a:ext cx="0" cy="3112994"/>
          </a:xfrm>
          <a:prstGeom prst="line">
            <a:avLst/>
          </a:prstGeom>
          <a:ln>
            <a:solidFill>
              <a:srgbClr val="00E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453D40C-27C6-A7C4-AC25-610AF18BF8B6}"/>
              </a:ext>
            </a:extLst>
          </p:cNvPr>
          <p:cNvCxnSpPr/>
          <p:nvPr/>
        </p:nvCxnSpPr>
        <p:spPr>
          <a:xfrm>
            <a:off x="6241317" y="4805083"/>
            <a:ext cx="5457624" cy="0"/>
          </a:xfrm>
          <a:prstGeom prst="line">
            <a:avLst/>
          </a:prstGeom>
          <a:ln>
            <a:solidFill>
              <a:srgbClr val="00E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F57337-29AD-201C-1DFB-4DD38BF4604D}"/>
              </a:ext>
            </a:extLst>
          </p:cNvPr>
          <p:cNvSpPr/>
          <p:nvPr/>
        </p:nvSpPr>
        <p:spPr>
          <a:xfrm>
            <a:off x="8632540" y="2825003"/>
            <a:ext cx="1049811" cy="166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C-SCAN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BDE24F8A-2570-0720-CFA8-B793E8CE15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912" t="3470" r="40000" b="88769"/>
          <a:stretch>
            <a:fillRect/>
          </a:stretch>
        </p:blipFill>
        <p:spPr>
          <a:xfrm>
            <a:off x="8597156" y="418728"/>
            <a:ext cx="1595718" cy="50463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5C5DB46-B9E4-2724-DD82-CF4E3F8FF7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912" t="3470" r="40000" b="88769"/>
          <a:stretch>
            <a:fillRect/>
          </a:stretch>
        </p:blipFill>
        <p:spPr>
          <a:xfrm>
            <a:off x="10538014" y="409387"/>
            <a:ext cx="1595718" cy="504638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A0C11301-09B7-2591-3051-976A7FA0AD2A}"/>
              </a:ext>
            </a:extLst>
          </p:cNvPr>
          <p:cNvSpPr/>
          <p:nvPr/>
        </p:nvSpPr>
        <p:spPr>
          <a:xfrm>
            <a:off x="8507045" y="519136"/>
            <a:ext cx="744070" cy="186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Merge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BE60309-39DC-150F-C49F-EC7941381636}"/>
              </a:ext>
            </a:extLst>
          </p:cNvPr>
          <p:cNvSpPr/>
          <p:nvPr/>
        </p:nvSpPr>
        <p:spPr>
          <a:xfrm>
            <a:off x="9377086" y="510989"/>
            <a:ext cx="663389" cy="150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Max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CEAE354-CE58-EFE2-53BB-E41FF8811531}"/>
              </a:ext>
            </a:extLst>
          </p:cNvPr>
          <p:cNvSpPr/>
          <p:nvPr/>
        </p:nvSpPr>
        <p:spPr>
          <a:xfrm>
            <a:off x="9368119" y="699248"/>
            <a:ext cx="663389" cy="150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Mean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6135F9E-C4FF-649A-FB89-8304AADDEB60}"/>
              </a:ext>
            </a:extLst>
          </p:cNvPr>
          <p:cNvSpPr/>
          <p:nvPr/>
        </p:nvSpPr>
        <p:spPr>
          <a:xfrm>
            <a:off x="10403543" y="528916"/>
            <a:ext cx="793383" cy="198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Strectch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72E1466-506D-0DB0-BF4A-E28DCB358450}"/>
              </a:ext>
            </a:extLst>
          </p:cNvPr>
          <p:cNvSpPr/>
          <p:nvPr/>
        </p:nvSpPr>
        <p:spPr>
          <a:xfrm>
            <a:off x="11287037" y="508676"/>
            <a:ext cx="663389" cy="150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Abs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55FA478-58F4-C2C3-6E75-B5AA0D9593AC}"/>
              </a:ext>
            </a:extLst>
          </p:cNvPr>
          <p:cNvSpPr/>
          <p:nvPr/>
        </p:nvSpPr>
        <p:spPr>
          <a:xfrm>
            <a:off x="11313930" y="696936"/>
            <a:ext cx="793383" cy="150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Relative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C7BDDE2F-7596-9607-AE61-8290A3FBFAEC}"/>
              </a:ext>
            </a:extLst>
          </p:cNvPr>
          <p:cNvCxnSpPr/>
          <p:nvPr/>
        </p:nvCxnSpPr>
        <p:spPr>
          <a:xfrm>
            <a:off x="6902356" y="536724"/>
            <a:ext cx="0" cy="32042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1" name="그림 30">
            <a:extLst>
              <a:ext uri="{FF2B5EF4-FFF2-40B4-BE49-F238E27FC236}">
                <a16:creationId xmlns:a16="http://schemas.microsoft.com/office/drawing/2014/main" id="{A461AA12-4903-6C77-8516-55074B634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427" y="495488"/>
            <a:ext cx="466725" cy="438150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B08B8F-3DB5-4707-80ED-D01FA9331099}"/>
              </a:ext>
            </a:extLst>
          </p:cNvPr>
          <p:cNvSpPr/>
          <p:nvPr/>
        </p:nvSpPr>
        <p:spPr>
          <a:xfrm>
            <a:off x="7113026" y="427316"/>
            <a:ext cx="877686" cy="253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Depth start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2A0503C-00B5-6736-417C-CC23BD7904E6}"/>
              </a:ext>
            </a:extLst>
          </p:cNvPr>
          <p:cNvSpPr/>
          <p:nvPr/>
        </p:nvSpPr>
        <p:spPr>
          <a:xfrm>
            <a:off x="7121990" y="687296"/>
            <a:ext cx="877686" cy="190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Depth end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5F3638-6E1F-32DE-7C12-788EA6F36870}"/>
              </a:ext>
            </a:extLst>
          </p:cNvPr>
          <p:cNvSpPr/>
          <p:nvPr/>
        </p:nvSpPr>
        <p:spPr>
          <a:xfrm>
            <a:off x="5956978" y="1249913"/>
            <a:ext cx="392787" cy="1532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100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200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300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400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500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600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3AAF20-5A9F-8570-659E-B050EC1F4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792184" y="1807508"/>
            <a:ext cx="266700" cy="38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4B8402-68D2-A570-CE98-2D8D9AFA8F5D}"/>
              </a:ext>
            </a:extLst>
          </p:cNvPr>
          <p:cNvSpPr txBox="1"/>
          <p:nvPr/>
        </p:nvSpPr>
        <p:spPr>
          <a:xfrm rot="10800000" flipV="1">
            <a:off x="5832531" y="4484587"/>
            <a:ext cx="369332" cy="609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sz="1200" dirty="0"/>
              <a:t>Row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6803FE-9070-2381-1827-16F18872924E}"/>
              </a:ext>
            </a:extLst>
          </p:cNvPr>
          <p:cNvSpPr txBox="1"/>
          <p:nvPr/>
        </p:nvSpPr>
        <p:spPr>
          <a:xfrm rot="5400000">
            <a:off x="6017196" y="2877744"/>
            <a:ext cx="1846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0</a:t>
            </a:r>
            <a:endParaRPr lang="ko-KR" altLang="en-US" sz="11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8C8DC5-E9AD-9501-1E52-1068B1AEBDF5}"/>
              </a:ext>
            </a:extLst>
          </p:cNvPr>
          <p:cNvSpPr/>
          <p:nvPr/>
        </p:nvSpPr>
        <p:spPr>
          <a:xfrm>
            <a:off x="421338" y="502297"/>
            <a:ext cx="421325" cy="17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accent6"/>
                </a:solidFill>
              </a:rPr>
              <a:t>100</a:t>
            </a:r>
            <a:endParaRPr lang="ko-KR" altLang="en-US" sz="700" dirty="0">
              <a:solidFill>
                <a:schemeClr val="accent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F0384B-52F3-88CC-79B5-B01B7866CEF8}"/>
              </a:ext>
            </a:extLst>
          </p:cNvPr>
          <p:cNvSpPr txBox="1"/>
          <p:nvPr/>
        </p:nvSpPr>
        <p:spPr>
          <a:xfrm rot="5400000">
            <a:off x="5715941" y="6006962"/>
            <a:ext cx="7117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100</a:t>
            </a:r>
            <a:endParaRPr lang="ko-KR" altLang="en-US" sz="11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97B9D01-54AA-5B99-6CB6-87DDE7295DD5}"/>
              </a:ext>
            </a:extLst>
          </p:cNvPr>
          <p:cNvSpPr/>
          <p:nvPr/>
        </p:nvSpPr>
        <p:spPr>
          <a:xfrm>
            <a:off x="35860" y="491900"/>
            <a:ext cx="484093" cy="1909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open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3373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D8FA711-6144-919D-192B-E650E0645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338" y="966786"/>
            <a:ext cx="2276475" cy="32289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FE0A55C-D839-0831-1A05-83671E1B9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794" y="966786"/>
            <a:ext cx="3228975" cy="4924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3ECAD6-812E-A4DB-4A36-4BB23F10173F}"/>
              </a:ext>
            </a:extLst>
          </p:cNvPr>
          <p:cNvSpPr txBox="1"/>
          <p:nvPr/>
        </p:nvSpPr>
        <p:spPr>
          <a:xfrm>
            <a:off x="4831976" y="450926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b="0" i="0" dirty="0">
                <a:effectLst/>
                <a:latin typeface="Google Sans Flex"/>
              </a:rPr>
              <a:t>RENISHAW</a:t>
            </a:r>
          </a:p>
          <a:p>
            <a:pPr algn="l">
              <a:buNone/>
            </a:pPr>
            <a:r>
              <a:rPr lang="en-US" altLang="ko-KR" b="0" i="0" dirty="0">
                <a:effectLst/>
                <a:latin typeface="Google Sans Flex"/>
              </a:rPr>
              <a:t>Q4BC Z05D 08B</a:t>
            </a:r>
          </a:p>
          <a:p>
            <a:pPr algn="l">
              <a:buNone/>
            </a:pPr>
            <a:r>
              <a:rPr lang="en-US" altLang="ko-KR" b="0" i="0" dirty="0">
                <a:effectLst/>
                <a:latin typeface="Google Sans Flex"/>
              </a:rPr>
              <a:t>0.5um </a:t>
            </a:r>
            <a:r>
              <a:rPr lang="ko-KR" altLang="en-US" b="0" i="0" dirty="0">
                <a:effectLst/>
                <a:latin typeface="Google Sans Flex"/>
              </a:rPr>
              <a:t>리니어 스케일 헤더 제품</a:t>
            </a:r>
            <a:endParaRPr lang="en-US" altLang="ko-KR" b="0" i="0" dirty="0">
              <a:effectLst/>
              <a:latin typeface="Google Sans Flex"/>
            </a:endParaRPr>
          </a:p>
          <a:p>
            <a:pPr algn="l">
              <a:buNone/>
            </a:pPr>
            <a:endParaRPr lang="en-US" altLang="ko-KR" dirty="0">
              <a:latin typeface="Google Sans Flex"/>
            </a:endParaRPr>
          </a:p>
          <a:p>
            <a:pPr algn="l">
              <a:buNone/>
            </a:pPr>
            <a:r>
              <a:rPr lang="en-US" altLang="ko-KR" dirty="0">
                <a:latin typeface="Google Sans Flex"/>
              </a:rPr>
              <a:t>TI0020A04A</a:t>
            </a:r>
          </a:p>
          <a:p>
            <a:pPr algn="l">
              <a:buNone/>
            </a:pPr>
            <a:r>
              <a:rPr lang="en-US" altLang="ko-KR" dirty="0">
                <a:latin typeface="Google Sans Flex"/>
              </a:rPr>
              <a:t>3QNM83</a:t>
            </a:r>
            <a:endParaRPr lang="ko-KR" altLang="en-US" b="0" i="0" dirty="0">
              <a:effectLst/>
              <a:latin typeface="Google Sans Flex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AFF4ED3-DD4D-DE4E-B7AE-97738511D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36" y="966786"/>
            <a:ext cx="4631564" cy="175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9273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C19A696-E10F-C81F-3F25-2F5F6DBFA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04" y="385481"/>
            <a:ext cx="2583877" cy="5656169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BC8D4E-DCD6-121F-BA71-836545D2C849}"/>
              </a:ext>
            </a:extLst>
          </p:cNvPr>
          <p:cNvCxnSpPr>
            <a:cxnSpLocks/>
          </p:cNvCxnSpPr>
          <p:nvPr/>
        </p:nvCxnSpPr>
        <p:spPr>
          <a:xfrm>
            <a:off x="1936376" y="896470"/>
            <a:ext cx="0" cy="496644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02BEC7D-C931-BD64-41C2-5FA51DA59790}"/>
              </a:ext>
            </a:extLst>
          </p:cNvPr>
          <p:cNvCxnSpPr/>
          <p:nvPr/>
        </p:nvCxnSpPr>
        <p:spPr>
          <a:xfrm>
            <a:off x="2644591" y="896470"/>
            <a:ext cx="0" cy="496644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327D16F7-65F8-33B8-2334-839F039D49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860"/>
          <a:stretch>
            <a:fillRect/>
          </a:stretch>
        </p:blipFill>
        <p:spPr>
          <a:xfrm rot="10800000">
            <a:off x="5647911" y="3098289"/>
            <a:ext cx="4359926" cy="16954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3684C66-1EF8-7B0F-806D-C06495B55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812806" y="3284867"/>
            <a:ext cx="1114425" cy="26670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61E0259-E7A9-9E42-531D-5BA07AE39081}"/>
              </a:ext>
            </a:extLst>
          </p:cNvPr>
          <p:cNvSpPr/>
          <p:nvPr/>
        </p:nvSpPr>
        <p:spPr>
          <a:xfrm>
            <a:off x="1219200" y="1497106"/>
            <a:ext cx="179291" cy="1792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736BC2A-A47F-1463-0239-0E35A5277FD5}"/>
              </a:ext>
            </a:extLst>
          </p:cNvPr>
          <p:cNvSpPr/>
          <p:nvPr/>
        </p:nvSpPr>
        <p:spPr>
          <a:xfrm>
            <a:off x="1219200" y="1210235"/>
            <a:ext cx="179291" cy="1792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4E63B2-9045-2E84-B1AC-96E4F22AA528}"/>
              </a:ext>
            </a:extLst>
          </p:cNvPr>
          <p:cNvSpPr txBox="1"/>
          <p:nvPr/>
        </p:nvSpPr>
        <p:spPr>
          <a:xfrm>
            <a:off x="7264771" y="4980220"/>
            <a:ext cx="1132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스케일자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39F4A2-0CD3-8666-4A1A-598315832A81}"/>
              </a:ext>
            </a:extLst>
          </p:cNvPr>
          <p:cNvSpPr txBox="1"/>
          <p:nvPr/>
        </p:nvSpPr>
        <p:spPr>
          <a:xfrm>
            <a:off x="2830894" y="6225096"/>
            <a:ext cx="153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스케일헤더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787BE83-CEC7-F2AB-52A1-8F84E00EA28D}"/>
              </a:ext>
            </a:extLst>
          </p:cNvPr>
          <p:cNvSpPr/>
          <p:nvPr/>
        </p:nvSpPr>
        <p:spPr>
          <a:xfrm>
            <a:off x="4589929" y="5567080"/>
            <a:ext cx="337302" cy="357891"/>
          </a:xfrm>
          <a:prstGeom prst="ellipse">
            <a:avLst/>
          </a:prstGeom>
          <a:noFill/>
          <a:ln>
            <a:solidFill>
              <a:srgbClr val="00E27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A6E0029-1429-F8CE-5DFA-373121575ACD}"/>
              </a:ext>
            </a:extLst>
          </p:cNvPr>
          <p:cNvSpPr/>
          <p:nvPr/>
        </p:nvSpPr>
        <p:spPr>
          <a:xfrm>
            <a:off x="4159622" y="3307973"/>
            <a:ext cx="337302" cy="357891"/>
          </a:xfrm>
          <a:prstGeom prst="ellipse">
            <a:avLst/>
          </a:prstGeom>
          <a:noFill/>
          <a:ln>
            <a:solidFill>
              <a:srgbClr val="00E27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CB0E83-5FF9-63E4-0D50-24265F35816A}"/>
              </a:ext>
            </a:extLst>
          </p:cNvPr>
          <p:cNvSpPr txBox="1"/>
          <p:nvPr/>
        </p:nvSpPr>
        <p:spPr>
          <a:xfrm>
            <a:off x="4972054" y="5636324"/>
            <a:ext cx="80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볼트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B27680D-3069-F0EC-2246-7CC7537F6E46}"/>
              </a:ext>
            </a:extLst>
          </p:cNvPr>
          <p:cNvCxnSpPr/>
          <p:nvPr/>
        </p:nvCxnSpPr>
        <p:spPr>
          <a:xfrm>
            <a:off x="6011960" y="3701723"/>
            <a:ext cx="4405028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DEF4011-57B9-17EF-D426-4AE7BD77FE7E}"/>
              </a:ext>
            </a:extLst>
          </p:cNvPr>
          <p:cNvCxnSpPr/>
          <p:nvPr/>
        </p:nvCxnSpPr>
        <p:spPr>
          <a:xfrm>
            <a:off x="6002995" y="4257537"/>
            <a:ext cx="4405028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E8B7624-FDB0-1851-6E4D-45B1AA3B9BD2}"/>
              </a:ext>
            </a:extLst>
          </p:cNvPr>
          <p:cNvSpPr txBox="1"/>
          <p:nvPr/>
        </p:nvSpPr>
        <p:spPr>
          <a:xfrm>
            <a:off x="4159622" y="1199669"/>
            <a:ext cx="71134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스케일 헤더 </a:t>
            </a:r>
            <a:r>
              <a:rPr lang="en-US" altLang="ko-KR" dirty="0"/>
              <a:t>Reader </a:t>
            </a:r>
            <a:r>
              <a:rPr lang="ko-KR" altLang="en-US" dirty="0"/>
              <a:t>부분 안에</a:t>
            </a:r>
            <a:r>
              <a:rPr lang="en-US" altLang="ko-KR" dirty="0"/>
              <a:t>, </a:t>
            </a:r>
            <a:r>
              <a:rPr lang="ko-KR" altLang="en-US" dirty="0"/>
              <a:t>동그라미 </a:t>
            </a:r>
            <a:r>
              <a:rPr lang="en-US" altLang="ko-KR" dirty="0"/>
              <a:t>(</a:t>
            </a:r>
            <a:r>
              <a:rPr lang="ko-KR" altLang="en-US" dirty="0"/>
              <a:t>렌즈</a:t>
            </a:r>
            <a:r>
              <a:rPr lang="en-US" altLang="ko-KR" dirty="0"/>
              <a:t>?) </a:t>
            </a:r>
            <a:r>
              <a:rPr lang="ko-KR" altLang="en-US" dirty="0"/>
              <a:t>구역이 있고</a:t>
            </a:r>
            <a:r>
              <a:rPr lang="en-US" altLang="ko-KR" dirty="0"/>
              <a:t>, </a:t>
            </a:r>
            <a:r>
              <a:rPr lang="ko-KR" altLang="en-US" dirty="0"/>
              <a:t> 선분들이 있는 구역이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</a:t>
            </a:r>
            <a:r>
              <a:rPr lang="ko-KR" altLang="en-US" dirty="0"/>
              <a:t>스케일 자 안에 어떻게 배치하는 게 가장 </a:t>
            </a:r>
            <a:r>
              <a:rPr lang="en-US" altLang="ko-KR" dirty="0"/>
              <a:t>Read </a:t>
            </a:r>
            <a:r>
              <a:rPr lang="ko-KR" altLang="en-US" dirty="0"/>
              <a:t>효율이 좋을까</a:t>
            </a:r>
            <a:r>
              <a:rPr lang="en-US" altLang="ko-KR" dirty="0"/>
              <a:t>? </a:t>
            </a:r>
            <a:r>
              <a:rPr lang="ko-KR" altLang="en-US" dirty="0"/>
              <a:t>저 빨간 점선 들이</a:t>
            </a:r>
            <a:r>
              <a:rPr lang="en-US" altLang="ko-KR" dirty="0"/>
              <a:t>, </a:t>
            </a:r>
            <a:r>
              <a:rPr lang="ko-KR" altLang="en-US" dirty="0"/>
              <a:t>스케일 자 내부에 들어가는 게 가장 좋을까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AFB911F-DB13-1B88-15F1-94C74871B65E}"/>
              </a:ext>
            </a:extLst>
          </p:cNvPr>
          <p:cNvSpPr/>
          <p:nvPr/>
        </p:nvSpPr>
        <p:spPr>
          <a:xfrm>
            <a:off x="9269506" y="2859741"/>
            <a:ext cx="591670" cy="2120477"/>
          </a:xfrm>
          <a:prstGeom prst="rect">
            <a:avLst/>
          </a:prstGeom>
          <a:noFill/>
          <a:ln>
            <a:solidFill>
              <a:srgbClr val="00E276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4748B7-9CDC-75A9-4E8A-C74410BFF2EF}"/>
              </a:ext>
            </a:extLst>
          </p:cNvPr>
          <p:cNvSpPr txBox="1"/>
          <p:nvPr/>
        </p:nvSpPr>
        <p:spPr>
          <a:xfrm>
            <a:off x="9841567" y="4763288"/>
            <a:ext cx="1722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실선 </a:t>
            </a:r>
            <a:r>
              <a:rPr lang="en-US" altLang="ko-KR" dirty="0"/>
              <a:t>: </a:t>
            </a:r>
            <a:r>
              <a:rPr lang="ko-KR" altLang="en-US" dirty="0"/>
              <a:t>레퍼런스 마크 </a:t>
            </a:r>
            <a:r>
              <a:rPr lang="en-US" altLang="ko-KR" dirty="0"/>
              <a:t>5mm </a:t>
            </a:r>
            <a:r>
              <a:rPr lang="ko-KR" altLang="en-US" dirty="0"/>
              <a:t>마다 인쇄되어 있음</a:t>
            </a:r>
          </a:p>
        </p:txBody>
      </p:sp>
    </p:spTree>
    <p:extLst>
      <p:ext uri="{BB962C8B-B14F-4D97-AF65-F5344CB8AC3E}">
        <p14:creationId xmlns:p14="http://schemas.microsoft.com/office/powerpoint/2010/main" val="35962319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8C0DCED-4C5E-1358-DB08-26757A66A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72" y="1111623"/>
            <a:ext cx="3404819" cy="543709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FE84BAE-8BF5-C130-E11C-3021B381C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826" y="325530"/>
            <a:ext cx="5600700" cy="63817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6F46123-8A5C-770C-D631-77D9F9654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0288" y="325530"/>
            <a:ext cx="1745695" cy="182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370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3C711C4-40D5-2C92-6395-778BB9305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964" y="0"/>
            <a:ext cx="97880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985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B617C356-F7A0-C8A9-A7F8-2CB8CAC82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701" y="0"/>
            <a:ext cx="67165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553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79BD68C-2D09-A5A7-2AB2-E0AB2FA10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08" y="0"/>
            <a:ext cx="10268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463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1837</TotalTime>
  <Words>1245</Words>
  <Application>Microsoft Office PowerPoint</Application>
  <PresentationFormat>와이드스크린</PresentationFormat>
  <Paragraphs>194</Paragraphs>
  <Slides>40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8" baseType="lpstr">
      <vt:lpstr>Google Sans Flex</vt:lpstr>
      <vt:lpstr>맑은 고딕</vt:lpstr>
      <vt:lpstr>바탕체</vt:lpstr>
      <vt:lpstr>바탕체,한컴돋움</vt:lpstr>
      <vt:lpstr>함초롬바탕</vt:lpstr>
      <vt:lpstr>Arial</vt:lpstr>
      <vt:lpstr>Consolas</vt:lpstr>
      <vt:lpstr>Office 테마</vt:lpstr>
      <vt:lpstr>논문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양회현</dc:creator>
  <cp:lastModifiedBy>뷰온 주식회사</cp:lastModifiedBy>
  <cp:revision>28</cp:revision>
  <dcterms:created xsi:type="dcterms:W3CDTF">2026-08-23T23:35:07Z</dcterms:created>
  <dcterms:modified xsi:type="dcterms:W3CDTF">2026-10-12T01:00:38Z</dcterms:modified>
</cp:coreProperties>
</file>