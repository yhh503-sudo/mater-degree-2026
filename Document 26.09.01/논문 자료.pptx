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  <p:sldId id="1599" r:id="rId24"/>
    <p:sldId id="1600" r:id="rId25"/>
    <p:sldId id="1601" r:id="rId26"/>
    <p:sldId id="1602" r:id="rId27"/>
    <p:sldId id="1603" r:id="rId28"/>
    <p:sldId id="1604" r:id="rId29"/>
    <p:sldId id="1605" r:id="rId30"/>
    <p:sldId id="1606" r:id="rId31"/>
    <p:sldId id="1607" r:id="rId32"/>
    <p:sldId id="1608" r:id="rId33"/>
    <p:sldId id="1609" r:id="rId34"/>
    <p:sldId id="1610" r:id="rId35"/>
    <p:sldId id="1611" r:id="rId36"/>
    <p:sldId id="1612" r:id="rId37"/>
    <p:sldId id="1613" r:id="rId38"/>
    <p:sldId id="1614" r:id="rId39"/>
    <p:sldId id="1615" r:id="rId40"/>
    <p:sldId id="1616" r:id="rId41"/>
    <p:sldId id="1617" r:id="rId42"/>
    <p:sldId id="1621" r:id="rId43"/>
    <p:sldId id="1622" r:id="rId44"/>
    <p:sldId id="1623" r:id="rId45"/>
    <p:sldId id="1624" r:id="rId4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2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49743" y="2338365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14183-FB59-D956-FB85-7DC8C5AFF54B}"/>
              </a:ext>
            </a:extLst>
          </p:cNvPr>
          <p:cNvSpPr/>
          <p:nvPr/>
        </p:nvSpPr>
        <p:spPr>
          <a:xfrm>
            <a:off x="5116285" y="2144486"/>
            <a:ext cx="646611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A514F8B-F4C6-5F1B-1280-DB50060CE48F}"/>
              </a:ext>
            </a:extLst>
          </p:cNvPr>
          <p:cNvCxnSpPr/>
          <p:nvPr/>
        </p:nvCxnSpPr>
        <p:spPr>
          <a:xfrm>
            <a:off x="6311153" y="2513818"/>
            <a:ext cx="0" cy="2657288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59304CA-04D0-3A21-E3B3-DAABFACB2A05}"/>
              </a:ext>
            </a:extLst>
          </p:cNvPr>
          <p:cNvSpPr txBox="1"/>
          <p:nvPr/>
        </p:nvSpPr>
        <p:spPr>
          <a:xfrm>
            <a:off x="6015317" y="5447237"/>
            <a:ext cx="4724401" cy="92333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CTRL </a:t>
            </a:r>
            <a:r>
              <a:rPr lang="ko-KR" altLang="en-US" dirty="0"/>
              <a:t>누르고</a:t>
            </a:r>
            <a:r>
              <a:rPr lang="en-US" altLang="ko-KR" dirty="0"/>
              <a:t>, </a:t>
            </a:r>
            <a:r>
              <a:rPr lang="ko-KR" altLang="en-US" dirty="0"/>
              <a:t>마우스로 </a:t>
            </a:r>
            <a:r>
              <a:rPr lang="en-US" altLang="ko-KR" dirty="0"/>
              <a:t>B</a:t>
            </a:r>
            <a:r>
              <a:rPr lang="ko-KR" altLang="en-US" dirty="0"/>
              <a:t>스캔 이미지의 위치 가리키면</a:t>
            </a:r>
            <a:r>
              <a:rPr lang="en-US" altLang="ko-KR" dirty="0"/>
              <a:t>, X</a:t>
            </a:r>
            <a:r>
              <a:rPr lang="ko-KR" altLang="en-US" dirty="0"/>
              <a:t>축 따라가며</a:t>
            </a:r>
            <a:r>
              <a:rPr lang="en-US" altLang="ko-KR" dirty="0"/>
              <a:t>, </a:t>
            </a:r>
            <a:r>
              <a:rPr lang="ko-KR" altLang="en-US" dirty="0"/>
              <a:t>왼쪽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A</a:t>
            </a:r>
            <a:r>
              <a:rPr lang="ko-KR" altLang="en-US" dirty="0"/>
              <a:t>파형들이 자동으로 바뀜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A350E-8ACD-3A4D-5774-DA6D8FBEFD9B}"/>
              </a:ext>
            </a:extLst>
          </p:cNvPr>
          <p:cNvSpPr txBox="1"/>
          <p:nvPr/>
        </p:nvSpPr>
        <p:spPr>
          <a:xfrm>
            <a:off x="7652017" y="2031589"/>
            <a:ext cx="206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 </a:t>
            </a:r>
            <a:r>
              <a:rPr lang="en-US" altLang="ko-KR" dirty="0"/>
              <a:t>SCAN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53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58378" y="467628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581018" y="4501403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DB5243-2A9A-ECB4-1226-0AE1721E2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12192000" cy="6413500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64FD839-F092-A26A-AD31-7D9463E776C7}"/>
              </a:ext>
            </a:extLst>
          </p:cNvPr>
          <p:cNvCxnSpPr/>
          <p:nvPr/>
        </p:nvCxnSpPr>
        <p:spPr>
          <a:xfrm>
            <a:off x="7968343" y="631371"/>
            <a:ext cx="0" cy="6422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1E3A63C-3843-6DDA-3BF4-3B07FBC3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893" t="6209" r="35893" b="83777"/>
          <a:stretch>
            <a:fillRect/>
          </a:stretch>
        </p:blipFill>
        <p:spPr>
          <a:xfrm>
            <a:off x="9318173" y="631371"/>
            <a:ext cx="1001485" cy="64225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B949753-04B8-CDC0-F51A-681F4A1E1A51}"/>
              </a:ext>
            </a:extLst>
          </p:cNvPr>
          <p:cNvSpPr/>
          <p:nvPr/>
        </p:nvSpPr>
        <p:spPr>
          <a:xfrm>
            <a:off x="7968343" y="881744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Phase Inverse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302BAA3-E586-64AC-B13A-A81C0DF01405}"/>
              </a:ext>
            </a:extLst>
          </p:cNvPr>
          <p:cNvSpPr/>
          <p:nvPr/>
        </p:nvSpPr>
        <p:spPr>
          <a:xfrm>
            <a:off x="9492340" y="756558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Blue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9238E5-2E4A-7120-95C0-7BAE0269CB65}"/>
              </a:ext>
            </a:extLst>
          </p:cNvPr>
          <p:cNvSpPr/>
          <p:nvPr/>
        </p:nvSpPr>
        <p:spPr>
          <a:xfrm>
            <a:off x="9514108" y="1015093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No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390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F6755B-C4FE-F5F8-C381-31E65A8A9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4762"/>
            <a:ext cx="12125325" cy="684847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7EF61-7BA2-5D07-0535-A1C756D0C0F0}"/>
              </a:ext>
            </a:extLst>
          </p:cNvPr>
          <p:cNvSpPr/>
          <p:nvPr/>
        </p:nvSpPr>
        <p:spPr>
          <a:xfrm>
            <a:off x="6096000" y="4607859"/>
            <a:ext cx="6062662" cy="475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C7A68C4A-B433-B1C3-8F90-B309B7726C7B}"/>
              </a:ext>
            </a:extLst>
          </p:cNvPr>
          <p:cNvSpPr/>
          <p:nvPr/>
        </p:nvSpPr>
        <p:spPr>
          <a:xfrm>
            <a:off x="2743200" y="5405718"/>
            <a:ext cx="421341" cy="215153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838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9DBC31B-5375-2FE7-81DD-7B99DF899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58" y="704290"/>
            <a:ext cx="7562850" cy="51625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23599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6344EA7A-2786-0BEA-222E-BB0AED3D358B}"/>
              </a:ext>
            </a:extLst>
          </p:cNvPr>
          <p:cNvGrpSpPr/>
          <p:nvPr/>
        </p:nvGrpSpPr>
        <p:grpSpPr>
          <a:xfrm>
            <a:off x="87957" y="600237"/>
            <a:ext cx="4407843" cy="411481"/>
            <a:chOff x="349214" y="752637"/>
            <a:chExt cx="4407843" cy="41148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1178F32-5787-F7BA-6363-26C108D8A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D6E9552A-CED8-A78C-B90E-CA136D07E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55480C3-FAD3-3DFC-DC20-E1E9A39581E6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560064D-0087-5EAF-50DA-74D4BB9E3646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08A99767-63AE-C443-30C5-B16C64D0F866}"/>
              </a:ext>
            </a:extLst>
          </p:cNvPr>
          <p:cNvGrpSpPr/>
          <p:nvPr/>
        </p:nvGrpSpPr>
        <p:grpSpPr>
          <a:xfrm>
            <a:off x="43543" y="358966"/>
            <a:ext cx="12192000" cy="6444867"/>
            <a:chOff x="152400" y="358966"/>
            <a:chExt cx="12192000" cy="6444867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45A9D30-440C-3415-E3AC-83BDB58EB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0" y="358966"/>
              <a:ext cx="12192000" cy="644486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0ADB72E-5DA0-1B7F-D404-0FE739EE0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047118BB-AA42-02E9-C5DB-1B5AD902C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B66FC8-FBA8-4B8C-9F4B-D0B214989749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8EF9CFA-548F-253E-5681-8B3BCEF06AB4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0C3E7912-7F80-E8C2-A55F-29E4713A12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95" t="11487" r="36982" b="84668"/>
          <a:stretch>
            <a:fillRect/>
          </a:stretch>
        </p:blipFill>
        <p:spPr>
          <a:xfrm>
            <a:off x="8990731" y="880056"/>
            <a:ext cx="875828" cy="263324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2991DDBD-1666-074D-39E3-910441FBD35C}"/>
              </a:ext>
            </a:extLst>
          </p:cNvPr>
          <p:cNvSpPr/>
          <p:nvPr/>
        </p:nvSpPr>
        <p:spPr>
          <a:xfrm>
            <a:off x="7870371" y="1164118"/>
            <a:ext cx="199618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EE49CD0A-07BB-BEEF-1B19-9F26C293E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979" y="891975"/>
            <a:ext cx="171450" cy="238125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D0803FEF-C4D5-560A-1F61-1954B118F970}"/>
              </a:ext>
            </a:extLst>
          </p:cNvPr>
          <p:cNvSpPr/>
          <p:nvPr/>
        </p:nvSpPr>
        <p:spPr>
          <a:xfrm>
            <a:off x="6994543" y="989618"/>
            <a:ext cx="89324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022DA94-EA23-699E-23C8-806B5BBCD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5879" y="872924"/>
            <a:ext cx="790575" cy="27622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879C866F-B9A3-6CD1-13A7-C4C1E309AD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9871" y="787905"/>
            <a:ext cx="1771650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5207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7157-FF75-A967-E3CF-D80518640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00CBD3C-349B-C3C1-D82B-E6B909F1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A27E148-A0F4-E841-642C-C2382065D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FC66FE3-CEFF-340B-4066-01029CD7C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175" y="629210"/>
            <a:ext cx="1781175" cy="23812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67ECFE9-EB7B-82CF-241B-FBA1901C4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773" y="629210"/>
            <a:ext cx="3848100" cy="276225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CB87D0F1-492D-A672-89CC-AD0888613070}"/>
              </a:ext>
            </a:extLst>
          </p:cNvPr>
          <p:cNvSpPr/>
          <p:nvPr/>
        </p:nvSpPr>
        <p:spPr>
          <a:xfrm>
            <a:off x="4790094" y="621925"/>
            <a:ext cx="1270045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>
                <a:solidFill>
                  <a:schemeClr val="tx1"/>
                </a:solidFill>
              </a:rPr>
              <a:t>BandPass</a:t>
            </a:r>
            <a:endParaRPr lang="ko-KR" altLang="en-US" sz="14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14105B52-91B8-18E9-9E4E-FD8CBDEB6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0724" y="676834"/>
            <a:ext cx="942975" cy="18097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203CC03A-25FD-7C1C-202C-47DB5A00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1" b="16667"/>
          <a:stretch>
            <a:fillRect/>
          </a:stretch>
        </p:blipFill>
        <p:spPr>
          <a:xfrm>
            <a:off x="2703699" y="557771"/>
            <a:ext cx="2176462" cy="238125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652B8D-2669-A734-645E-DD6398A48717}"/>
              </a:ext>
            </a:extLst>
          </p:cNvPr>
          <p:cNvSpPr/>
          <p:nvPr/>
        </p:nvSpPr>
        <p:spPr>
          <a:xfrm>
            <a:off x="680058" y="631450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905DD60-7A78-3462-DF31-96CAE8B2771C}"/>
              </a:ext>
            </a:extLst>
          </p:cNvPr>
          <p:cNvSpPr/>
          <p:nvPr/>
        </p:nvSpPr>
        <p:spPr>
          <a:xfrm>
            <a:off x="117732" y="824191"/>
            <a:ext cx="2499962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A10B9E3-3169-17DC-840C-958B559DCBF1}"/>
              </a:ext>
            </a:extLst>
          </p:cNvPr>
          <p:cNvSpPr/>
          <p:nvPr/>
        </p:nvSpPr>
        <p:spPr>
          <a:xfrm>
            <a:off x="1101400" y="819709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B80CE8E-FA36-C631-AE2E-9D42DD8D761A}"/>
              </a:ext>
            </a:extLst>
          </p:cNvPr>
          <p:cNvSpPr/>
          <p:nvPr/>
        </p:nvSpPr>
        <p:spPr>
          <a:xfrm>
            <a:off x="2921236" y="828672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5C8E49-0EF6-BF05-F8F9-7062171677AD}"/>
              </a:ext>
            </a:extLst>
          </p:cNvPr>
          <p:cNvSpPr txBox="1"/>
          <p:nvPr/>
        </p:nvSpPr>
        <p:spPr>
          <a:xfrm>
            <a:off x="773032" y="565436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10 Rows*310 Cols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80246B-E0A3-8537-DA46-D2BB627F11C3}"/>
              </a:ext>
            </a:extLst>
          </p:cNvPr>
          <p:cNvSpPr txBox="1"/>
          <p:nvPr/>
        </p:nvSpPr>
        <p:spPr>
          <a:xfrm>
            <a:off x="2632367" y="789364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113.Csv Load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4D38F9D9-05DC-0810-F694-04B3348C30D8}"/>
              </a:ext>
            </a:extLst>
          </p:cNvPr>
          <p:cNvCxnSpPr/>
          <p:nvPr/>
        </p:nvCxnSpPr>
        <p:spPr>
          <a:xfrm>
            <a:off x="4880161" y="621925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C41D78ED-9600-89D3-8F18-C7C68C2C1AF0}"/>
              </a:ext>
            </a:extLst>
          </p:cNvPr>
          <p:cNvCxnSpPr/>
          <p:nvPr/>
        </p:nvCxnSpPr>
        <p:spPr>
          <a:xfrm>
            <a:off x="2522443" y="612960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3745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BD0FA53-2F78-CB12-AEA6-FACBE63FA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8600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0233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EF1175D-66C6-AFBB-066E-7C7032FE3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970" y="642937"/>
            <a:ext cx="3228975" cy="55721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0BA606E-DF6B-FBA5-E707-FF1B8DF2D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057" y="2979923"/>
            <a:ext cx="3476625" cy="353377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27D940-F93B-4AA8-E6E7-32E2602C7E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6057" y="71719"/>
            <a:ext cx="1999903" cy="2671482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325A6DFC-8114-0F9A-CBDF-2ADA82A3A0FF}"/>
              </a:ext>
            </a:extLst>
          </p:cNvPr>
          <p:cNvSpPr/>
          <p:nvPr/>
        </p:nvSpPr>
        <p:spPr>
          <a:xfrm>
            <a:off x="4831976" y="2743201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04CC7E51-FA3B-5F1A-CCC4-201CDC5F325B}"/>
              </a:ext>
            </a:extLst>
          </p:cNvPr>
          <p:cNvSpPr/>
          <p:nvPr/>
        </p:nvSpPr>
        <p:spPr>
          <a:xfrm rot="18430324">
            <a:off x="5952565" y="2065524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5631FFCA-77DC-7455-2EA5-939D2BB56E57}"/>
              </a:ext>
            </a:extLst>
          </p:cNvPr>
          <p:cNvSpPr/>
          <p:nvPr/>
        </p:nvSpPr>
        <p:spPr>
          <a:xfrm rot="2450215">
            <a:off x="5944149" y="3609969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47160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59CA828-D795-82CD-4998-216B4872B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206" y="507626"/>
            <a:ext cx="6477000" cy="20002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181096A-7CAF-302D-693D-10B1D83A7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169024"/>
            <a:ext cx="10668000" cy="3181350"/>
          </a:xfrm>
          <a:prstGeom prst="rect">
            <a:avLst/>
          </a:prstGeom>
        </p:spPr>
      </p:pic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85B14240-8402-AC57-C528-1826719E7261}"/>
              </a:ext>
            </a:extLst>
          </p:cNvPr>
          <p:cNvSpPr/>
          <p:nvPr/>
        </p:nvSpPr>
        <p:spPr>
          <a:xfrm>
            <a:off x="4141694" y="2507876"/>
            <a:ext cx="2034988" cy="5939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40617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0E238DE-87D0-EBAF-085C-C758680FD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441" y="0"/>
            <a:ext cx="10283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4670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TDLO와 OPC _ Photo 공정을 위한 Mask 변형">
            <a:extLst>
              <a:ext uri="{FF2B5EF4-FFF2-40B4-BE49-F238E27FC236}">
                <a16:creationId xmlns:a16="http://schemas.microsoft.com/office/drawing/2014/main" id="{00D042DF-30F3-5D9D-E7CC-AC320953E5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938" y="538163"/>
            <a:ext cx="11668125" cy="5781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82718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E9CD-2792-C8B9-118A-B1A356C06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79B23A6-594E-61B5-E757-5D1E0FFD7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5643"/>
            <a:ext cx="12192000" cy="3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4935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AA2D733-1603-3010-8F79-A324922C6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7800"/>
            <a:ext cx="12192000" cy="65024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FC431A56-591E-8276-5FEC-B76399F11071}"/>
              </a:ext>
            </a:extLst>
          </p:cNvPr>
          <p:cNvSpPr/>
          <p:nvPr/>
        </p:nvSpPr>
        <p:spPr>
          <a:xfrm>
            <a:off x="5791199" y="1111624"/>
            <a:ext cx="6176682" cy="51905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A65F375-6FF6-1790-4199-949CFF8419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059" t="14085" r="662" b="4573"/>
          <a:stretch>
            <a:fillRect/>
          </a:stretch>
        </p:blipFill>
        <p:spPr>
          <a:xfrm>
            <a:off x="5791199" y="1193801"/>
            <a:ext cx="6145238" cy="174662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E2C21DD-CAD3-474F-F9BB-3CA9D96DCA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09"/>
          <a:stretch>
            <a:fillRect/>
          </a:stretch>
        </p:blipFill>
        <p:spPr>
          <a:xfrm flipH="1">
            <a:off x="6241317" y="2861236"/>
            <a:ext cx="5457624" cy="3290861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955C95-FC57-6506-9F66-4DCD62A10A80}"/>
              </a:ext>
            </a:extLst>
          </p:cNvPr>
          <p:cNvSpPr/>
          <p:nvPr/>
        </p:nvSpPr>
        <p:spPr>
          <a:xfrm>
            <a:off x="8588188" y="1027206"/>
            <a:ext cx="1067742" cy="1987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B-SCAN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4B2550D-D3F4-0C56-12CC-E5C954963940}"/>
              </a:ext>
            </a:extLst>
          </p:cNvPr>
          <p:cNvSpPr/>
          <p:nvPr/>
        </p:nvSpPr>
        <p:spPr>
          <a:xfrm>
            <a:off x="6033247" y="2770089"/>
            <a:ext cx="5903190" cy="2487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F353B39C-0C7C-C362-7865-A9318D97A99E}"/>
              </a:ext>
            </a:extLst>
          </p:cNvPr>
          <p:cNvCxnSpPr>
            <a:cxnSpLocks/>
          </p:cNvCxnSpPr>
          <p:nvPr/>
        </p:nvCxnSpPr>
        <p:spPr>
          <a:xfrm>
            <a:off x="9430871" y="3045761"/>
            <a:ext cx="0" cy="3112994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6453D40C-27C6-A7C4-AC25-610AF18BF8B6}"/>
              </a:ext>
            </a:extLst>
          </p:cNvPr>
          <p:cNvCxnSpPr/>
          <p:nvPr/>
        </p:nvCxnSpPr>
        <p:spPr>
          <a:xfrm>
            <a:off x="6241317" y="4805083"/>
            <a:ext cx="5457624" cy="0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3F57337-29AD-201C-1DFB-4DD38BF4604D}"/>
              </a:ext>
            </a:extLst>
          </p:cNvPr>
          <p:cNvSpPr/>
          <p:nvPr/>
        </p:nvSpPr>
        <p:spPr>
          <a:xfrm>
            <a:off x="8632540" y="2825003"/>
            <a:ext cx="1049811" cy="166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C-SCAN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BDE24F8A-2570-0720-CFA8-B793E8CE15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8597156" y="418728"/>
            <a:ext cx="1595718" cy="504638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A5C5DB46-B9E4-2724-DD82-CF4E3F8FF7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10538014" y="409387"/>
            <a:ext cx="1595718" cy="504638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A0C11301-09B7-2591-3051-976A7FA0AD2A}"/>
              </a:ext>
            </a:extLst>
          </p:cNvPr>
          <p:cNvSpPr/>
          <p:nvPr/>
        </p:nvSpPr>
        <p:spPr>
          <a:xfrm>
            <a:off x="8507045" y="519136"/>
            <a:ext cx="744070" cy="186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Merge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BE60309-39DC-150F-C49F-EC7941381636}"/>
              </a:ext>
            </a:extLst>
          </p:cNvPr>
          <p:cNvSpPr/>
          <p:nvPr/>
        </p:nvSpPr>
        <p:spPr>
          <a:xfrm>
            <a:off x="9377086" y="510989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Max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CEAE354-CE58-EFE2-53BB-E41FF8811531}"/>
              </a:ext>
            </a:extLst>
          </p:cNvPr>
          <p:cNvSpPr/>
          <p:nvPr/>
        </p:nvSpPr>
        <p:spPr>
          <a:xfrm>
            <a:off x="9368119" y="699248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Mean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6135F9E-C4FF-649A-FB89-8304AADDEB60}"/>
              </a:ext>
            </a:extLst>
          </p:cNvPr>
          <p:cNvSpPr/>
          <p:nvPr/>
        </p:nvSpPr>
        <p:spPr>
          <a:xfrm>
            <a:off x="10403543" y="528916"/>
            <a:ext cx="793383" cy="198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Strectch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72E1466-506D-0DB0-BF4A-E28DCB358450}"/>
              </a:ext>
            </a:extLst>
          </p:cNvPr>
          <p:cNvSpPr/>
          <p:nvPr/>
        </p:nvSpPr>
        <p:spPr>
          <a:xfrm>
            <a:off x="11287037" y="508676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Abs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55FA478-58F4-C2C3-6E75-B5AA0D9593AC}"/>
              </a:ext>
            </a:extLst>
          </p:cNvPr>
          <p:cNvSpPr/>
          <p:nvPr/>
        </p:nvSpPr>
        <p:spPr>
          <a:xfrm>
            <a:off x="11313930" y="696936"/>
            <a:ext cx="793383" cy="1500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Relative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C7BDDE2F-7596-9607-AE61-8290A3FBFAEC}"/>
              </a:ext>
            </a:extLst>
          </p:cNvPr>
          <p:cNvCxnSpPr/>
          <p:nvPr/>
        </p:nvCxnSpPr>
        <p:spPr>
          <a:xfrm>
            <a:off x="6902356" y="536724"/>
            <a:ext cx="0" cy="320423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" name="그림 30">
            <a:extLst>
              <a:ext uri="{FF2B5EF4-FFF2-40B4-BE49-F238E27FC236}">
                <a16:creationId xmlns:a16="http://schemas.microsoft.com/office/drawing/2014/main" id="{A461AA12-4903-6C77-8516-55074B6347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427" y="495488"/>
            <a:ext cx="466725" cy="438150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B08B8F-3DB5-4707-80ED-D01FA9331099}"/>
              </a:ext>
            </a:extLst>
          </p:cNvPr>
          <p:cNvSpPr/>
          <p:nvPr/>
        </p:nvSpPr>
        <p:spPr>
          <a:xfrm>
            <a:off x="7113026" y="427316"/>
            <a:ext cx="877686" cy="2533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start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2A0503C-00B5-6736-417C-CC23BD7904E6}"/>
              </a:ext>
            </a:extLst>
          </p:cNvPr>
          <p:cNvSpPr/>
          <p:nvPr/>
        </p:nvSpPr>
        <p:spPr>
          <a:xfrm>
            <a:off x="7121990" y="687296"/>
            <a:ext cx="877686" cy="1909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end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15F3638-6E1F-32DE-7C12-788EA6F36870}"/>
              </a:ext>
            </a:extLst>
          </p:cNvPr>
          <p:cNvSpPr/>
          <p:nvPr/>
        </p:nvSpPr>
        <p:spPr>
          <a:xfrm>
            <a:off x="5956978" y="1249913"/>
            <a:ext cx="392787" cy="15328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100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200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300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400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500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600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83AAF20-5A9F-8570-659E-B050EC1F4C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5792184" y="1807508"/>
            <a:ext cx="266700" cy="381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4B8402-68D2-A570-CE98-2D8D9AFA8F5D}"/>
              </a:ext>
            </a:extLst>
          </p:cNvPr>
          <p:cNvSpPr txBox="1"/>
          <p:nvPr/>
        </p:nvSpPr>
        <p:spPr>
          <a:xfrm rot="10800000" flipV="1">
            <a:off x="5832531" y="4484587"/>
            <a:ext cx="369332" cy="6096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200" dirty="0"/>
              <a:t>Row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6803FE-9070-2381-1827-16F18872924E}"/>
              </a:ext>
            </a:extLst>
          </p:cNvPr>
          <p:cNvSpPr txBox="1"/>
          <p:nvPr/>
        </p:nvSpPr>
        <p:spPr>
          <a:xfrm rot="5400000">
            <a:off x="6017196" y="2877744"/>
            <a:ext cx="1846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48C8DC5-E9AD-9501-1E52-1068B1AEBDF5}"/>
              </a:ext>
            </a:extLst>
          </p:cNvPr>
          <p:cNvSpPr/>
          <p:nvPr/>
        </p:nvSpPr>
        <p:spPr>
          <a:xfrm>
            <a:off x="421338" y="502297"/>
            <a:ext cx="421325" cy="1767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00" dirty="0">
                <a:solidFill>
                  <a:schemeClr val="accent6"/>
                </a:solidFill>
              </a:rPr>
              <a:t>100</a:t>
            </a:r>
            <a:endParaRPr lang="ko-KR" altLang="en-US" sz="700" dirty="0">
              <a:solidFill>
                <a:schemeClr val="accent6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F0384B-52F3-88CC-79B5-B01B7866CEF8}"/>
              </a:ext>
            </a:extLst>
          </p:cNvPr>
          <p:cNvSpPr txBox="1"/>
          <p:nvPr/>
        </p:nvSpPr>
        <p:spPr>
          <a:xfrm rot="5400000">
            <a:off x="5715941" y="6006962"/>
            <a:ext cx="7117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/>
              <a:t>100</a:t>
            </a:r>
            <a:endParaRPr lang="ko-KR" altLang="en-US" sz="1100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A97B9D01-54AA-5B99-6CB6-87DDE7295DD5}"/>
              </a:ext>
            </a:extLst>
          </p:cNvPr>
          <p:cNvSpPr/>
          <p:nvPr/>
        </p:nvSpPr>
        <p:spPr>
          <a:xfrm>
            <a:off x="35860" y="491900"/>
            <a:ext cx="484093" cy="1909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open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3373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D8FA711-6144-919D-192B-E650E0645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338" y="966786"/>
            <a:ext cx="2276475" cy="32289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FE0A55C-D839-0831-1A05-83671E1B9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794" y="966786"/>
            <a:ext cx="3228975" cy="49244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3ECAD6-812E-A4DB-4A36-4BB23F10173F}"/>
              </a:ext>
            </a:extLst>
          </p:cNvPr>
          <p:cNvSpPr txBox="1"/>
          <p:nvPr/>
        </p:nvSpPr>
        <p:spPr>
          <a:xfrm>
            <a:off x="4831976" y="4509264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RENISHAW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Q4BC Z05D 08B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0.5um </a:t>
            </a:r>
            <a:r>
              <a:rPr lang="ko-KR" altLang="en-US" b="0" i="0" dirty="0">
                <a:effectLst/>
                <a:latin typeface="Google Sans Flex"/>
              </a:rPr>
              <a:t>리니어 스케일 헤더 제품</a:t>
            </a:r>
            <a:endParaRPr lang="en-US" altLang="ko-KR" b="0" i="0" dirty="0">
              <a:effectLst/>
              <a:latin typeface="Google Sans Flex"/>
            </a:endParaRPr>
          </a:p>
          <a:p>
            <a:pPr algn="l">
              <a:buNone/>
            </a:pPr>
            <a:endParaRPr lang="en-US" altLang="ko-KR" dirty="0">
              <a:latin typeface="Google Sans Flex"/>
            </a:endParaRP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TI0020A04A</a:t>
            </a: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3QNM83</a:t>
            </a:r>
            <a:endParaRPr lang="ko-KR" altLang="en-US" b="0" i="0" dirty="0">
              <a:effectLst/>
              <a:latin typeface="Google Sans Flex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AFF4ED3-DD4D-DE4E-B7AE-97738511D7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36" y="966786"/>
            <a:ext cx="4631564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9273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C19A696-E10F-C81F-3F25-2F5F6DBFA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04" y="385481"/>
            <a:ext cx="2583877" cy="5656169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5BC8D4E-DCD6-121F-BA71-836545D2C849}"/>
              </a:ext>
            </a:extLst>
          </p:cNvPr>
          <p:cNvCxnSpPr>
            <a:cxnSpLocks/>
          </p:cNvCxnSpPr>
          <p:nvPr/>
        </p:nvCxnSpPr>
        <p:spPr>
          <a:xfrm>
            <a:off x="1936376" y="896470"/>
            <a:ext cx="0" cy="496644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902BEC7D-C931-BD64-41C2-5FA51DA59790}"/>
              </a:ext>
            </a:extLst>
          </p:cNvPr>
          <p:cNvCxnSpPr/>
          <p:nvPr/>
        </p:nvCxnSpPr>
        <p:spPr>
          <a:xfrm>
            <a:off x="2644591" y="896470"/>
            <a:ext cx="0" cy="496644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327D16F7-65F8-33B8-2334-839F039D49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860"/>
          <a:stretch>
            <a:fillRect/>
          </a:stretch>
        </p:blipFill>
        <p:spPr>
          <a:xfrm rot="10800000">
            <a:off x="5647911" y="3098289"/>
            <a:ext cx="4359926" cy="169545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3684C66-1EF8-7B0F-806D-C06495B55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3812806" y="3284867"/>
            <a:ext cx="1114425" cy="26670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061E0259-E7A9-9E42-531D-5BA07AE39081}"/>
              </a:ext>
            </a:extLst>
          </p:cNvPr>
          <p:cNvSpPr/>
          <p:nvPr/>
        </p:nvSpPr>
        <p:spPr>
          <a:xfrm>
            <a:off x="1219200" y="1497106"/>
            <a:ext cx="179291" cy="17929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736BC2A-A47F-1463-0239-0E35A5277FD5}"/>
              </a:ext>
            </a:extLst>
          </p:cNvPr>
          <p:cNvSpPr/>
          <p:nvPr/>
        </p:nvSpPr>
        <p:spPr>
          <a:xfrm>
            <a:off x="1219200" y="1210235"/>
            <a:ext cx="179291" cy="17929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4E63B2-9045-2E84-B1AC-96E4F22AA528}"/>
              </a:ext>
            </a:extLst>
          </p:cNvPr>
          <p:cNvSpPr txBox="1"/>
          <p:nvPr/>
        </p:nvSpPr>
        <p:spPr>
          <a:xfrm>
            <a:off x="7264771" y="4980220"/>
            <a:ext cx="1132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스케일자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39F4A2-0CD3-8666-4A1A-598315832A81}"/>
              </a:ext>
            </a:extLst>
          </p:cNvPr>
          <p:cNvSpPr txBox="1"/>
          <p:nvPr/>
        </p:nvSpPr>
        <p:spPr>
          <a:xfrm>
            <a:off x="2830894" y="6225096"/>
            <a:ext cx="1539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스케일헤더</a:t>
            </a:r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D787BE83-CEC7-F2AB-52A1-8F84E00EA28D}"/>
              </a:ext>
            </a:extLst>
          </p:cNvPr>
          <p:cNvSpPr/>
          <p:nvPr/>
        </p:nvSpPr>
        <p:spPr>
          <a:xfrm>
            <a:off x="4589929" y="5567080"/>
            <a:ext cx="337302" cy="357891"/>
          </a:xfrm>
          <a:prstGeom prst="ellipse">
            <a:avLst/>
          </a:prstGeom>
          <a:noFill/>
          <a:ln>
            <a:solidFill>
              <a:srgbClr val="00E27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A6E0029-1429-F8CE-5DFA-373121575ACD}"/>
              </a:ext>
            </a:extLst>
          </p:cNvPr>
          <p:cNvSpPr/>
          <p:nvPr/>
        </p:nvSpPr>
        <p:spPr>
          <a:xfrm>
            <a:off x="4159622" y="3307973"/>
            <a:ext cx="337302" cy="357891"/>
          </a:xfrm>
          <a:prstGeom prst="ellipse">
            <a:avLst/>
          </a:prstGeom>
          <a:noFill/>
          <a:ln>
            <a:solidFill>
              <a:srgbClr val="00E27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CB0E83-5FF9-63E4-0D50-24265F35816A}"/>
              </a:ext>
            </a:extLst>
          </p:cNvPr>
          <p:cNvSpPr txBox="1"/>
          <p:nvPr/>
        </p:nvSpPr>
        <p:spPr>
          <a:xfrm>
            <a:off x="4972054" y="5636324"/>
            <a:ext cx="806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볼트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EB27680D-3069-F0EC-2246-7CC7537F6E46}"/>
              </a:ext>
            </a:extLst>
          </p:cNvPr>
          <p:cNvCxnSpPr/>
          <p:nvPr/>
        </p:nvCxnSpPr>
        <p:spPr>
          <a:xfrm>
            <a:off x="6011960" y="3701723"/>
            <a:ext cx="4405028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9DEF4011-57B9-17EF-D426-4AE7BD77FE7E}"/>
              </a:ext>
            </a:extLst>
          </p:cNvPr>
          <p:cNvCxnSpPr/>
          <p:nvPr/>
        </p:nvCxnSpPr>
        <p:spPr>
          <a:xfrm>
            <a:off x="6002995" y="4257537"/>
            <a:ext cx="4405028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E8B7624-FDB0-1851-6E4D-45B1AA3B9BD2}"/>
              </a:ext>
            </a:extLst>
          </p:cNvPr>
          <p:cNvSpPr txBox="1"/>
          <p:nvPr/>
        </p:nvSpPr>
        <p:spPr>
          <a:xfrm>
            <a:off x="4159622" y="1199669"/>
            <a:ext cx="711342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스케일 헤더 </a:t>
            </a:r>
            <a:r>
              <a:rPr lang="en-US" altLang="ko-KR" dirty="0"/>
              <a:t>Reader </a:t>
            </a:r>
            <a:r>
              <a:rPr lang="ko-KR" altLang="en-US" dirty="0"/>
              <a:t>부분 안에</a:t>
            </a:r>
            <a:r>
              <a:rPr lang="en-US" altLang="ko-KR" dirty="0"/>
              <a:t>, </a:t>
            </a:r>
            <a:r>
              <a:rPr lang="ko-KR" altLang="en-US" dirty="0"/>
              <a:t>동그라미 </a:t>
            </a:r>
            <a:r>
              <a:rPr lang="en-US" altLang="ko-KR" dirty="0"/>
              <a:t>(</a:t>
            </a:r>
            <a:r>
              <a:rPr lang="ko-KR" altLang="en-US" dirty="0"/>
              <a:t>렌즈</a:t>
            </a:r>
            <a:r>
              <a:rPr lang="en-US" altLang="ko-KR" dirty="0"/>
              <a:t>?) </a:t>
            </a:r>
            <a:r>
              <a:rPr lang="ko-KR" altLang="en-US" dirty="0"/>
              <a:t>구역이 있고</a:t>
            </a:r>
            <a:r>
              <a:rPr lang="en-US" altLang="ko-KR" dirty="0"/>
              <a:t>, </a:t>
            </a:r>
            <a:r>
              <a:rPr lang="ko-KR" altLang="en-US" dirty="0"/>
              <a:t> 선분들이 있는 구역이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Q.</a:t>
            </a:r>
            <a:r>
              <a:rPr lang="ko-KR" altLang="en-US" dirty="0"/>
              <a:t>스케일 자 안에 어떻게 배치하는 게 가장 </a:t>
            </a:r>
            <a:r>
              <a:rPr lang="en-US" altLang="ko-KR" dirty="0"/>
              <a:t>Read </a:t>
            </a:r>
            <a:r>
              <a:rPr lang="ko-KR" altLang="en-US" dirty="0"/>
              <a:t>효율이 좋을까</a:t>
            </a:r>
            <a:r>
              <a:rPr lang="en-US" altLang="ko-KR" dirty="0"/>
              <a:t>? </a:t>
            </a:r>
            <a:r>
              <a:rPr lang="ko-KR" altLang="en-US" dirty="0"/>
              <a:t>저 빨간 점선 들이</a:t>
            </a:r>
            <a:r>
              <a:rPr lang="en-US" altLang="ko-KR" dirty="0"/>
              <a:t>, </a:t>
            </a:r>
            <a:r>
              <a:rPr lang="ko-KR" altLang="en-US" dirty="0"/>
              <a:t>스케일 자 내부에 들어가는 게 가장 좋을까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AFB911F-DB13-1B88-15F1-94C74871B65E}"/>
              </a:ext>
            </a:extLst>
          </p:cNvPr>
          <p:cNvSpPr/>
          <p:nvPr/>
        </p:nvSpPr>
        <p:spPr>
          <a:xfrm>
            <a:off x="9269506" y="2859741"/>
            <a:ext cx="591670" cy="2120477"/>
          </a:xfrm>
          <a:prstGeom prst="rect">
            <a:avLst/>
          </a:prstGeom>
          <a:noFill/>
          <a:ln>
            <a:solidFill>
              <a:srgbClr val="00E276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4748B7-9CDC-75A9-4E8A-C74410BFF2EF}"/>
              </a:ext>
            </a:extLst>
          </p:cNvPr>
          <p:cNvSpPr txBox="1"/>
          <p:nvPr/>
        </p:nvSpPr>
        <p:spPr>
          <a:xfrm>
            <a:off x="9841567" y="4763288"/>
            <a:ext cx="1722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실선 </a:t>
            </a:r>
            <a:r>
              <a:rPr lang="en-US" altLang="ko-KR" dirty="0"/>
              <a:t>: </a:t>
            </a:r>
            <a:r>
              <a:rPr lang="ko-KR" altLang="en-US" dirty="0"/>
              <a:t>레퍼런스 마크 </a:t>
            </a:r>
            <a:r>
              <a:rPr lang="en-US" altLang="ko-KR" dirty="0"/>
              <a:t>5mm </a:t>
            </a:r>
            <a:r>
              <a:rPr lang="ko-KR" altLang="en-US" dirty="0"/>
              <a:t>마다 인쇄되어 있음</a:t>
            </a:r>
          </a:p>
        </p:txBody>
      </p:sp>
    </p:spTree>
    <p:extLst>
      <p:ext uri="{BB962C8B-B14F-4D97-AF65-F5344CB8AC3E}">
        <p14:creationId xmlns:p14="http://schemas.microsoft.com/office/powerpoint/2010/main" val="35962319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8C0DCED-4C5E-1358-DB08-26757A66A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72" y="1111623"/>
            <a:ext cx="3404819" cy="5437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E84BAE-8BF5-C130-E11C-3021B381CE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4826" y="325530"/>
            <a:ext cx="5600700" cy="63817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6F46123-8A5C-770C-D631-77D9F96540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0288" y="325530"/>
            <a:ext cx="1745695" cy="1828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9370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3C711C4-40D5-2C92-6395-778BB9305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964" y="0"/>
            <a:ext cx="97880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7985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617C356-F7A0-C8A9-A7F8-2CB8CAC82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701" y="0"/>
            <a:ext cx="67165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0553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79BD68C-2D09-A5A7-2AB2-E0AB2FA10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708" y="0"/>
            <a:ext cx="102685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4631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F3CFD6C-918C-B56E-0DAF-38FADBFF8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16" y="759848"/>
            <a:ext cx="11120284" cy="59076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C1E0C5-5C11-8332-737A-387409B87A52}"/>
              </a:ext>
            </a:extLst>
          </p:cNvPr>
          <p:cNvSpPr txBox="1"/>
          <p:nvPr/>
        </p:nvSpPr>
        <p:spPr>
          <a:xfrm>
            <a:off x="226142" y="78658"/>
            <a:ext cx="2526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Step10.py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48005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CED7D-A951-7857-8306-A99194234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FE459CB-DF2C-705D-B02D-EBD620946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91331" y="135347"/>
            <a:ext cx="6286500" cy="64103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AACBE7-26E3-8701-1EA7-FADB6662D4E4}"/>
              </a:ext>
            </a:extLst>
          </p:cNvPr>
          <p:cNvSpPr txBox="1"/>
          <p:nvPr/>
        </p:nvSpPr>
        <p:spPr>
          <a:xfrm>
            <a:off x="7226709" y="1398918"/>
            <a:ext cx="45720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dirty="0"/>
              <a:t>상속은 "이미 만들어진 클래스(부모)의 기능(변수, 함수)을 물려받아, 새로운 클래스(자식)</a:t>
            </a:r>
            <a:r>
              <a:rPr lang="ko-KR" altLang="ko-KR" dirty="0" err="1"/>
              <a:t>를</a:t>
            </a:r>
            <a:r>
              <a:rPr lang="ko-KR" altLang="ko-KR" dirty="0"/>
              <a:t> 만드는 </a:t>
            </a:r>
            <a:r>
              <a:rPr lang="ko-KR" altLang="ko-KR" dirty="0" err="1"/>
              <a:t>것"입니다</a:t>
            </a:r>
            <a:r>
              <a:rPr lang="ko-KR" altLang="ko-KR" dirty="0"/>
              <a:t>.</a:t>
            </a:r>
            <a:endParaRPr lang="en-US" altLang="ko-KR" dirty="0"/>
          </a:p>
          <a:p>
            <a:pPr>
              <a:buNone/>
            </a:pPr>
            <a:endParaRPr lang="ko-KR" altLang="ko-KR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b="1" dirty="0"/>
              <a:t>부모 클래스 (</a:t>
            </a:r>
            <a:r>
              <a:rPr lang="ko-KR" altLang="ko-KR" b="1" dirty="0" err="1"/>
              <a:t>Parent</a:t>
            </a:r>
            <a:r>
              <a:rPr lang="ko-KR" altLang="ko-KR" b="1" dirty="0"/>
              <a:t>/Super </a:t>
            </a:r>
            <a:r>
              <a:rPr lang="ko-KR" altLang="ko-KR" b="1" dirty="0" err="1"/>
              <a:t>Class</a:t>
            </a:r>
            <a:r>
              <a:rPr lang="ko-KR" altLang="ko-KR" b="1" dirty="0"/>
              <a:t>):</a:t>
            </a:r>
            <a:r>
              <a:rPr lang="ko-KR" altLang="ko-KR" dirty="0"/>
              <a:t> 기능을 물려주는 원본 클래스 (예: 포괄적인 개념 - '자동차’)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altLang="ko-KR" b="1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b="1"/>
              <a:t>자식 </a:t>
            </a:r>
            <a:r>
              <a:rPr lang="ko-KR" altLang="ko-KR" b="1" dirty="0"/>
              <a:t>클래스 (</a:t>
            </a:r>
            <a:r>
              <a:rPr lang="ko-KR" altLang="ko-KR" b="1" dirty="0" err="1"/>
              <a:t>Child</a:t>
            </a:r>
            <a:r>
              <a:rPr lang="ko-KR" altLang="ko-KR" b="1" dirty="0"/>
              <a:t>/</a:t>
            </a:r>
            <a:r>
              <a:rPr lang="ko-KR" altLang="ko-KR" b="1" dirty="0" err="1"/>
              <a:t>Sub</a:t>
            </a:r>
            <a:r>
              <a:rPr lang="ko-KR" altLang="ko-KR" b="1" dirty="0"/>
              <a:t> </a:t>
            </a:r>
            <a:r>
              <a:rPr lang="ko-KR" altLang="ko-KR" b="1" dirty="0" err="1"/>
              <a:t>Class</a:t>
            </a:r>
            <a:r>
              <a:rPr lang="ko-KR" altLang="ko-KR" b="1" dirty="0"/>
              <a:t>):</a:t>
            </a:r>
            <a:r>
              <a:rPr lang="ko-KR" altLang="ko-KR" dirty="0"/>
              <a:t> 기능을 물려받는 새로운 클래스 (예: 구체적인 개념 - '스포츠카’)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ko-KR" altLang="ko-KR" b="1" dirty="0"/>
              <a:t>현실 세계 비유:</a:t>
            </a:r>
            <a:r>
              <a:rPr lang="ko-KR" altLang="ko-KR" dirty="0"/>
              <a:t> 부모님이 부 부(재산, 재능)</a:t>
            </a:r>
            <a:r>
              <a:rPr lang="ko-KR" altLang="ko-KR" dirty="0" err="1"/>
              <a:t>를</a:t>
            </a:r>
            <a:r>
              <a:rPr lang="ko-KR" altLang="ko-KR" dirty="0"/>
              <a:t> 자식에게 상속하면, 자식은 부모님의 재산을 가지면서 동시에 자신만의 새로운 재산을 쌓을 수 있는 것과 같습니다.</a:t>
            </a:r>
          </a:p>
        </p:txBody>
      </p:sp>
    </p:spTree>
    <p:extLst>
      <p:ext uri="{BB962C8B-B14F-4D97-AF65-F5344CB8AC3E}">
        <p14:creationId xmlns:p14="http://schemas.microsoft.com/office/powerpoint/2010/main" val="12017708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4365B-BD61-805F-9BB2-BF43CE25B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FD2740A-2A95-F6CA-614E-081B3C8C6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3118"/>
          <a:stretch>
            <a:fillRect/>
          </a:stretch>
        </p:blipFill>
        <p:spPr>
          <a:xfrm>
            <a:off x="0" y="127819"/>
            <a:ext cx="12093677" cy="5181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9286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74C8029-78B0-6AF3-336C-FD57448840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>
          <a:xfrm>
            <a:off x="76395" y="678426"/>
            <a:ext cx="12039210" cy="5501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56041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FE6033B-5706-ACA7-D32A-424E2459D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3100" cy="32289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4627CCB-9243-6B25-787D-7600FB834F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243"/>
          <a:stretch>
            <a:fillRect/>
          </a:stretch>
        </p:blipFill>
        <p:spPr>
          <a:xfrm>
            <a:off x="2871018" y="3276216"/>
            <a:ext cx="9320981" cy="358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2561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1897</TotalTime>
  <Words>1349</Words>
  <Application>Microsoft Office PowerPoint</Application>
  <PresentationFormat>와이드스크린</PresentationFormat>
  <Paragraphs>202</Paragraphs>
  <Slides>45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3" baseType="lpstr">
      <vt:lpstr>Google Sans Flex</vt:lpstr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양회현</cp:lastModifiedBy>
  <cp:revision>37</cp:revision>
  <dcterms:created xsi:type="dcterms:W3CDTF">2026-08-23T23:35:07Z</dcterms:created>
  <dcterms:modified xsi:type="dcterms:W3CDTF">2026-10-22T05:46:59Z</dcterms:modified>
</cp:coreProperties>
</file>