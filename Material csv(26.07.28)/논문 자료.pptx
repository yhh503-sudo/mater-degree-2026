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6"/>
  </p:notesMasterIdLst>
  <p:sldIdLst>
    <p:sldId id="256" r:id="rId2"/>
    <p:sldId id="1577" r:id="rId3"/>
    <p:sldId id="1578" r:id="rId4"/>
    <p:sldId id="1579" r:id="rId5"/>
    <p:sldId id="1580" r:id="rId6"/>
    <p:sldId id="1581" r:id="rId7"/>
    <p:sldId id="1582" r:id="rId8"/>
    <p:sldId id="1583" r:id="rId9"/>
    <p:sldId id="1584" r:id="rId10"/>
    <p:sldId id="1585" r:id="rId11"/>
    <p:sldId id="1596" r:id="rId12"/>
    <p:sldId id="1586" r:id="rId13"/>
    <p:sldId id="1588" r:id="rId14"/>
    <p:sldId id="1591" r:id="rId15"/>
    <p:sldId id="1589" r:id="rId16"/>
    <p:sldId id="1590" r:id="rId17"/>
    <p:sldId id="1592" r:id="rId18"/>
    <p:sldId id="1593" r:id="rId19"/>
    <p:sldId id="1594" r:id="rId20"/>
    <p:sldId id="1595" r:id="rId21"/>
    <p:sldId id="1597" r:id="rId22"/>
    <p:sldId id="1598" r:id="rId23"/>
    <p:sldId id="1599" r:id="rId24"/>
    <p:sldId id="1600" r:id="rId2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750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CADD0A9-ECE3-4046-AAEC-24AACBBB2F3E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4E6EFEF-B488-4401-9D81-0EE426595D8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5610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CB1949-7D16-449C-A13E-547710A7B598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561335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CB1949-7D16-449C-A13E-547710A7B598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8872492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CB1949-7D16-449C-A13E-547710A7B598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57675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CB1949-7D16-449C-A13E-547710A7B598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248644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49FE657-7742-E0C5-D4A8-F577E68EB3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FEF8CA0-86EC-42C4-AAF0-62A24D3C6BF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7D47F0-9976-F843-DD7B-8580286524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7344BE4-F112-668C-1EDE-26149663F8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5970829-1E3A-B922-11B3-B96805DDDF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22010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17A8FFE-D795-B6BA-28DE-F6EC4E18BF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49E831B-0393-F000-C5FE-A4307A58F0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926D494-DF0A-3E16-C1ED-B31842215F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68C0161-C039-C82C-C6E6-C8E3A97263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728277A-A1CF-B86A-16F3-8BFD528E12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92679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31AE3CC-10E5-C5D8-32B2-F1B1988363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48E34B-06F2-6B2B-22E5-5F1F1C8CEF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263D840-3769-0D7D-A9B4-4019E24140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F877B21-5102-A863-AB4A-F744052102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55BF295-6A23-AE1E-38BA-8966A62B12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163577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948962-97E7-B041-D172-45DAF9B626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B254D94-F4CA-1F06-8AF6-0587D075B5B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7854417-D1B3-EC71-7A5D-43F8CB619C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99D2A6E-89C1-A574-4FB8-1735F07E84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8074CCD-E2AD-6FC5-4EB2-697B302562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91BAB2F-F559-131D-BADF-C6EC4E0005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23219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2C9785-F695-467E-6325-592C76DF40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8DAA1AA-C835-D371-A526-559BA3E223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5205F4C-F3E5-2A71-D955-DF6EA2DDF3B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60973A42-A4B7-1B43-FF52-111A089A5B7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AD3DCF10-348B-8B59-2F2F-613BD2DC2AA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BD12FF44-2F58-CA31-9970-DAD07319DC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0FEA5CA7-192A-DB3E-40E0-8A3258F6A1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63C0A00A-5BAE-99FC-4E22-8778CC61AC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37284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7A7DE7D-3284-FAF5-5AE0-E6149479A9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BA3FF4FE-BF05-CC3A-B131-528CF0844D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FF5032F-7925-89BC-1C51-C0B89D8D12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ED506BF-4AE3-2F69-BE16-09E9D1634E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780813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B63006D0-8030-1B61-0182-8113EFD2EE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C1E45945-7B77-08C0-C9F4-AA5EFE5273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0842093-EC89-7D09-B6D0-A1CC5DABA4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61277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2ABED0-9C48-4779-0B68-4496A59757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B20EF03-C908-54F0-83BD-2D35140FF1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E3A9D77-EA9B-AF5E-11EE-87AC6B3C48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93A5143-CAB1-919C-60CB-E7F30CBB0A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3487EB5-65EE-ED42-132D-8C383CA70A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76123F2-4D3B-AFFF-2845-4806FC3B14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399822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8F1A39-C58F-530A-E517-03989507A0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F558D83B-F9A9-8965-3F28-806761934DC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C0D8B5E-8866-9D23-A557-072AC53D78A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D600DB3-6605-B6C2-B2C8-E6A36AC626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44E0ACB-95DE-5C3C-3882-0810249A25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364C1CC-56EB-2A70-C27F-1F632B6321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099558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270D868-0C29-162C-3684-D0FF39D5BB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5F6B9A7-2CC9-E678-2416-CEA064EA15A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DF7D980-68CB-7392-522A-DB8CEF82ED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996932F-CF14-8C69-6968-AC481C19E0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C9078F7-A344-D772-BDA6-8A7FBEA0EB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075622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BCA105C5-AA27-92F5-F4AD-F4805F8293C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FD60020-D92B-43F4-5E81-F33711ED803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A26DE57-161F-DF8F-69B3-3A36C3DFF1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CA214E7-8AEB-E224-CAAF-550CBC8361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9816F71-D356-F95F-41C6-5C6A90E3D9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249084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FE32B564-2980-6ABB-902E-68753CB8DC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FC6AF4B-992C-22CD-24FE-4316E43884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BA7F7DA-A919-524C-EF9D-CDA4175ACBF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1AFF881-97E8-4F41-BDDF-BD69BA0EFE12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25B5486-C54B-DEBA-C96C-6852944607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234AED7-67FA-4D44-9220-A315A875D76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990844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jpg"/><Relationship Id="rId3" Type="http://schemas.openxmlformats.org/officeDocument/2006/relationships/image" Target="../media/image14.jpg"/><Relationship Id="rId7" Type="http://schemas.openxmlformats.org/officeDocument/2006/relationships/image" Target="../media/image18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jpg"/><Relationship Id="rId11" Type="http://schemas.openxmlformats.org/officeDocument/2006/relationships/image" Target="../media/image22.jpg"/><Relationship Id="rId5" Type="http://schemas.openxmlformats.org/officeDocument/2006/relationships/image" Target="../media/image16.jpg"/><Relationship Id="rId10" Type="http://schemas.openxmlformats.org/officeDocument/2006/relationships/image" Target="../media/image21.jpg"/><Relationship Id="rId4" Type="http://schemas.openxmlformats.org/officeDocument/2006/relationships/image" Target="../media/image15.jpg"/><Relationship Id="rId9" Type="http://schemas.openxmlformats.org/officeDocument/2006/relationships/image" Target="../media/image20.jp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2.png"/><Relationship Id="rId4" Type="http://schemas.openxmlformats.org/officeDocument/2006/relationships/hyperlink" Target="https://doi.org/10.1049/pel2.70185" TargetMode="Externa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ndtmachine.com/ko/knowledge/a-scan-in-ultrasonic-testing/" TargetMode="Externa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ACFECAE-EF7D-F08B-BED4-D8C161AD280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논문 자료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5050E3B6-0C88-DE38-6357-7ACE5081A80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86745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0CB5E277-D48D-94ED-1E05-6EEDC52FF5A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5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55510" y="310243"/>
            <a:ext cx="11880979" cy="6237514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67CAEF12-9364-7A46-29DC-5FB2C62C3F6F}"/>
              </a:ext>
            </a:extLst>
          </p:cNvPr>
          <p:cNvSpPr/>
          <p:nvPr/>
        </p:nvSpPr>
        <p:spPr>
          <a:xfrm>
            <a:off x="155510" y="500743"/>
            <a:ext cx="12036490" cy="892628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5251DD3-2FF0-3691-9897-19BA3CEA279C}"/>
              </a:ext>
            </a:extLst>
          </p:cNvPr>
          <p:cNvSpPr/>
          <p:nvPr/>
        </p:nvSpPr>
        <p:spPr>
          <a:xfrm>
            <a:off x="0" y="1469570"/>
            <a:ext cx="12289971" cy="5170715"/>
          </a:xfrm>
          <a:prstGeom prst="rect">
            <a:avLst/>
          </a:prstGeom>
          <a:noFill/>
          <a:ln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911585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15DC4C-C907-A62A-67D2-2308155DD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직사각형 10">
            <a:extLst>
              <a:ext uri="{FF2B5EF4-FFF2-40B4-BE49-F238E27FC236}">
                <a16:creationId xmlns:a16="http://schemas.microsoft.com/office/drawing/2014/main" id="{300A5292-1119-012B-D6BC-DC419329A996}"/>
              </a:ext>
            </a:extLst>
          </p:cNvPr>
          <p:cNvSpPr/>
          <p:nvPr/>
        </p:nvSpPr>
        <p:spPr>
          <a:xfrm>
            <a:off x="0" y="1583073"/>
            <a:ext cx="12192000" cy="89415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20B2C1F8-47A0-C5C6-C85F-7EFCC77DCB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23379"/>
            <a:ext cx="12192000" cy="724699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39BC17D8-2DF1-7F9B-AF3E-7C70E6BF7A6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68839" b="15021"/>
          <a:stretch>
            <a:fillRect/>
          </a:stretch>
        </p:blipFill>
        <p:spPr>
          <a:xfrm>
            <a:off x="0" y="1583073"/>
            <a:ext cx="3799114" cy="491787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2F95E58A-A516-1869-CCED-F1CE4BFFBB2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2232" t="15021" r="42857"/>
          <a:stretch>
            <a:fillRect/>
          </a:stretch>
        </p:blipFill>
        <p:spPr>
          <a:xfrm>
            <a:off x="2585357" y="1976588"/>
            <a:ext cx="3037114" cy="49178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33B6EE4-5265-0D24-C10F-CC191B7D8716}"/>
              </a:ext>
            </a:extLst>
          </p:cNvPr>
          <p:cNvSpPr txBox="1"/>
          <p:nvPr/>
        </p:nvSpPr>
        <p:spPr>
          <a:xfrm>
            <a:off x="6204857" y="1825679"/>
            <a:ext cx="2122713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300" dirty="0"/>
              <a:t>Align </a:t>
            </a:r>
            <a:r>
              <a:rPr lang="en-US" altLang="ko-KR" sz="1300" dirty="0" err="1"/>
              <a:t>Mathod</a:t>
            </a:r>
            <a:r>
              <a:rPr lang="en-US" altLang="ko-KR" sz="1300" dirty="0"/>
              <a:t>:</a:t>
            </a:r>
            <a:endParaRPr lang="ko-KR" altLang="en-US" sz="13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02FB221-FFB9-C8A1-9A17-A65E6476E7C7}"/>
              </a:ext>
            </a:extLst>
          </p:cNvPr>
          <p:cNvSpPr txBox="1"/>
          <p:nvPr/>
        </p:nvSpPr>
        <p:spPr>
          <a:xfrm>
            <a:off x="7739740" y="2218223"/>
            <a:ext cx="2122713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300" dirty="0"/>
              <a:t>Neg Min</a:t>
            </a:r>
            <a:endParaRPr lang="ko-KR" altLang="en-US" sz="13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D6BE46A-CEF9-3D03-8CEF-6358CBE2440F}"/>
              </a:ext>
            </a:extLst>
          </p:cNvPr>
          <p:cNvSpPr txBox="1"/>
          <p:nvPr/>
        </p:nvSpPr>
        <p:spPr>
          <a:xfrm>
            <a:off x="7717971" y="1833447"/>
            <a:ext cx="2122713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300" dirty="0"/>
              <a:t>Envelope Peak</a:t>
            </a:r>
            <a:endParaRPr lang="ko-KR" altLang="en-US" sz="13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CCABBFF-4548-15AE-008D-5DDA3010FE59}"/>
              </a:ext>
            </a:extLst>
          </p:cNvPr>
          <p:cNvSpPr txBox="1"/>
          <p:nvPr/>
        </p:nvSpPr>
        <p:spPr>
          <a:xfrm>
            <a:off x="9954985" y="1890994"/>
            <a:ext cx="2122713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300" dirty="0"/>
              <a:t>Pos Max</a:t>
            </a:r>
            <a:endParaRPr lang="ko-KR" altLang="en-US" sz="13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18B979E-F55A-99E6-BE93-945C7BE22CFB}"/>
              </a:ext>
            </a:extLst>
          </p:cNvPr>
          <p:cNvSpPr txBox="1"/>
          <p:nvPr/>
        </p:nvSpPr>
        <p:spPr>
          <a:xfrm>
            <a:off x="9954985" y="2218223"/>
            <a:ext cx="2122713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300" dirty="0"/>
              <a:t>Cross Corr</a:t>
            </a:r>
            <a:endParaRPr lang="ko-KR" altLang="en-US" sz="1300" dirty="0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B6146420-3410-B399-2988-36A7D42E95AF}"/>
              </a:ext>
            </a:extLst>
          </p:cNvPr>
          <p:cNvSpPr/>
          <p:nvPr/>
        </p:nvSpPr>
        <p:spPr>
          <a:xfrm>
            <a:off x="7543800" y="1890994"/>
            <a:ext cx="174171" cy="156472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6" name="타원 25">
            <a:extLst>
              <a:ext uri="{FF2B5EF4-FFF2-40B4-BE49-F238E27FC236}">
                <a16:creationId xmlns:a16="http://schemas.microsoft.com/office/drawing/2014/main" id="{0D113D67-DB83-10B9-74E7-8C9835A82248}"/>
              </a:ext>
            </a:extLst>
          </p:cNvPr>
          <p:cNvSpPr/>
          <p:nvPr/>
        </p:nvSpPr>
        <p:spPr>
          <a:xfrm>
            <a:off x="7543800" y="2281935"/>
            <a:ext cx="174171" cy="156472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633639D3-3AC6-4E74-5B61-0966415A28F9}"/>
              </a:ext>
            </a:extLst>
          </p:cNvPr>
          <p:cNvSpPr/>
          <p:nvPr/>
        </p:nvSpPr>
        <p:spPr>
          <a:xfrm>
            <a:off x="9775370" y="1858337"/>
            <a:ext cx="174171" cy="156472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9FFA2C9D-0A98-57EB-2FC1-28861FF3A97E}"/>
              </a:ext>
            </a:extLst>
          </p:cNvPr>
          <p:cNvSpPr/>
          <p:nvPr/>
        </p:nvSpPr>
        <p:spPr>
          <a:xfrm>
            <a:off x="9775368" y="2304652"/>
            <a:ext cx="174171" cy="156472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1" name="화살표: 아래쪽 30">
            <a:extLst>
              <a:ext uri="{FF2B5EF4-FFF2-40B4-BE49-F238E27FC236}">
                <a16:creationId xmlns:a16="http://schemas.microsoft.com/office/drawing/2014/main" id="{13BC2A8A-088C-D883-C531-109A73A67935}"/>
              </a:ext>
            </a:extLst>
          </p:cNvPr>
          <p:cNvSpPr/>
          <p:nvPr/>
        </p:nvSpPr>
        <p:spPr>
          <a:xfrm>
            <a:off x="4484914" y="1079209"/>
            <a:ext cx="1415143" cy="396604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697423F-4275-1E2E-9B53-6D158B66F226}"/>
              </a:ext>
            </a:extLst>
          </p:cNvPr>
          <p:cNvSpPr txBox="1"/>
          <p:nvPr/>
        </p:nvSpPr>
        <p:spPr>
          <a:xfrm>
            <a:off x="152400" y="0"/>
            <a:ext cx="22206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UI </a:t>
            </a:r>
            <a:r>
              <a:rPr lang="ko-KR" altLang="en-US" dirty="0"/>
              <a:t>개편 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034DAAE-AEC7-BCFB-9834-836E5E60A4E9}"/>
              </a:ext>
            </a:extLst>
          </p:cNvPr>
          <p:cNvSpPr txBox="1"/>
          <p:nvPr/>
        </p:nvSpPr>
        <p:spPr>
          <a:xfrm>
            <a:off x="152400" y="2799224"/>
            <a:ext cx="22206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UI </a:t>
            </a:r>
            <a:r>
              <a:rPr lang="ko-KR" altLang="en-US" dirty="0"/>
              <a:t>개편 </a:t>
            </a:r>
            <a:r>
              <a:rPr lang="en-US" altLang="ko-KR" dirty="0"/>
              <a:t>2</a:t>
            </a:r>
            <a:endParaRPr lang="ko-KR" altLang="en-US" dirty="0"/>
          </a:p>
        </p:txBody>
      </p:sp>
      <p:pic>
        <p:nvPicPr>
          <p:cNvPr id="36" name="그림 35">
            <a:extLst>
              <a:ext uri="{FF2B5EF4-FFF2-40B4-BE49-F238E27FC236}">
                <a16:creationId xmlns:a16="http://schemas.microsoft.com/office/drawing/2014/main" id="{6F5CF918-90F1-FEC0-5E71-DC61EE0ED53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6631" r="4357"/>
          <a:stretch>
            <a:fillRect/>
          </a:stretch>
        </p:blipFill>
        <p:spPr>
          <a:xfrm>
            <a:off x="7652651" y="3091542"/>
            <a:ext cx="4539349" cy="3507659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25479435-990B-6010-F654-1E5CEF9A3A6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216" y="3700954"/>
            <a:ext cx="4566556" cy="2024498"/>
          </a:xfrm>
          <a:prstGeom prst="rect">
            <a:avLst/>
          </a:prstGeom>
        </p:spPr>
      </p:pic>
      <p:sp>
        <p:nvSpPr>
          <p:cNvPr id="39" name="화살표: 오른쪽 38">
            <a:extLst>
              <a:ext uri="{FF2B5EF4-FFF2-40B4-BE49-F238E27FC236}">
                <a16:creationId xmlns:a16="http://schemas.microsoft.com/office/drawing/2014/main" id="{DBA3B509-4CD3-F4FA-3696-31B828CD9933}"/>
              </a:ext>
            </a:extLst>
          </p:cNvPr>
          <p:cNvSpPr/>
          <p:nvPr/>
        </p:nvSpPr>
        <p:spPr>
          <a:xfrm>
            <a:off x="4724400" y="4434203"/>
            <a:ext cx="522514" cy="79465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1" name="그림 40">
            <a:extLst>
              <a:ext uri="{FF2B5EF4-FFF2-40B4-BE49-F238E27FC236}">
                <a16:creationId xmlns:a16="http://schemas.microsoft.com/office/drawing/2014/main" id="{F3D4D8DB-19C8-F0C2-C090-4DF2ACC69BA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792" r="48507" b="11417"/>
          <a:stretch>
            <a:fillRect/>
          </a:stretch>
        </p:blipFill>
        <p:spPr>
          <a:xfrm>
            <a:off x="5246914" y="2904961"/>
            <a:ext cx="2220686" cy="1790743"/>
          </a:xfrm>
          <a:prstGeom prst="rect">
            <a:avLst/>
          </a:prstGeom>
        </p:spPr>
      </p:pic>
      <p:pic>
        <p:nvPicPr>
          <p:cNvPr id="43" name="그림 42">
            <a:extLst>
              <a:ext uri="{FF2B5EF4-FFF2-40B4-BE49-F238E27FC236}">
                <a16:creationId xmlns:a16="http://schemas.microsoft.com/office/drawing/2014/main" id="{65535E0D-0C05-C5F5-7A1B-8700DBD0378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53470" t="-1713" r="812" b="1713"/>
          <a:stretch>
            <a:fillRect/>
          </a:stretch>
        </p:blipFill>
        <p:spPr>
          <a:xfrm>
            <a:off x="5372094" y="4720822"/>
            <a:ext cx="2095506" cy="2032071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1D4DBFC6-E25B-AF62-AC3F-BCF32E703DE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92472"/>
          <a:stretch>
            <a:fillRect/>
          </a:stretch>
        </p:blipFill>
        <p:spPr>
          <a:xfrm>
            <a:off x="5372094" y="6599201"/>
            <a:ext cx="6648450" cy="2218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70619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69686B54-C165-6EBC-E3A6-A64D7FFAFF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3186278" cy="6858000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1F4FA735-9372-653C-6C73-498063265A41}"/>
              </a:ext>
            </a:extLst>
          </p:cNvPr>
          <p:cNvSpPr/>
          <p:nvPr/>
        </p:nvSpPr>
        <p:spPr>
          <a:xfrm>
            <a:off x="555171" y="0"/>
            <a:ext cx="642258" cy="26125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5-1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69900E63-8410-9CFA-509A-A62C4F65579A}"/>
              </a:ext>
            </a:extLst>
          </p:cNvPr>
          <p:cNvSpPr/>
          <p:nvPr/>
        </p:nvSpPr>
        <p:spPr>
          <a:xfrm>
            <a:off x="544285" y="4180115"/>
            <a:ext cx="642258" cy="26125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5-3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2D3A5B79-FC91-EA73-62B1-0D021BF41FC2}"/>
              </a:ext>
            </a:extLst>
          </p:cNvPr>
          <p:cNvSpPr/>
          <p:nvPr/>
        </p:nvSpPr>
        <p:spPr>
          <a:xfrm>
            <a:off x="468085" y="2764971"/>
            <a:ext cx="642258" cy="26125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5-2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324ABE6F-BF33-539F-5664-63D72BE9B265}"/>
              </a:ext>
            </a:extLst>
          </p:cNvPr>
          <p:cNvSpPr/>
          <p:nvPr/>
        </p:nvSpPr>
        <p:spPr>
          <a:xfrm>
            <a:off x="555171" y="5464630"/>
            <a:ext cx="642258" cy="26125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5-4</a:t>
            </a:r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075509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73CF40D1-0C17-8839-0FE9-5059C2EDF12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77766"/>
          <a:stretch>
            <a:fillRect/>
          </a:stretch>
        </p:blipFill>
        <p:spPr>
          <a:xfrm>
            <a:off x="0" y="0"/>
            <a:ext cx="12192000" cy="1333624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74F956DC-5BF1-62A4-BE6C-0AE8EE3005B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77766"/>
          <a:stretch>
            <a:fillRect/>
          </a:stretch>
        </p:blipFill>
        <p:spPr>
          <a:xfrm>
            <a:off x="0" y="1763485"/>
            <a:ext cx="12192000" cy="1333624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662B09DB-DAC9-2AB1-6B1F-6AA7BF0E18B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2143" t="9982" r="35625" b="84755"/>
          <a:stretch>
            <a:fillRect/>
          </a:stretch>
        </p:blipFill>
        <p:spPr>
          <a:xfrm>
            <a:off x="195943" y="2667000"/>
            <a:ext cx="3929744" cy="315686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726E54AF-3CD8-7A02-2FC9-70C4E7DF4D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64136" y="2315936"/>
            <a:ext cx="4381500" cy="666750"/>
          </a:xfrm>
          <a:prstGeom prst="rect">
            <a:avLst/>
          </a:prstGeom>
        </p:spPr>
      </p:pic>
      <p:sp>
        <p:nvSpPr>
          <p:cNvPr id="16" name="직사각형 15">
            <a:extLst>
              <a:ext uri="{FF2B5EF4-FFF2-40B4-BE49-F238E27FC236}">
                <a16:creationId xmlns:a16="http://schemas.microsoft.com/office/drawing/2014/main" id="{32604983-F1F4-AE64-03E0-2386BE3BF7E5}"/>
              </a:ext>
            </a:extLst>
          </p:cNvPr>
          <p:cNvSpPr/>
          <p:nvPr/>
        </p:nvSpPr>
        <p:spPr>
          <a:xfrm>
            <a:off x="3962401" y="2280558"/>
            <a:ext cx="3001736" cy="3864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1645FAFA-9D8B-F90D-5DC0-6188C61CB228}"/>
              </a:ext>
            </a:extLst>
          </p:cNvPr>
          <p:cNvCxnSpPr/>
          <p:nvPr/>
        </p:nvCxnSpPr>
        <p:spPr>
          <a:xfrm>
            <a:off x="7040338" y="2280558"/>
            <a:ext cx="0" cy="615042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화살표: 아래쪽 18">
            <a:extLst>
              <a:ext uri="{FF2B5EF4-FFF2-40B4-BE49-F238E27FC236}">
                <a16:creationId xmlns:a16="http://schemas.microsoft.com/office/drawing/2014/main" id="{DFA5A4A3-96DB-6602-B000-108951F12796}"/>
              </a:ext>
            </a:extLst>
          </p:cNvPr>
          <p:cNvSpPr/>
          <p:nvPr/>
        </p:nvSpPr>
        <p:spPr>
          <a:xfrm>
            <a:off x="5007429" y="1333624"/>
            <a:ext cx="849085" cy="38644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405403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Image">
            <a:extLst>
              <a:ext uri="{FF2B5EF4-FFF2-40B4-BE49-F238E27FC236}">
                <a16:creationId xmlns:a16="http://schemas.microsoft.com/office/drawing/2014/main" id="{20266196-8738-03FC-D1DF-A142047BDD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179613"/>
            <a:ext cx="12205687" cy="64715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64392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82A7C4-0AC3-8A99-7F29-7E98DF9388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Image">
            <a:extLst>
              <a:ext uri="{FF2B5EF4-FFF2-40B4-BE49-F238E27FC236}">
                <a16:creationId xmlns:a16="http://schemas.microsoft.com/office/drawing/2014/main" id="{B5AB1016-645D-AD6A-4411-3D9775A68EA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86964"/>
          <a:stretch>
            <a:fillRect/>
          </a:stretch>
        </p:blipFill>
        <p:spPr>
          <a:xfrm>
            <a:off x="-1" y="179614"/>
            <a:ext cx="12205687" cy="843644"/>
          </a:xfrm>
          <a:prstGeom prst="rect">
            <a:avLst/>
          </a:prstGeom>
        </p:spPr>
      </p:pic>
      <p:pic>
        <p:nvPicPr>
          <p:cNvPr id="3" name="그림 2" descr="Image">
            <a:extLst>
              <a:ext uri="{FF2B5EF4-FFF2-40B4-BE49-F238E27FC236}">
                <a16:creationId xmlns:a16="http://schemas.microsoft.com/office/drawing/2014/main" id="{6D5874AE-A967-620B-0FE2-562DAEF5E14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86964"/>
          <a:stretch>
            <a:fillRect/>
          </a:stretch>
        </p:blipFill>
        <p:spPr>
          <a:xfrm>
            <a:off x="-1" y="1562101"/>
            <a:ext cx="12205687" cy="843644"/>
          </a:xfrm>
          <a:prstGeom prst="rect">
            <a:avLst/>
          </a:prstGeom>
        </p:spPr>
      </p:pic>
      <p:sp>
        <p:nvSpPr>
          <p:cNvPr id="4" name="화살표: 아래쪽 3">
            <a:extLst>
              <a:ext uri="{FF2B5EF4-FFF2-40B4-BE49-F238E27FC236}">
                <a16:creationId xmlns:a16="http://schemas.microsoft.com/office/drawing/2014/main" id="{A356AEDC-6915-C8AF-2B1C-264C143B847C}"/>
              </a:ext>
            </a:extLst>
          </p:cNvPr>
          <p:cNvSpPr/>
          <p:nvPr/>
        </p:nvSpPr>
        <p:spPr>
          <a:xfrm>
            <a:off x="4180114" y="1023258"/>
            <a:ext cx="1055915" cy="457199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4CE6A753-DC90-DE6D-AED5-A767C25158B2}"/>
              </a:ext>
            </a:extLst>
          </p:cNvPr>
          <p:cNvSpPr/>
          <p:nvPr/>
        </p:nvSpPr>
        <p:spPr>
          <a:xfrm>
            <a:off x="2492829" y="2090057"/>
            <a:ext cx="620485" cy="19594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EC40766-F1B3-8381-071D-DFD5B493F389}"/>
              </a:ext>
            </a:extLst>
          </p:cNvPr>
          <p:cNvSpPr/>
          <p:nvPr/>
        </p:nvSpPr>
        <p:spPr>
          <a:xfrm>
            <a:off x="3211287" y="1763480"/>
            <a:ext cx="620485" cy="52251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>
                <a:solidFill>
                  <a:schemeClr val="tx1"/>
                </a:solidFill>
              </a:rPr>
              <a:t>ROI</a:t>
            </a:r>
          </a:p>
          <a:p>
            <a:pPr algn="ctr"/>
            <a:r>
              <a:rPr lang="en-US" altLang="ko-KR" sz="1100" dirty="0">
                <a:solidFill>
                  <a:schemeClr val="tx1"/>
                </a:solidFill>
              </a:rPr>
              <a:t>Align</a:t>
            </a:r>
            <a:endParaRPr lang="ko-KR" altLang="en-US" sz="1100" dirty="0"/>
          </a:p>
        </p:txBody>
      </p:sp>
      <p:pic>
        <p:nvPicPr>
          <p:cNvPr id="20" name="그림 19" descr="Image">
            <a:extLst>
              <a:ext uri="{FF2B5EF4-FFF2-40B4-BE49-F238E27FC236}">
                <a16:creationId xmlns:a16="http://schemas.microsoft.com/office/drawing/2014/main" id="{5E91F0C7-2450-212F-1634-C6E2340F74E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6401" b="-420"/>
          <a:stretch>
            <a:fillRect/>
          </a:stretch>
        </p:blipFill>
        <p:spPr>
          <a:xfrm>
            <a:off x="1088571" y="2481953"/>
            <a:ext cx="10344229" cy="4376048"/>
          </a:xfrm>
          <a:prstGeom prst="rect">
            <a:avLst/>
          </a:prstGeom>
        </p:spPr>
      </p:pic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CBED0098-3D03-41ED-1AAD-B55A0F8C9271}"/>
              </a:ext>
            </a:extLst>
          </p:cNvPr>
          <p:cNvCxnSpPr/>
          <p:nvPr/>
        </p:nvCxnSpPr>
        <p:spPr>
          <a:xfrm flipH="1">
            <a:off x="5236029" y="2688771"/>
            <a:ext cx="533400" cy="13062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7B5A56FD-046B-F96C-D1DB-21337CDB3531}"/>
              </a:ext>
            </a:extLst>
          </p:cNvPr>
          <p:cNvCxnSpPr>
            <a:cxnSpLocks/>
          </p:cNvCxnSpPr>
          <p:nvPr/>
        </p:nvCxnSpPr>
        <p:spPr>
          <a:xfrm flipH="1" flipV="1">
            <a:off x="5208815" y="2645227"/>
            <a:ext cx="560614" cy="21771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34352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EA4555F-F725-CA6F-940C-0F7580220235}"/>
              </a:ext>
            </a:extLst>
          </p:cNvPr>
          <p:cNvSpPr txBox="1"/>
          <p:nvPr/>
        </p:nvSpPr>
        <p:spPr>
          <a:xfrm>
            <a:off x="76200" y="0"/>
            <a:ext cx="8899544" cy="68788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ko-KR" sz="1600" b="1" dirty="0" err="1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</a:t>
            </a:r>
            <a:r>
              <a:rPr lang="ko-KR" altLang="ko-KR" sz="1600" b="1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init</a:t>
            </a:r>
            <a:r>
              <a:rPr lang="ko-KR" altLang="ko-KR" sz="1600" b="1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ko-KR" altLang="ko-KR" sz="1600" b="1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raw_data_in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ko-KR" altLang="ko-KR" sz="1600" b="1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row_index_in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ko-KR" altLang="ko-KR" sz="1600" b="1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col_index_in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):</a:t>
            </a: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raw_data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raw_data_in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row_index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row_index_in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 단일 CSV 시 0으로 고정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col_index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col_index_in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 CSV 파일 내 행(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Row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) 번호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 1. 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Raw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 파형 분석 결과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fft_magnitude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endParaRPr lang="en-US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center_freq_Mhz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0.0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#self.raw_envelope_data:Optional[np.ndarray] = 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#2. 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Filtered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 파형 분석 결과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filtered_data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filtered_fft_magnitude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filtered_center_freq_Mhz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0.0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filtered_envelope_data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#3. STEP4 : 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Align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 및 600 샘플 ROI 결과 저장 변수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align_indices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AlignIndices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AlignIndices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b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#4. STEP4-2 : 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Phase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Inversion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phase_inverse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en-US" altLang="ko-KR" sz="1600" b="1" dirty="0">
              <a:solidFill>
                <a:srgbClr val="569CD6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altLang="ko-KR" sz="1600" b="1" dirty="0">
              <a:solidFill>
                <a:srgbClr val="569CD6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ko-KR" altLang="ko-KR" sz="9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AA33D91-A864-62B7-AAED-D6761704EE86}"/>
              </a:ext>
            </a:extLst>
          </p:cNvPr>
          <p:cNvSpPr txBox="1"/>
          <p:nvPr/>
        </p:nvSpPr>
        <p:spPr>
          <a:xfrm>
            <a:off x="8371114" y="0"/>
            <a:ext cx="6096000" cy="55619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#5. Step5-1 : TGC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tgc_ROI_Max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tgc_ROI_min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tgc_ROI_Corr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tgc_ROI_Envelope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#5. Step5-3 : 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Envelope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env_tgc_ROI_Max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env_tgc_ROI_min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env_tgc_ROI_Corr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env_tgc_ROI_Envelope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200"/>
              </a:lnSpc>
              <a:buNone/>
            </a:pPr>
            <a:br>
              <a:rPr lang="ko-KR" altLang="ko-KR" sz="9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ko-KR" altLang="ko-KR" sz="9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384623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EA05CDBE-A58E-E663-8643-9EDD78677AE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83593"/>
          <a:stretch>
            <a:fillRect/>
          </a:stretch>
        </p:blipFill>
        <p:spPr>
          <a:xfrm>
            <a:off x="0" y="285750"/>
            <a:ext cx="12192000" cy="1031421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94E29522-F59C-DCDB-7603-9440672AC13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929" t="54805" r="54375" b="9004"/>
          <a:stretch>
            <a:fillRect/>
          </a:stretch>
        </p:blipFill>
        <p:spPr>
          <a:xfrm>
            <a:off x="530678" y="4733082"/>
            <a:ext cx="4117523" cy="1842746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6090DA30-5678-1D01-C6AD-3F1DBCA15DD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429" t="20606" r="54197" b="47013"/>
          <a:stretch>
            <a:fillRect/>
          </a:stretch>
        </p:blipFill>
        <p:spPr>
          <a:xfrm>
            <a:off x="247649" y="3058180"/>
            <a:ext cx="4400552" cy="1655741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7B9737BC-D4AC-95C3-86CA-1B090C6DE43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6964" t="20909" r="1250" b="10347"/>
          <a:stretch>
            <a:fillRect/>
          </a:stretch>
        </p:blipFill>
        <p:spPr>
          <a:xfrm>
            <a:off x="443593" y="1420407"/>
            <a:ext cx="4117522" cy="1618612"/>
          </a:xfrm>
          <a:prstGeom prst="rect">
            <a:avLst/>
          </a:prstGeom>
        </p:spPr>
      </p:pic>
      <p:pic>
        <p:nvPicPr>
          <p:cNvPr id="13" name="그림 12" descr="Image">
            <a:extLst>
              <a:ext uri="{FF2B5EF4-FFF2-40B4-BE49-F238E27FC236}">
                <a16:creationId xmlns:a16="http://schemas.microsoft.com/office/drawing/2014/main" id="{769C926F-373A-91D2-25F3-C3BBDD7557D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96972"/>
          <a:stretch>
            <a:fillRect/>
          </a:stretch>
        </p:blipFill>
        <p:spPr>
          <a:xfrm>
            <a:off x="13687" y="6572250"/>
            <a:ext cx="12205687" cy="236036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07C16D8A-6128-971B-1B57-755206A8E0F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809" t="15525" r="2507" b="15806"/>
          <a:stretch>
            <a:fillRect/>
          </a:stretch>
        </p:blipFill>
        <p:spPr>
          <a:xfrm>
            <a:off x="5246914" y="2307771"/>
            <a:ext cx="6335486" cy="2884716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C3DB495C-A926-4DFC-F46F-D5EBF9A50923}"/>
              </a:ext>
            </a:extLst>
          </p:cNvPr>
          <p:cNvSpPr txBox="1"/>
          <p:nvPr/>
        </p:nvSpPr>
        <p:spPr>
          <a:xfrm>
            <a:off x="11549743" y="2338365"/>
            <a:ext cx="7184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-100</a:t>
            </a:r>
            <a:endParaRPr lang="ko-KR" alt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609A177-5DA6-5554-47EF-6706693A525B}"/>
              </a:ext>
            </a:extLst>
          </p:cNvPr>
          <p:cNvSpPr txBox="1"/>
          <p:nvPr/>
        </p:nvSpPr>
        <p:spPr>
          <a:xfrm>
            <a:off x="11549743" y="4986440"/>
            <a:ext cx="7184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500</a:t>
            </a:r>
            <a:endParaRPr lang="ko-KR" alt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610E29C-F9D6-AAC9-7EDE-6FCA411FD648}"/>
              </a:ext>
            </a:extLst>
          </p:cNvPr>
          <p:cNvSpPr txBox="1"/>
          <p:nvPr/>
        </p:nvSpPr>
        <p:spPr>
          <a:xfrm>
            <a:off x="5116285" y="5262571"/>
            <a:ext cx="7184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0</a:t>
            </a:r>
            <a:endParaRPr lang="ko-KR" alt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779ACDB-78B9-651B-939B-5A443B8C2DA7}"/>
              </a:ext>
            </a:extLst>
          </p:cNvPr>
          <p:cNvSpPr txBox="1"/>
          <p:nvPr/>
        </p:nvSpPr>
        <p:spPr>
          <a:xfrm>
            <a:off x="11190515" y="5262571"/>
            <a:ext cx="7184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310</a:t>
            </a:r>
            <a:endParaRPr lang="ko-KR" altLang="en-US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7B314183-FB59-D956-FB85-7DC8C5AFF54B}"/>
              </a:ext>
            </a:extLst>
          </p:cNvPr>
          <p:cNvSpPr/>
          <p:nvPr/>
        </p:nvSpPr>
        <p:spPr>
          <a:xfrm>
            <a:off x="5116285" y="2144486"/>
            <a:ext cx="6466115" cy="36933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EA514F8B-F4C6-5F1B-1280-DB50060CE48F}"/>
              </a:ext>
            </a:extLst>
          </p:cNvPr>
          <p:cNvCxnSpPr/>
          <p:nvPr/>
        </p:nvCxnSpPr>
        <p:spPr>
          <a:xfrm>
            <a:off x="6311153" y="2513818"/>
            <a:ext cx="0" cy="2657288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859304CA-04D0-3A21-E3B3-DAABFACB2A05}"/>
              </a:ext>
            </a:extLst>
          </p:cNvPr>
          <p:cNvSpPr txBox="1"/>
          <p:nvPr/>
        </p:nvSpPr>
        <p:spPr>
          <a:xfrm>
            <a:off x="6015317" y="5447237"/>
            <a:ext cx="4724401" cy="92333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altLang="ko-KR" dirty="0"/>
              <a:t>CTRL </a:t>
            </a:r>
            <a:r>
              <a:rPr lang="ko-KR" altLang="en-US" dirty="0"/>
              <a:t>누르고</a:t>
            </a:r>
            <a:r>
              <a:rPr lang="en-US" altLang="ko-KR" dirty="0"/>
              <a:t>, </a:t>
            </a:r>
            <a:r>
              <a:rPr lang="ko-KR" altLang="en-US" dirty="0"/>
              <a:t>마우스로 </a:t>
            </a:r>
            <a:r>
              <a:rPr lang="en-US" altLang="ko-KR" dirty="0"/>
              <a:t>B</a:t>
            </a:r>
            <a:r>
              <a:rPr lang="ko-KR" altLang="en-US" dirty="0"/>
              <a:t>스캔 이미지의 위치 가리키면</a:t>
            </a:r>
            <a:r>
              <a:rPr lang="en-US" altLang="ko-KR" dirty="0"/>
              <a:t>, X</a:t>
            </a:r>
            <a:r>
              <a:rPr lang="ko-KR" altLang="en-US" dirty="0"/>
              <a:t>축 따라가며</a:t>
            </a:r>
            <a:r>
              <a:rPr lang="en-US" altLang="ko-KR" dirty="0"/>
              <a:t>, </a:t>
            </a:r>
            <a:r>
              <a:rPr lang="ko-KR" altLang="en-US" dirty="0"/>
              <a:t>왼쪽 </a:t>
            </a:r>
            <a:r>
              <a:rPr lang="en-US" altLang="ko-KR" dirty="0"/>
              <a:t>3</a:t>
            </a:r>
            <a:r>
              <a:rPr lang="ko-KR" altLang="en-US" dirty="0"/>
              <a:t>개의 </a:t>
            </a:r>
            <a:r>
              <a:rPr lang="en-US" altLang="ko-KR" dirty="0"/>
              <a:t>A</a:t>
            </a:r>
            <a:r>
              <a:rPr lang="ko-KR" altLang="en-US" dirty="0"/>
              <a:t>파형들이 자동으로 바뀜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86A350E-8ACD-3A4D-5774-DA6D8FBEFD9B}"/>
              </a:ext>
            </a:extLst>
          </p:cNvPr>
          <p:cNvSpPr txBox="1"/>
          <p:nvPr/>
        </p:nvSpPr>
        <p:spPr>
          <a:xfrm>
            <a:off x="7652017" y="2031589"/>
            <a:ext cx="20618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B</a:t>
            </a:r>
            <a:r>
              <a:rPr lang="ko-KR" altLang="en-US" dirty="0"/>
              <a:t> </a:t>
            </a:r>
            <a:r>
              <a:rPr lang="en-US" altLang="ko-KR" dirty="0"/>
              <a:t>SCAN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730812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0B510A77-1FED-F501-DB74-6D8F6CB082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268" y="482640"/>
            <a:ext cx="7721178" cy="6386245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0C9120BC-0FAD-0075-8D05-7F1B7C41D1B8}"/>
              </a:ext>
            </a:extLst>
          </p:cNvPr>
          <p:cNvSpPr/>
          <p:nvPr/>
        </p:nvSpPr>
        <p:spPr>
          <a:xfrm>
            <a:off x="8033657" y="849086"/>
            <a:ext cx="4158343" cy="6019800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8EE7F87D-28BF-611A-2982-068A72DE6AF0}"/>
              </a:ext>
            </a:extLst>
          </p:cNvPr>
          <p:cNvSpPr/>
          <p:nvPr/>
        </p:nvSpPr>
        <p:spPr>
          <a:xfrm>
            <a:off x="5976254" y="2188028"/>
            <a:ext cx="217715" cy="119743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C2218DF1-FB92-F4C6-B409-363CDD68EB9B}"/>
              </a:ext>
            </a:extLst>
          </p:cNvPr>
          <p:cNvSpPr/>
          <p:nvPr/>
        </p:nvSpPr>
        <p:spPr>
          <a:xfrm>
            <a:off x="9067800" y="2205566"/>
            <a:ext cx="217715" cy="119743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6E8B124C-738B-D2E6-011D-B6BDF3B6BA94}"/>
              </a:ext>
            </a:extLst>
          </p:cNvPr>
          <p:cNvCxnSpPr>
            <a:cxnSpLocks/>
            <a:stCxn id="3" idx="6"/>
            <a:endCxn id="6" idx="2"/>
          </p:cNvCxnSpPr>
          <p:nvPr/>
        </p:nvCxnSpPr>
        <p:spPr>
          <a:xfrm>
            <a:off x="6193969" y="2247900"/>
            <a:ext cx="2873831" cy="17538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E42F2C43-D511-FF1A-4C44-EDE0CF17AF5D}"/>
              </a:ext>
            </a:extLst>
          </p:cNvPr>
          <p:cNvSpPr txBox="1"/>
          <p:nvPr/>
        </p:nvSpPr>
        <p:spPr>
          <a:xfrm>
            <a:off x="8160446" y="2264229"/>
            <a:ext cx="403155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</a:rPr>
              <a:t>[</a:t>
            </a:r>
            <a:r>
              <a:rPr lang="ko-KR" altLang="en-US" dirty="0">
                <a:solidFill>
                  <a:schemeClr val="bg1"/>
                </a:solidFill>
              </a:rPr>
              <a:t>ⓐ</a:t>
            </a:r>
            <a:r>
              <a:rPr lang="en-US" altLang="ko-KR" dirty="0">
                <a:solidFill>
                  <a:schemeClr val="bg1"/>
                </a:solidFill>
              </a:rPr>
              <a:t>. Inverse Phase Index </a:t>
            </a:r>
            <a:r>
              <a:rPr lang="ko-KR" altLang="en-US" dirty="0">
                <a:solidFill>
                  <a:schemeClr val="bg1"/>
                </a:solidFill>
              </a:rPr>
              <a:t>추출하기</a:t>
            </a:r>
            <a:r>
              <a:rPr lang="en-US" altLang="ko-KR" dirty="0">
                <a:solidFill>
                  <a:schemeClr val="bg1"/>
                </a:solidFill>
              </a:rPr>
              <a:t>]</a:t>
            </a:r>
          </a:p>
          <a:p>
            <a:r>
              <a:rPr lang="en-US" altLang="ko-KR" dirty="0">
                <a:solidFill>
                  <a:schemeClr val="bg1"/>
                </a:solidFill>
              </a:rPr>
              <a:t>- Align</a:t>
            </a:r>
            <a:r>
              <a:rPr lang="ko-KR" altLang="en-US" dirty="0">
                <a:solidFill>
                  <a:schemeClr val="bg1"/>
                </a:solidFill>
              </a:rPr>
              <a:t> </a:t>
            </a:r>
            <a:r>
              <a:rPr lang="en-US" altLang="ko-KR" dirty="0">
                <a:solidFill>
                  <a:schemeClr val="bg1"/>
                </a:solidFill>
              </a:rPr>
              <a:t>Index</a:t>
            </a:r>
            <a:r>
              <a:rPr lang="ko-KR" altLang="en-US" dirty="0">
                <a:solidFill>
                  <a:schemeClr val="bg1"/>
                </a:solidFill>
              </a:rPr>
              <a:t>로부터 </a:t>
            </a:r>
            <a:r>
              <a:rPr lang="en-US" altLang="ko-KR" dirty="0">
                <a:solidFill>
                  <a:schemeClr val="bg1"/>
                </a:solidFill>
              </a:rPr>
              <a:t>ROI </a:t>
            </a:r>
            <a:r>
              <a:rPr lang="ko-KR" altLang="en-US" dirty="0">
                <a:solidFill>
                  <a:schemeClr val="bg1"/>
                </a:solidFill>
              </a:rPr>
              <a:t>범위 안에서 </a:t>
            </a:r>
            <a:r>
              <a:rPr lang="en-US" altLang="ko-KR" dirty="0">
                <a:solidFill>
                  <a:schemeClr val="bg1"/>
                </a:solidFill>
              </a:rPr>
              <a:t>Search. Ref </a:t>
            </a:r>
            <a:r>
              <a:rPr lang="ko-KR" altLang="en-US" dirty="0">
                <a:solidFill>
                  <a:schemeClr val="bg1"/>
                </a:solidFill>
              </a:rPr>
              <a:t>기준 파형과 정 반대 모양이 있을 경우 </a:t>
            </a:r>
            <a:r>
              <a:rPr lang="en-US" altLang="ko-KR" dirty="0">
                <a:solidFill>
                  <a:schemeClr val="bg1"/>
                </a:solidFill>
              </a:rPr>
              <a:t>Return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E43CFCA8-5E65-7969-0084-A8FAD407D9A5}"/>
              </a:ext>
            </a:extLst>
          </p:cNvPr>
          <p:cNvSpPr/>
          <p:nvPr/>
        </p:nvSpPr>
        <p:spPr>
          <a:xfrm>
            <a:off x="9252859" y="3453672"/>
            <a:ext cx="217715" cy="119743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A5EF9650-8D42-9A8A-F9F2-302EC7142489}"/>
              </a:ext>
            </a:extLst>
          </p:cNvPr>
          <p:cNvSpPr/>
          <p:nvPr/>
        </p:nvSpPr>
        <p:spPr>
          <a:xfrm>
            <a:off x="5099957" y="6558543"/>
            <a:ext cx="217715" cy="119743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232761B-558F-5FAB-9022-C6B0008DE308}"/>
              </a:ext>
            </a:extLst>
          </p:cNvPr>
          <p:cNvSpPr txBox="1"/>
          <p:nvPr/>
        </p:nvSpPr>
        <p:spPr>
          <a:xfrm>
            <a:off x="8846246" y="5062216"/>
            <a:ext cx="299741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</a:rPr>
              <a:t>[</a:t>
            </a:r>
            <a:r>
              <a:rPr lang="ko-KR" altLang="en-US" dirty="0">
                <a:solidFill>
                  <a:schemeClr val="bg1"/>
                </a:solidFill>
              </a:rPr>
              <a:t>ⓑ</a:t>
            </a:r>
            <a:r>
              <a:rPr lang="en-US" altLang="ko-KR" dirty="0">
                <a:solidFill>
                  <a:schemeClr val="bg1"/>
                </a:solidFill>
              </a:rPr>
              <a:t>. Inverse Phase Index</a:t>
            </a:r>
            <a:r>
              <a:rPr lang="ko-KR" altLang="en-US" dirty="0">
                <a:solidFill>
                  <a:schemeClr val="bg1"/>
                </a:solidFill>
              </a:rPr>
              <a:t>가 있을 경우</a:t>
            </a:r>
            <a:r>
              <a:rPr lang="en-US" altLang="ko-KR" dirty="0">
                <a:solidFill>
                  <a:schemeClr val="bg1"/>
                </a:solidFill>
              </a:rPr>
              <a:t>, </a:t>
            </a:r>
            <a:r>
              <a:rPr lang="ko-KR" altLang="en-US" dirty="0">
                <a:solidFill>
                  <a:schemeClr val="bg1"/>
                </a:solidFill>
              </a:rPr>
              <a:t>이에 해당하는 </a:t>
            </a:r>
            <a:r>
              <a:rPr lang="en-US" altLang="ko-KR" dirty="0">
                <a:solidFill>
                  <a:schemeClr val="bg1"/>
                </a:solidFill>
              </a:rPr>
              <a:t>B-scan </a:t>
            </a:r>
            <a:r>
              <a:rPr lang="ko-KR" altLang="en-US" dirty="0">
                <a:solidFill>
                  <a:schemeClr val="bg1"/>
                </a:solidFill>
              </a:rPr>
              <a:t>부위에 파란색을 </a:t>
            </a:r>
            <a:r>
              <a:rPr lang="en-US" altLang="ko-KR" dirty="0">
                <a:solidFill>
                  <a:schemeClr val="bg1"/>
                </a:solidFill>
              </a:rPr>
              <a:t>Overlay</a:t>
            </a:r>
            <a:r>
              <a:rPr lang="ko-KR" altLang="en-US" dirty="0">
                <a:solidFill>
                  <a:schemeClr val="bg1"/>
                </a:solidFill>
              </a:rPr>
              <a:t> </a:t>
            </a:r>
            <a:r>
              <a:rPr lang="en-US" altLang="ko-KR" dirty="0">
                <a:solidFill>
                  <a:schemeClr val="bg1"/>
                </a:solidFill>
              </a:rPr>
              <a:t>: Toggle Switch</a:t>
            </a:r>
            <a:r>
              <a:rPr lang="ko-KR" altLang="en-US" dirty="0">
                <a:solidFill>
                  <a:schemeClr val="bg1"/>
                </a:solidFill>
              </a:rPr>
              <a:t>로 적용 유</a:t>
            </a:r>
            <a:r>
              <a:rPr lang="en-US" altLang="ko-KR" dirty="0">
                <a:solidFill>
                  <a:schemeClr val="bg1"/>
                </a:solidFill>
              </a:rPr>
              <a:t>/</a:t>
            </a:r>
            <a:r>
              <a:rPr lang="ko-KR" altLang="en-US" dirty="0">
                <a:solidFill>
                  <a:schemeClr val="bg1"/>
                </a:solidFill>
              </a:rPr>
              <a:t>무</a:t>
            </a:r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D69C6526-F374-9F1A-0D0A-0ABE45075DDF}"/>
              </a:ext>
            </a:extLst>
          </p:cNvPr>
          <p:cNvSpPr/>
          <p:nvPr/>
        </p:nvSpPr>
        <p:spPr>
          <a:xfrm>
            <a:off x="9285519" y="4960250"/>
            <a:ext cx="217715" cy="119743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62AFE7BD-4FD2-985F-3AD4-031709B798FC}"/>
              </a:ext>
            </a:extLst>
          </p:cNvPr>
          <p:cNvCxnSpPr>
            <a:stCxn id="11" idx="0"/>
            <a:endCxn id="21" idx="0"/>
          </p:cNvCxnSpPr>
          <p:nvPr/>
        </p:nvCxnSpPr>
        <p:spPr>
          <a:xfrm>
            <a:off x="9361717" y="3453672"/>
            <a:ext cx="32660" cy="1506578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타원 26">
            <a:extLst>
              <a:ext uri="{FF2B5EF4-FFF2-40B4-BE49-F238E27FC236}">
                <a16:creationId xmlns:a16="http://schemas.microsoft.com/office/drawing/2014/main" id="{25BFBC86-C7A8-5544-D910-8B416C2A8431}"/>
              </a:ext>
            </a:extLst>
          </p:cNvPr>
          <p:cNvSpPr/>
          <p:nvPr/>
        </p:nvSpPr>
        <p:spPr>
          <a:xfrm>
            <a:off x="9209322" y="6517772"/>
            <a:ext cx="217715" cy="119743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504EC664-D0CB-C9CC-DBFF-731E0CF6246E}"/>
              </a:ext>
            </a:extLst>
          </p:cNvPr>
          <p:cNvCxnSpPr>
            <a:stCxn id="27" idx="3"/>
            <a:endCxn id="13" idx="5"/>
          </p:cNvCxnSpPr>
          <p:nvPr/>
        </p:nvCxnSpPr>
        <p:spPr>
          <a:xfrm flipH="1">
            <a:off x="5285788" y="6619979"/>
            <a:ext cx="3955418" cy="40771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62DB6470-13DA-2071-7259-BE54267BBF7A}"/>
              </a:ext>
            </a:extLst>
          </p:cNvPr>
          <p:cNvSpPr txBox="1"/>
          <p:nvPr/>
        </p:nvSpPr>
        <p:spPr>
          <a:xfrm>
            <a:off x="439268" y="113307"/>
            <a:ext cx="34033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B</a:t>
            </a:r>
            <a:r>
              <a:rPr lang="ko-KR" altLang="en-US" dirty="0"/>
              <a:t>스캔 만들기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C52BCF3-187B-03C2-F468-C7E6A65711DF}"/>
              </a:ext>
            </a:extLst>
          </p:cNvPr>
          <p:cNvSpPr txBox="1"/>
          <p:nvPr/>
        </p:nvSpPr>
        <p:spPr>
          <a:xfrm>
            <a:off x="8411133" y="433049"/>
            <a:ext cx="34033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Inverse Phase </a:t>
            </a:r>
            <a:r>
              <a:rPr lang="ko-KR" altLang="en-US" dirty="0"/>
              <a:t>만들기</a:t>
            </a:r>
          </a:p>
        </p:txBody>
      </p:sp>
    </p:spTree>
    <p:extLst>
      <p:ext uri="{BB962C8B-B14F-4D97-AF65-F5344CB8AC3E}">
        <p14:creationId xmlns:p14="http://schemas.microsoft.com/office/powerpoint/2010/main" val="7880916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0DAD12E2-61E4-EAD1-9487-9647257651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0812" y="104775"/>
            <a:ext cx="6810375" cy="6648450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F3E6A897-FF83-BE3F-18C3-E0E8C71025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0184" y="1834608"/>
            <a:ext cx="7263020" cy="41898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451446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CB8EE143-5CD9-2686-EC38-C5DA9B60990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524" r="12770" b="6072"/>
          <a:stretch>
            <a:fillRect/>
          </a:stretch>
        </p:blipFill>
        <p:spPr>
          <a:xfrm>
            <a:off x="52639" y="0"/>
            <a:ext cx="1296000" cy="4660009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9E0C2BA2-E1A0-1868-6E2E-F0FE9C570EF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394" r="12901" b="6072"/>
          <a:stretch>
            <a:fillRect/>
          </a:stretch>
        </p:blipFill>
        <p:spPr>
          <a:xfrm>
            <a:off x="1411498" y="14652"/>
            <a:ext cx="1296000" cy="466001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767D55C-3A36-2E7E-EDB5-D2D42A213019}"/>
              </a:ext>
            </a:extLst>
          </p:cNvPr>
          <p:cNvSpPr txBox="1"/>
          <p:nvPr/>
        </p:nvSpPr>
        <p:spPr>
          <a:xfrm>
            <a:off x="277106" y="4698831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9.01</a:t>
            </a:r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48EE63C-F46B-1F0A-6BAF-95F30B1C9BA7}"/>
              </a:ext>
            </a:extLst>
          </p:cNvPr>
          <p:cNvSpPr txBox="1"/>
          <p:nvPr/>
        </p:nvSpPr>
        <p:spPr>
          <a:xfrm>
            <a:off x="1724996" y="4684176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9.76</a:t>
            </a:r>
            <a:endParaRPr lang="ko-KR" altLang="en-US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D474C461-F4BB-2D30-986F-A0B21F479E9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043" r="13637" b="6072"/>
          <a:stretch>
            <a:fillRect/>
          </a:stretch>
        </p:blipFill>
        <p:spPr>
          <a:xfrm>
            <a:off x="2770357" y="14652"/>
            <a:ext cx="1235072" cy="4674663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83F242C0-A9C5-0C96-A276-DE1E249319EE}"/>
              </a:ext>
            </a:extLst>
          </p:cNvPr>
          <p:cNvSpPr txBox="1"/>
          <p:nvPr/>
        </p:nvSpPr>
        <p:spPr>
          <a:xfrm>
            <a:off x="3072365" y="4631465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10.51</a:t>
            </a:r>
            <a:endParaRPr lang="ko-KR" altLang="en-US" dirty="0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F4983F47-DC08-A415-06D4-E24674603EE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523" r="14156" b="6072"/>
          <a:stretch>
            <a:fillRect/>
          </a:stretch>
        </p:blipFill>
        <p:spPr>
          <a:xfrm>
            <a:off x="4045428" y="5136"/>
            <a:ext cx="1237586" cy="4684179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C3723366-8BAE-998D-CD8B-C26D870D2195}"/>
              </a:ext>
            </a:extLst>
          </p:cNvPr>
          <p:cNvSpPr txBox="1"/>
          <p:nvPr/>
        </p:nvSpPr>
        <p:spPr>
          <a:xfrm>
            <a:off x="4309047" y="4642632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11.18</a:t>
            </a:r>
            <a:endParaRPr lang="ko-KR" altLang="en-US" dirty="0"/>
          </a:p>
        </p:txBody>
      </p:sp>
      <p:pic>
        <p:nvPicPr>
          <p:cNvPr id="21" name="그림 20">
            <a:extLst>
              <a:ext uri="{FF2B5EF4-FFF2-40B4-BE49-F238E27FC236}">
                <a16:creationId xmlns:a16="http://schemas.microsoft.com/office/drawing/2014/main" id="{5640ACD3-0BD2-EF5F-6BB8-CE88DF68A3E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696" r="13983" b="6072"/>
          <a:stretch>
            <a:fillRect/>
          </a:stretch>
        </p:blipFill>
        <p:spPr>
          <a:xfrm>
            <a:off x="5350028" y="14652"/>
            <a:ext cx="1237586" cy="4684179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BA99BDA9-5EEB-00C7-7F00-24C6EFCCFE1B}"/>
              </a:ext>
            </a:extLst>
          </p:cNvPr>
          <p:cNvSpPr txBox="1"/>
          <p:nvPr/>
        </p:nvSpPr>
        <p:spPr>
          <a:xfrm>
            <a:off x="5664066" y="4642632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11.93</a:t>
            </a:r>
            <a:endParaRPr lang="ko-KR" altLang="en-US" dirty="0"/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39FC4C47-59B8-9796-D026-A14B074406D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524" r="14156" b="6072"/>
          <a:stretch>
            <a:fillRect/>
          </a:stretch>
        </p:blipFill>
        <p:spPr>
          <a:xfrm>
            <a:off x="6683803" y="-1"/>
            <a:ext cx="1237586" cy="4684177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2C8D0A19-A244-E8F6-BB9C-A09068792325}"/>
              </a:ext>
            </a:extLst>
          </p:cNvPr>
          <p:cNvSpPr txBox="1"/>
          <p:nvPr/>
        </p:nvSpPr>
        <p:spPr>
          <a:xfrm>
            <a:off x="6994236" y="4631464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12.16</a:t>
            </a:r>
            <a:endParaRPr lang="ko-KR" altLang="en-US" dirty="0"/>
          </a:p>
        </p:txBody>
      </p:sp>
      <p:pic>
        <p:nvPicPr>
          <p:cNvPr id="29" name="그림 28">
            <a:extLst>
              <a:ext uri="{FF2B5EF4-FFF2-40B4-BE49-F238E27FC236}">
                <a16:creationId xmlns:a16="http://schemas.microsoft.com/office/drawing/2014/main" id="{B1C79B9E-3797-05F6-5A41-68B1502BD39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524" r="12944" b="6072"/>
          <a:stretch>
            <a:fillRect/>
          </a:stretch>
        </p:blipFill>
        <p:spPr>
          <a:xfrm>
            <a:off x="7979803" y="14652"/>
            <a:ext cx="1294581" cy="4684179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6C9A5395-EAF0-1E24-A8A5-6A2748BA58D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351" r="12770" b="6072"/>
          <a:stretch>
            <a:fillRect/>
          </a:stretch>
        </p:blipFill>
        <p:spPr>
          <a:xfrm>
            <a:off x="9332797" y="-1"/>
            <a:ext cx="1314965" cy="4698832"/>
          </a:xfrm>
          <a:prstGeom prst="rect">
            <a:avLst/>
          </a:prstGeom>
        </p:spPr>
      </p:pic>
      <p:pic>
        <p:nvPicPr>
          <p:cNvPr id="33" name="그림 32">
            <a:extLst>
              <a:ext uri="{FF2B5EF4-FFF2-40B4-BE49-F238E27FC236}">
                <a16:creationId xmlns:a16="http://schemas.microsoft.com/office/drawing/2014/main" id="{4A3328BE-FBA4-71CE-8E56-B900A9525CE3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632" r="14822" b="6072"/>
          <a:stretch>
            <a:fillRect/>
          </a:stretch>
        </p:blipFill>
        <p:spPr>
          <a:xfrm>
            <a:off x="10780502" y="-1"/>
            <a:ext cx="1252076" cy="4698832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B9DA3E49-79C1-42ED-4158-7B99F44A347D}"/>
              </a:ext>
            </a:extLst>
          </p:cNvPr>
          <p:cNvSpPr txBox="1"/>
          <p:nvPr/>
        </p:nvSpPr>
        <p:spPr>
          <a:xfrm>
            <a:off x="8322509" y="4668217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12.91</a:t>
            </a:r>
            <a:endParaRPr lang="ko-KR" altLang="en-US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26A0BF6-BD41-B5BD-D070-34A60A1F42E4}"/>
              </a:ext>
            </a:extLst>
          </p:cNvPr>
          <p:cNvSpPr txBox="1"/>
          <p:nvPr/>
        </p:nvSpPr>
        <p:spPr>
          <a:xfrm>
            <a:off x="9615734" y="4631464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13.51</a:t>
            </a:r>
            <a:endParaRPr lang="ko-KR" altLang="en-US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161500A-711A-AEF3-C764-6276E3D27F94}"/>
              </a:ext>
            </a:extLst>
          </p:cNvPr>
          <p:cNvSpPr txBox="1"/>
          <p:nvPr/>
        </p:nvSpPr>
        <p:spPr>
          <a:xfrm>
            <a:off x="11007698" y="4668217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14.03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899013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FAB0ED-BE9E-C6F9-6705-729861DB54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B4530020-CA86-75F3-F21C-021D5CDE2DD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6709" r="55626" b="22052"/>
          <a:stretch>
            <a:fillRect/>
          </a:stretch>
        </p:blipFill>
        <p:spPr>
          <a:xfrm>
            <a:off x="0" y="11641"/>
            <a:ext cx="5040000" cy="108945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D10E3AC-9BF7-03B9-627E-4745A363B079}"/>
              </a:ext>
            </a:extLst>
          </p:cNvPr>
          <p:cNvSpPr txBox="1"/>
          <p:nvPr/>
        </p:nvSpPr>
        <p:spPr>
          <a:xfrm>
            <a:off x="2189683" y="1063173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30000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1DF47D8-C4FE-18CC-7A25-5D826AAE19F3}"/>
              </a:ext>
            </a:extLst>
          </p:cNvPr>
          <p:cNvSpPr txBox="1"/>
          <p:nvPr/>
        </p:nvSpPr>
        <p:spPr>
          <a:xfrm>
            <a:off x="7781427" y="1041633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1</a:t>
            </a:r>
            <a:r>
              <a:rPr lang="ko-KR" altLang="en-US" dirty="0"/>
              <a:t>000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D5C6E034-E92B-DD31-913C-FE1B4C3B715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4774" r="55625" b="22635"/>
          <a:stretch>
            <a:fillRect/>
          </a:stretch>
        </p:blipFill>
        <p:spPr>
          <a:xfrm>
            <a:off x="-22052" y="1343558"/>
            <a:ext cx="5040000" cy="1089454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41A1645E-01F0-F296-D3AA-FDC9B7F78F01}"/>
              </a:ext>
            </a:extLst>
          </p:cNvPr>
          <p:cNvSpPr txBox="1"/>
          <p:nvPr/>
        </p:nvSpPr>
        <p:spPr>
          <a:xfrm>
            <a:off x="2138885" y="2365703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2</a:t>
            </a:r>
            <a:r>
              <a:rPr lang="ko-KR" altLang="en-US" dirty="0"/>
              <a:t>000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DE75FE8-875F-95CD-B8F0-4D9A5981983E}"/>
              </a:ext>
            </a:extLst>
          </p:cNvPr>
          <p:cNvSpPr txBox="1"/>
          <p:nvPr/>
        </p:nvSpPr>
        <p:spPr>
          <a:xfrm>
            <a:off x="7912256" y="2380022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29</a:t>
            </a:r>
            <a:r>
              <a:rPr lang="ko-KR" altLang="en-US" dirty="0"/>
              <a:t>00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65E33585-635E-9DB5-00AD-6263175F7EB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958" t="25344" r="51667" b="22463"/>
          <a:stretch>
            <a:fillRect/>
          </a:stretch>
        </p:blipFill>
        <p:spPr>
          <a:xfrm>
            <a:off x="0" y="2655919"/>
            <a:ext cx="5040000" cy="1089454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7AE3A45-8776-C1E5-46D3-EAC079A97106}"/>
              </a:ext>
            </a:extLst>
          </p:cNvPr>
          <p:cNvSpPr txBox="1"/>
          <p:nvPr/>
        </p:nvSpPr>
        <p:spPr>
          <a:xfrm>
            <a:off x="2189683" y="3725245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39</a:t>
            </a:r>
            <a:r>
              <a:rPr lang="ko-KR" altLang="en-US" dirty="0"/>
              <a:t>00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A8A211D-7472-1E88-07FF-FA3170000EC2}"/>
              </a:ext>
            </a:extLst>
          </p:cNvPr>
          <p:cNvSpPr txBox="1"/>
          <p:nvPr/>
        </p:nvSpPr>
        <p:spPr>
          <a:xfrm>
            <a:off x="7912256" y="3738339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42</a:t>
            </a:r>
            <a:r>
              <a:rPr lang="ko-KR" altLang="en-US" dirty="0"/>
              <a:t>00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7A429313-FC48-C7AE-E01B-E12B85FCC6B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751" t="30324" r="51874" b="19997"/>
          <a:stretch>
            <a:fillRect/>
          </a:stretch>
        </p:blipFill>
        <p:spPr>
          <a:xfrm>
            <a:off x="0" y="4029681"/>
            <a:ext cx="5040000" cy="1032341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632DFEA0-8F64-C518-9F7D-8E4F776A805A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438" t="26683" r="51771" b="18550"/>
          <a:stretch>
            <a:fillRect/>
          </a:stretch>
        </p:blipFill>
        <p:spPr>
          <a:xfrm>
            <a:off x="-22052" y="5295530"/>
            <a:ext cx="5040000" cy="1150865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E033DF8E-0721-8B79-0131-CE66F4D2B2F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0938" t="26709" r="4688" b="22052"/>
          <a:stretch>
            <a:fillRect/>
          </a:stretch>
        </p:blipFill>
        <p:spPr>
          <a:xfrm>
            <a:off x="5711565" y="11641"/>
            <a:ext cx="5040000" cy="1089454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BE56573F-4E78-7051-D233-2A398939B4C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9585" t="24774" r="5485" b="22635"/>
          <a:stretch>
            <a:fillRect/>
          </a:stretch>
        </p:blipFill>
        <p:spPr>
          <a:xfrm>
            <a:off x="5704263" y="1367520"/>
            <a:ext cx="5040000" cy="1075967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BB36E55C-342F-73E3-D7CF-BCE496E3D7D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4236" t="25344" r="834" b="22463"/>
          <a:stretch>
            <a:fillRect/>
          </a:stretch>
        </p:blipFill>
        <p:spPr>
          <a:xfrm>
            <a:off x="5704263" y="2687772"/>
            <a:ext cx="5040000" cy="1075967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0FA33621-62C9-EC8C-71B2-9B44B770686A}"/>
              </a:ext>
            </a:extLst>
          </p:cNvPr>
          <p:cNvSpPr txBox="1"/>
          <p:nvPr/>
        </p:nvSpPr>
        <p:spPr>
          <a:xfrm>
            <a:off x="2189683" y="4993729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52</a:t>
            </a:r>
            <a:r>
              <a:rPr lang="ko-KR" altLang="en-US" dirty="0"/>
              <a:t>00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9A4CDA0-B646-A1DC-0E2E-F4F062FDC815}"/>
              </a:ext>
            </a:extLst>
          </p:cNvPr>
          <p:cNvSpPr txBox="1"/>
          <p:nvPr/>
        </p:nvSpPr>
        <p:spPr>
          <a:xfrm>
            <a:off x="7912256" y="4993728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60</a:t>
            </a:r>
            <a:r>
              <a:rPr lang="ko-KR" altLang="en-US" dirty="0"/>
              <a:t>00</a:t>
            </a:r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09AFC077-0C4B-E41C-438D-229048D6CA3E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53610" t="30324" r="1459" b="19997"/>
          <a:stretch>
            <a:fillRect/>
          </a:stretch>
        </p:blipFill>
        <p:spPr>
          <a:xfrm>
            <a:off x="5704263" y="4033424"/>
            <a:ext cx="5040000" cy="1019561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032EE094-174E-842D-7A75-524003AABD8A}"/>
              </a:ext>
            </a:extLst>
          </p:cNvPr>
          <p:cNvSpPr txBox="1"/>
          <p:nvPr/>
        </p:nvSpPr>
        <p:spPr>
          <a:xfrm>
            <a:off x="2189683" y="6446395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67</a:t>
            </a:r>
            <a:r>
              <a:rPr lang="ko-KR" altLang="en-US" dirty="0"/>
              <a:t>00</a:t>
            </a:r>
          </a:p>
        </p:txBody>
      </p:sp>
    </p:spTree>
    <p:extLst>
      <p:ext uri="{BB962C8B-B14F-4D97-AF65-F5344CB8AC3E}">
        <p14:creationId xmlns:p14="http://schemas.microsoft.com/office/powerpoint/2010/main" val="15245356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8C3885-C8DD-D83F-0010-F0B39F0652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F71CAA49-8764-3BEF-3A4E-6B5C8993383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6709" r="55626" b="22052"/>
          <a:stretch>
            <a:fillRect/>
          </a:stretch>
        </p:blipFill>
        <p:spPr>
          <a:xfrm>
            <a:off x="0" y="11641"/>
            <a:ext cx="5040000" cy="108945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FD8F06D-EA9C-ED68-79AE-48FB8B8EEFBD}"/>
              </a:ext>
            </a:extLst>
          </p:cNvPr>
          <p:cNvSpPr txBox="1"/>
          <p:nvPr/>
        </p:nvSpPr>
        <p:spPr>
          <a:xfrm>
            <a:off x="2189683" y="1063173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30000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A6518D4-24F4-6140-A40A-FEDD1A828BCA}"/>
              </a:ext>
            </a:extLst>
          </p:cNvPr>
          <p:cNvSpPr txBox="1"/>
          <p:nvPr/>
        </p:nvSpPr>
        <p:spPr>
          <a:xfrm>
            <a:off x="7781427" y="1041633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1</a:t>
            </a:r>
            <a:r>
              <a:rPr lang="ko-KR" altLang="en-US" dirty="0"/>
              <a:t>000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1459E7B2-4D00-83F9-E651-10568BC100E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4774" r="55625" b="22635"/>
          <a:stretch>
            <a:fillRect/>
          </a:stretch>
        </p:blipFill>
        <p:spPr>
          <a:xfrm>
            <a:off x="-22052" y="1343558"/>
            <a:ext cx="5040000" cy="1089454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44491427-29FF-7D7B-D6C6-6AA33E015329}"/>
              </a:ext>
            </a:extLst>
          </p:cNvPr>
          <p:cNvSpPr txBox="1"/>
          <p:nvPr/>
        </p:nvSpPr>
        <p:spPr>
          <a:xfrm>
            <a:off x="2138885" y="2365703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2</a:t>
            </a:r>
            <a:r>
              <a:rPr lang="ko-KR" altLang="en-US" dirty="0"/>
              <a:t>000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2692FC7-6D47-C2AF-7D72-83A41EF61898}"/>
              </a:ext>
            </a:extLst>
          </p:cNvPr>
          <p:cNvSpPr txBox="1"/>
          <p:nvPr/>
        </p:nvSpPr>
        <p:spPr>
          <a:xfrm>
            <a:off x="7912256" y="2380022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29</a:t>
            </a:r>
            <a:r>
              <a:rPr lang="ko-KR" altLang="en-US" dirty="0"/>
              <a:t>00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7EAF1E54-E6B4-68C5-F14A-B38C8D83870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958" t="25344" r="51667" b="22463"/>
          <a:stretch>
            <a:fillRect/>
          </a:stretch>
        </p:blipFill>
        <p:spPr>
          <a:xfrm>
            <a:off x="0" y="2655919"/>
            <a:ext cx="5040000" cy="1089454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F908916-00D4-916F-CEC3-FE721AC53F35}"/>
              </a:ext>
            </a:extLst>
          </p:cNvPr>
          <p:cNvSpPr txBox="1"/>
          <p:nvPr/>
        </p:nvSpPr>
        <p:spPr>
          <a:xfrm>
            <a:off x="2189683" y="3725245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39</a:t>
            </a:r>
            <a:r>
              <a:rPr lang="ko-KR" altLang="en-US" dirty="0"/>
              <a:t>00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68343A-EDAE-B3FE-3A84-B8636CBED756}"/>
              </a:ext>
            </a:extLst>
          </p:cNvPr>
          <p:cNvSpPr txBox="1"/>
          <p:nvPr/>
        </p:nvSpPr>
        <p:spPr>
          <a:xfrm>
            <a:off x="7912256" y="3738339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42</a:t>
            </a:r>
            <a:r>
              <a:rPr lang="ko-KR" altLang="en-US" dirty="0"/>
              <a:t>00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F493DA8A-3ED2-CFFC-E711-B29EAA7A363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751" t="30324" r="51874" b="19997"/>
          <a:stretch>
            <a:fillRect/>
          </a:stretch>
        </p:blipFill>
        <p:spPr>
          <a:xfrm>
            <a:off x="0" y="4029681"/>
            <a:ext cx="5040000" cy="1032341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D5B6E9E9-B91A-50F9-7FFD-34BC02E61BEE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438" t="26683" r="51771" b="18550"/>
          <a:stretch>
            <a:fillRect/>
          </a:stretch>
        </p:blipFill>
        <p:spPr>
          <a:xfrm>
            <a:off x="-22052" y="5295530"/>
            <a:ext cx="5040000" cy="1150865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A74383AB-4D43-28FB-45CF-53965C7AFC2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0938" t="26709" r="4688" b="22052"/>
          <a:stretch>
            <a:fillRect/>
          </a:stretch>
        </p:blipFill>
        <p:spPr>
          <a:xfrm>
            <a:off x="5711565" y="11641"/>
            <a:ext cx="5040000" cy="1089454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126AF591-46BE-9B36-E036-6C5994C2B1A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9585" t="24774" r="5485" b="22635"/>
          <a:stretch>
            <a:fillRect/>
          </a:stretch>
        </p:blipFill>
        <p:spPr>
          <a:xfrm>
            <a:off x="5704263" y="1367520"/>
            <a:ext cx="5040000" cy="1075967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03BAFEFB-7457-3F0B-B158-4645EE52477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4236" t="25344" r="834" b="22463"/>
          <a:stretch>
            <a:fillRect/>
          </a:stretch>
        </p:blipFill>
        <p:spPr>
          <a:xfrm>
            <a:off x="5704263" y="2687772"/>
            <a:ext cx="5040000" cy="1075967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B72B8727-382E-8A17-6689-48AF7EDE4DCD}"/>
              </a:ext>
            </a:extLst>
          </p:cNvPr>
          <p:cNvSpPr txBox="1"/>
          <p:nvPr/>
        </p:nvSpPr>
        <p:spPr>
          <a:xfrm>
            <a:off x="2189683" y="4993729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52</a:t>
            </a:r>
            <a:r>
              <a:rPr lang="ko-KR" altLang="en-US" dirty="0"/>
              <a:t>00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6A3D711-8834-CD6A-FBEC-31188433BACF}"/>
              </a:ext>
            </a:extLst>
          </p:cNvPr>
          <p:cNvSpPr txBox="1"/>
          <p:nvPr/>
        </p:nvSpPr>
        <p:spPr>
          <a:xfrm>
            <a:off x="7912256" y="4993728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60</a:t>
            </a:r>
            <a:r>
              <a:rPr lang="ko-KR" altLang="en-US" dirty="0"/>
              <a:t>00</a:t>
            </a:r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F8075DD6-D6EC-05A2-CC91-7960B8647AE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53610" t="30324" r="1459" b="19997"/>
          <a:stretch>
            <a:fillRect/>
          </a:stretch>
        </p:blipFill>
        <p:spPr>
          <a:xfrm>
            <a:off x="5704263" y="4033424"/>
            <a:ext cx="5040000" cy="1019561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901F5496-60FA-7726-4755-F21F7E4ACEA1}"/>
              </a:ext>
            </a:extLst>
          </p:cNvPr>
          <p:cNvSpPr txBox="1"/>
          <p:nvPr/>
        </p:nvSpPr>
        <p:spPr>
          <a:xfrm>
            <a:off x="2189683" y="6446395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67</a:t>
            </a:r>
            <a:r>
              <a:rPr lang="ko-KR" altLang="en-US" dirty="0"/>
              <a:t>00</a:t>
            </a:r>
          </a:p>
        </p:txBody>
      </p:sp>
    </p:spTree>
    <p:extLst>
      <p:ext uri="{BB962C8B-B14F-4D97-AF65-F5344CB8AC3E}">
        <p14:creationId xmlns:p14="http://schemas.microsoft.com/office/powerpoint/2010/main" val="15872902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82F03F4C-5864-738F-3349-766F215CA2C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92669"/>
          <a:stretch>
            <a:fillRect/>
          </a:stretch>
        </p:blipFill>
        <p:spPr>
          <a:xfrm>
            <a:off x="0" y="285750"/>
            <a:ext cx="12192000" cy="666750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82F083C1-03A5-2CD3-2BA9-01AFCEBA0BE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824" y="2334193"/>
            <a:ext cx="6286500" cy="3048000"/>
          </a:xfrm>
          <a:prstGeom prst="rect">
            <a:avLst/>
          </a:prstGeom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9C5D0C20-9DCF-BC78-C8E9-66DC556FEB8A}"/>
              </a:ext>
            </a:extLst>
          </p:cNvPr>
          <p:cNvSpPr/>
          <p:nvPr/>
        </p:nvSpPr>
        <p:spPr>
          <a:xfrm>
            <a:off x="34925" y="952500"/>
            <a:ext cx="12122150" cy="991361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FABA9EAD-FC92-0087-6B53-DFB495F65FE4}"/>
              </a:ext>
            </a:extLst>
          </p:cNvPr>
          <p:cNvSpPr/>
          <p:nvPr/>
        </p:nvSpPr>
        <p:spPr>
          <a:xfrm>
            <a:off x="250824" y="1011690"/>
            <a:ext cx="1454150" cy="42046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Open Image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3E610587-D8C5-4A0E-F744-FFC00795507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370" t="7374" r="74969" b="88235"/>
          <a:stretch>
            <a:fillRect/>
          </a:stretch>
        </p:blipFill>
        <p:spPr>
          <a:xfrm>
            <a:off x="1920873" y="1018381"/>
            <a:ext cx="2908301" cy="420461"/>
          </a:xfrm>
          <a:prstGeom prst="rect">
            <a:avLst/>
          </a:prstGeom>
        </p:spPr>
      </p:pic>
      <p:sp>
        <p:nvSpPr>
          <p:cNvPr id="12" name="직사각형 11">
            <a:extLst>
              <a:ext uri="{FF2B5EF4-FFF2-40B4-BE49-F238E27FC236}">
                <a16:creationId xmlns:a16="http://schemas.microsoft.com/office/drawing/2014/main" id="{2C11CE93-5879-3145-E961-3318ADF05B0E}"/>
              </a:ext>
            </a:extLst>
          </p:cNvPr>
          <p:cNvSpPr/>
          <p:nvPr/>
        </p:nvSpPr>
        <p:spPr>
          <a:xfrm>
            <a:off x="3216274" y="1078026"/>
            <a:ext cx="1435100" cy="30117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accent6"/>
                </a:solidFill>
              </a:rPr>
              <a:t>jpg</a:t>
            </a:r>
            <a:endParaRPr lang="ko-KR" altLang="en-US" dirty="0">
              <a:solidFill>
                <a:schemeClr val="accent6"/>
              </a:solidFill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9A156DFC-221C-84E7-B561-E2A834FBF94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104" t="7778" r="61563" b="88445"/>
          <a:stretch>
            <a:fillRect/>
          </a:stretch>
        </p:blipFill>
        <p:spPr>
          <a:xfrm>
            <a:off x="5045073" y="1067366"/>
            <a:ext cx="2134855" cy="311830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20735C25-1F26-AE3F-AB0E-CCD920214A3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104" t="7778" r="61563" b="88445"/>
          <a:stretch>
            <a:fillRect/>
          </a:stretch>
        </p:blipFill>
        <p:spPr>
          <a:xfrm>
            <a:off x="7038973" y="1097641"/>
            <a:ext cx="2134855" cy="311830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818578DC-818F-3B5E-E164-95675976FDC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104" t="7778" r="61563" b="88445"/>
          <a:stretch>
            <a:fillRect/>
          </a:stretch>
        </p:blipFill>
        <p:spPr>
          <a:xfrm>
            <a:off x="5045073" y="1475807"/>
            <a:ext cx="2134855" cy="311830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11778C6A-9507-F231-9D82-288F32C5FDA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104" t="7778" r="61563" b="88445"/>
          <a:stretch>
            <a:fillRect/>
          </a:stretch>
        </p:blipFill>
        <p:spPr>
          <a:xfrm>
            <a:off x="7038973" y="1475807"/>
            <a:ext cx="2134855" cy="311830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8362C82A-57EF-1804-CA1A-DCE7E391ABAF}"/>
              </a:ext>
            </a:extLst>
          </p:cNvPr>
          <p:cNvSpPr txBox="1"/>
          <p:nvPr/>
        </p:nvSpPr>
        <p:spPr>
          <a:xfrm>
            <a:off x="5045073" y="1097641"/>
            <a:ext cx="901702" cy="338554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Start X</a:t>
            </a:r>
            <a:endParaRPr lang="ko-KR" altLang="en-US" sz="16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886FB6F-2B27-A1C5-5FEC-A88A3F61295A}"/>
              </a:ext>
            </a:extLst>
          </p:cNvPr>
          <p:cNvSpPr txBox="1"/>
          <p:nvPr/>
        </p:nvSpPr>
        <p:spPr>
          <a:xfrm>
            <a:off x="7038973" y="1106475"/>
            <a:ext cx="901702" cy="338554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Start Y</a:t>
            </a:r>
            <a:endParaRPr lang="ko-KR" altLang="en-US" sz="16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4DE0ACF-FC78-EEC3-C13F-287D11887D69}"/>
              </a:ext>
            </a:extLst>
          </p:cNvPr>
          <p:cNvSpPr txBox="1"/>
          <p:nvPr/>
        </p:nvSpPr>
        <p:spPr>
          <a:xfrm>
            <a:off x="5045073" y="1438842"/>
            <a:ext cx="901702" cy="338554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X Leng</a:t>
            </a:r>
            <a:endParaRPr lang="ko-KR" altLang="en-US" sz="160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D3F10C1-CB6E-8957-1696-6B4D14AE3418}"/>
              </a:ext>
            </a:extLst>
          </p:cNvPr>
          <p:cNvSpPr txBox="1"/>
          <p:nvPr/>
        </p:nvSpPr>
        <p:spPr>
          <a:xfrm>
            <a:off x="6987547" y="1476343"/>
            <a:ext cx="901702" cy="338554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Y Leng</a:t>
            </a:r>
            <a:endParaRPr lang="ko-KR" altLang="en-US" sz="1600" dirty="0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A34B1C04-C6C7-EF8E-4093-6D84956763B4}"/>
              </a:ext>
            </a:extLst>
          </p:cNvPr>
          <p:cNvSpPr/>
          <p:nvPr/>
        </p:nvSpPr>
        <p:spPr>
          <a:xfrm>
            <a:off x="10591803" y="1010773"/>
            <a:ext cx="1454150" cy="42046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STD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DA28444E-E9E2-16E4-437F-362959C77D42}"/>
              </a:ext>
            </a:extLst>
          </p:cNvPr>
          <p:cNvSpPr/>
          <p:nvPr/>
        </p:nvSpPr>
        <p:spPr>
          <a:xfrm>
            <a:off x="10591803" y="1482635"/>
            <a:ext cx="1454150" cy="42046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Grey Distribution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0F9B5E6E-9469-6B21-2A3A-A0C5495F0872}"/>
              </a:ext>
            </a:extLst>
          </p:cNvPr>
          <p:cNvSpPr/>
          <p:nvPr/>
        </p:nvSpPr>
        <p:spPr>
          <a:xfrm>
            <a:off x="977899" y="2717800"/>
            <a:ext cx="635001" cy="596900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1FC4929E-1398-24E1-332B-EFB79AC32887}"/>
              </a:ext>
            </a:extLst>
          </p:cNvPr>
          <p:cNvSpPr/>
          <p:nvPr/>
        </p:nvSpPr>
        <p:spPr>
          <a:xfrm>
            <a:off x="8959853" y="982775"/>
            <a:ext cx="1454150" cy="42046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ROI SET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pic>
        <p:nvPicPr>
          <p:cNvPr id="36" name="그림 35">
            <a:extLst>
              <a:ext uri="{FF2B5EF4-FFF2-40B4-BE49-F238E27FC236}">
                <a16:creationId xmlns:a16="http://schemas.microsoft.com/office/drawing/2014/main" id="{C5735CB6-106A-678E-D3F9-76D0381366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2914" y="2490417"/>
            <a:ext cx="4983161" cy="3783028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23A2CE93-9F3F-1EE5-56DE-BE055825987A}"/>
              </a:ext>
            </a:extLst>
          </p:cNvPr>
          <p:cNvSpPr txBox="1"/>
          <p:nvPr/>
        </p:nvSpPr>
        <p:spPr>
          <a:xfrm>
            <a:off x="7179928" y="6387584"/>
            <a:ext cx="1765300" cy="369332"/>
          </a:xfrm>
          <a:prstGeom prst="rect">
            <a:avLst/>
          </a:prstGeom>
          <a:solidFill>
            <a:srgbClr val="FFC000"/>
          </a:solidFill>
          <a:ln>
            <a:solidFill>
              <a:srgbClr val="00B0F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STD = 3.56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0628244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C7D321C-6EB1-DA72-0265-A0A90AAF02E0}"/>
              </a:ext>
            </a:extLst>
          </p:cNvPr>
          <p:cNvSpPr txBox="1"/>
          <p:nvPr/>
        </p:nvSpPr>
        <p:spPr>
          <a:xfrm>
            <a:off x="76200" y="152400"/>
            <a:ext cx="13095515" cy="61446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just">
              <a:lnSpc>
                <a:spcPct val="170000"/>
              </a:lnSpc>
              <a:buNone/>
            </a:pP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제 2 장 전력반도체 음파 특성 및 기존 기술 분석·· 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·········</a:t>
            </a: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····· 5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1 절 전력반도체 음파 특성 분석·················· 5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2 절 기존 기술 한계 및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B스캔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,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Inverse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Phase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제안······ ··· 8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제 3 장 </a:t>
            </a:r>
            <a:r>
              <a:rPr lang="ko-KR" altLang="ko-KR" sz="1800" b="1" i="0" spc="0" dirty="0" err="1">
                <a:solidFill>
                  <a:srgbClr val="000000"/>
                </a:solidFill>
                <a:effectLst/>
                <a:latin typeface="바탕체,한컴돋움"/>
              </a:rPr>
              <a:t>B스캔</a:t>
            </a: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 및 </a:t>
            </a:r>
            <a:r>
              <a:rPr lang="ko-KR" altLang="ko-KR" sz="1800" b="1" i="0" spc="0" dirty="0" err="1">
                <a:solidFill>
                  <a:srgbClr val="000000"/>
                </a:solidFill>
                <a:effectLst/>
                <a:latin typeface="바탕체,한컴돋움"/>
              </a:rPr>
              <a:t>Phase</a:t>
            </a: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 </a:t>
            </a:r>
            <a:r>
              <a:rPr lang="ko-KR" altLang="ko-KR" sz="1800" b="1" i="0" spc="0" dirty="0" err="1">
                <a:solidFill>
                  <a:srgbClr val="000000"/>
                </a:solidFill>
                <a:effectLst/>
                <a:latin typeface="바탕체,한컴돋움"/>
              </a:rPr>
              <a:t>Inverse</a:t>
            </a: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 모델링·········· 11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1 절 프레임워크 개요················ 11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2 절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B스캔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원리··········· 13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3 절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Inverse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Phase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원리·········· 19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4 절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B스캔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및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Inverse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Phase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구성········· 22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제 4 장 실험 및 고찰·················· 37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1 절 실험 환경 설정············ 37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2 절 결과 및 레이어 추정 분석··········· 41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3 절 최적 WD 도출··········· 41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제 5 장 결 론··········· 47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</p:txBody>
      </p:sp>
    </p:spTree>
    <p:extLst>
      <p:ext uri="{BB962C8B-B14F-4D97-AF65-F5344CB8AC3E}">
        <p14:creationId xmlns:p14="http://schemas.microsoft.com/office/powerpoint/2010/main" val="159558043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03ABCE1B-6B6A-A138-FF0F-A681D2620093}"/>
              </a:ext>
            </a:extLst>
          </p:cNvPr>
          <p:cNvSpPr/>
          <p:nvPr/>
        </p:nvSpPr>
        <p:spPr>
          <a:xfrm>
            <a:off x="1284514" y="4408714"/>
            <a:ext cx="9688286" cy="155665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4" name="그림 23">
            <a:extLst>
              <a:ext uri="{FF2B5EF4-FFF2-40B4-BE49-F238E27FC236}">
                <a16:creationId xmlns:a16="http://schemas.microsoft.com/office/drawing/2014/main" id="{40096D53-7D25-3A32-9937-99B53CBC6F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95829"/>
            <a:ext cx="12192000" cy="3989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357403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2FACC8C3-7732-CBB3-7CCA-6E98895C2C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89429"/>
            <a:ext cx="12192000" cy="3989941"/>
          </a:xfrm>
          <a:prstGeom prst="rect">
            <a:avLst/>
          </a:prstGeom>
        </p:spPr>
      </p:pic>
      <p:sp>
        <p:nvSpPr>
          <p:cNvPr id="8" name="화살표: 아래쪽 7">
            <a:extLst>
              <a:ext uri="{FF2B5EF4-FFF2-40B4-BE49-F238E27FC236}">
                <a16:creationId xmlns:a16="http://schemas.microsoft.com/office/drawing/2014/main" id="{3807E5FE-4FB6-E935-9161-6FE5C1AC0AAA}"/>
              </a:ext>
            </a:extLst>
          </p:cNvPr>
          <p:cNvSpPr/>
          <p:nvPr/>
        </p:nvSpPr>
        <p:spPr>
          <a:xfrm rot="10800000">
            <a:off x="4910667" y="4106333"/>
            <a:ext cx="1591733" cy="104140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652AFAC-2315-9317-6D3B-D17542F07289}"/>
              </a:ext>
            </a:extLst>
          </p:cNvPr>
          <p:cNvSpPr txBox="1"/>
          <p:nvPr/>
        </p:nvSpPr>
        <p:spPr>
          <a:xfrm>
            <a:off x="6265333" y="5029200"/>
            <a:ext cx="7958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음파 진행</a:t>
            </a:r>
          </a:p>
        </p:txBody>
      </p:sp>
    </p:spTree>
    <p:extLst>
      <p:ext uri="{BB962C8B-B14F-4D97-AF65-F5344CB8AC3E}">
        <p14:creationId xmlns:p14="http://schemas.microsoft.com/office/powerpoint/2010/main" val="3064749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Main graphic">
            <a:extLst>
              <a:ext uri="{FF2B5EF4-FFF2-40B4-BE49-F238E27FC236}">
                <a16:creationId xmlns:a16="http://schemas.microsoft.com/office/drawing/2014/main" id="{31E6868F-AE2D-B4E2-1B22-466B83C69439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291994" y="479032"/>
            <a:ext cx="5335920" cy="3809880"/>
          </a:xfrm>
          <a:prstGeom prst="rect">
            <a:avLst/>
          </a:prstGeom>
          <a:ln>
            <a:noFill/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5A70B09-DB35-90B6-3486-3D822B3DAB64}"/>
              </a:ext>
            </a:extLst>
          </p:cNvPr>
          <p:cNvSpPr txBox="1"/>
          <p:nvPr/>
        </p:nvSpPr>
        <p:spPr>
          <a:xfrm>
            <a:off x="1970314" y="4849517"/>
            <a:ext cx="92202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T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.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Reiter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, 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J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.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Schapdick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, 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M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.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Krug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, 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M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.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Muenzer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, and 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F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.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Wolter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, “ PWM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Dead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Times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in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Automotive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Traction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Inverters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using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IGBT,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SiC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MOSFET,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or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Si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/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SiC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Fusion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Switch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Power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Modules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.” </a:t>
            </a:r>
            <a:r>
              <a:rPr lang="ko-KR" altLang="ko-KR" sz="1800" b="0" i="1" dirty="0">
                <a:solidFill>
                  <a:schemeClr val="tx1"/>
                </a:solidFill>
                <a:effectLst/>
                <a:latin typeface="+mn-lt"/>
              </a:rPr>
              <a:t>IET Power Electronics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 19,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no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. 1 (2026): e70185. </a:t>
            </a:r>
            <a:r>
              <a:rPr lang="ko-KR" altLang="ko-KR" sz="1800" b="0" i="0" u="none" strike="noStrike" dirty="0">
                <a:solidFill>
                  <a:schemeClr val="tx1"/>
                </a:solidFill>
                <a:effectLst/>
                <a:latin typeface="+mn-lt"/>
                <a:hlinkClick r:id="rId4"/>
              </a:rPr>
              <a:t>https://doi.org/10.1049/pel2.70185</a:t>
            </a:r>
            <a:endParaRPr lang="ko-KR" altLang="en-US" dirty="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D38091CA-97E9-A082-395B-2123CF23C2B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56514" y="213170"/>
            <a:ext cx="6411686" cy="29664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858144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674C3A8D-F6E4-B034-8DBF-49F5DF2EB7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9200" y="566737"/>
            <a:ext cx="9753600" cy="5724525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FA416EAB-CFB1-3C1D-A6F0-D62F72BFF3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4639" y="5263243"/>
            <a:ext cx="438150" cy="2667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C47F416-6D48-783C-8505-1A13D51A2A4D}"/>
              </a:ext>
            </a:extLst>
          </p:cNvPr>
          <p:cNvSpPr txBox="1"/>
          <p:nvPr/>
        </p:nvSpPr>
        <p:spPr>
          <a:xfrm>
            <a:off x="478971" y="6291262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dirty="0">
                <a:hlinkClick r:id="rId4"/>
              </a:rPr>
              <a:t>초음파 검사의 </a:t>
            </a:r>
            <a:r>
              <a:rPr lang="ko-KR" altLang="ko-KR" dirty="0" err="1">
                <a:hlinkClick r:id="rId4"/>
              </a:rPr>
              <a:t>A-Scan</a:t>
            </a:r>
            <a:r>
              <a:rPr lang="ko-KR" altLang="ko-KR" dirty="0">
                <a:hlinkClick r:id="rId4"/>
              </a:rPr>
              <a:t>: 판독 방법, 표시 내용 및 사용 시기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2289603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그림 31">
            <a:extLst>
              <a:ext uri="{FF2B5EF4-FFF2-40B4-BE49-F238E27FC236}">
                <a16:creationId xmlns:a16="http://schemas.microsoft.com/office/drawing/2014/main" id="{46DD3C24-C8D0-46E0-6447-76CF62CBFA1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5644" t="4718" r="16331" b="13072"/>
          <a:stretch>
            <a:fillRect/>
          </a:stretch>
        </p:blipFill>
        <p:spPr>
          <a:xfrm>
            <a:off x="1177582" y="2236969"/>
            <a:ext cx="1222168" cy="102867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CC34F1F5-C7E2-F829-CB68-ED01A157D1D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5644" t="4718" r="16331" b="13072"/>
          <a:stretch>
            <a:fillRect/>
          </a:stretch>
        </p:blipFill>
        <p:spPr>
          <a:xfrm>
            <a:off x="1025182" y="2084569"/>
            <a:ext cx="1222168" cy="102867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8150CF6D-3DA0-7FD6-7FDF-DCF9EF0B54D4}"/>
              </a:ext>
            </a:extLst>
          </p:cNvPr>
          <p:cNvSpPr/>
          <p:nvPr/>
        </p:nvSpPr>
        <p:spPr>
          <a:xfrm>
            <a:off x="786300" y="488351"/>
            <a:ext cx="10440503" cy="578563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A7E842C7-F543-1E5F-4EE6-2C573692AD99}"/>
              </a:ext>
            </a:extLst>
          </p:cNvPr>
          <p:cNvCxnSpPr>
            <a:cxnSpLocks/>
          </p:cNvCxnSpPr>
          <p:nvPr/>
        </p:nvCxnSpPr>
        <p:spPr>
          <a:xfrm>
            <a:off x="2664887" y="562190"/>
            <a:ext cx="0" cy="432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C86FAB1D-5E95-7E9F-1974-0DD0777E5C8F}"/>
              </a:ext>
            </a:extLst>
          </p:cNvPr>
          <p:cNvSpPr txBox="1"/>
          <p:nvPr/>
        </p:nvSpPr>
        <p:spPr>
          <a:xfrm>
            <a:off x="1045087" y="567658"/>
            <a:ext cx="13546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>
                <a:latin typeface="바탕체" panose="02030609000101010101" pitchFamily="17" charset="-127"/>
                <a:ea typeface="바탕체" panose="02030609000101010101" pitchFamily="17" charset="-127"/>
              </a:rPr>
              <a:t>Input Data</a:t>
            </a:r>
            <a:endParaRPr lang="ko-KR" altLang="en-US" b="1" dirty="0"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329B4BB-E678-25A4-8B83-3F038DB0BC60}"/>
              </a:ext>
            </a:extLst>
          </p:cNvPr>
          <p:cNvSpPr txBox="1"/>
          <p:nvPr/>
        </p:nvSpPr>
        <p:spPr>
          <a:xfrm>
            <a:off x="4614337" y="567658"/>
            <a:ext cx="29633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>
                <a:latin typeface="바탕체" panose="02030609000101010101" pitchFamily="17" charset="-127"/>
                <a:ea typeface="바탕체" panose="02030609000101010101" pitchFamily="17" charset="-127"/>
              </a:rPr>
              <a:t>신호 처리 및 경로 분리</a:t>
            </a:r>
            <a:endParaRPr lang="ko-KR" altLang="en-US" b="1" dirty="0"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2728A20-5BF9-6121-E953-48ABEF1089B1}"/>
              </a:ext>
            </a:extLst>
          </p:cNvPr>
          <p:cNvSpPr txBox="1"/>
          <p:nvPr/>
        </p:nvSpPr>
        <p:spPr>
          <a:xfrm>
            <a:off x="9745137" y="567658"/>
            <a:ext cx="29633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>
                <a:latin typeface="바탕체" panose="02030609000101010101" pitchFamily="17" charset="-127"/>
                <a:ea typeface="바탕체" panose="02030609000101010101" pitchFamily="17" charset="-127"/>
              </a:rPr>
              <a:t>Output</a:t>
            </a:r>
            <a:endParaRPr lang="ko-KR" altLang="en-US" b="1" dirty="0"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pic>
        <p:nvPicPr>
          <p:cNvPr id="21" name="그림 20">
            <a:extLst>
              <a:ext uri="{FF2B5EF4-FFF2-40B4-BE49-F238E27FC236}">
                <a16:creationId xmlns:a16="http://schemas.microsoft.com/office/drawing/2014/main" id="{87C71757-B8BE-DB7D-65E5-042B9B73F95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5644" t="4718" r="16331" b="13072"/>
          <a:stretch>
            <a:fillRect/>
          </a:stretch>
        </p:blipFill>
        <p:spPr>
          <a:xfrm>
            <a:off x="872782" y="1932169"/>
            <a:ext cx="1222168" cy="102867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CBF63937-ADD6-0484-0E1A-167D49556606}"/>
              </a:ext>
            </a:extLst>
          </p:cNvPr>
          <p:cNvSpPr txBox="1"/>
          <p:nvPr/>
        </p:nvSpPr>
        <p:spPr>
          <a:xfrm>
            <a:off x="810945" y="3546230"/>
            <a:ext cx="193760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>
                <a:latin typeface="바탕체" panose="02030609000101010101" pitchFamily="17" charset="-127"/>
                <a:ea typeface="바탕체" panose="02030609000101010101" pitchFamily="17" charset="-127"/>
              </a:rPr>
              <a:t>A-Scan 1D Data</a:t>
            </a:r>
          </a:p>
          <a:p>
            <a:r>
              <a:rPr lang="en-US" altLang="ko-KR" sz="1600" dirty="0">
                <a:latin typeface="바탕체" panose="02030609000101010101" pitchFamily="17" charset="-127"/>
                <a:ea typeface="바탕체" panose="02030609000101010101" pitchFamily="17" charset="-127"/>
              </a:rPr>
              <a:t>* Row Array</a:t>
            </a:r>
            <a:endParaRPr lang="ko-KR" altLang="en-US" sz="1600" dirty="0"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7E0E77A1-6277-B22E-E389-4100DB8D4E7A}"/>
              </a:ext>
            </a:extLst>
          </p:cNvPr>
          <p:cNvSpPr/>
          <p:nvPr/>
        </p:nvSpPr>
        <p:spPr>
          <a:xfrm>
            <a:off x="2726222" y="1146221"/>
            <a:ext cx="5144395" cy="35826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1. </a:t>
            </a:r>
            <a:r>
              <a:rPr lang="en-US" altLang="ko-KR" sz="1200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BandPass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Filter</a:t>
            </a:r>
            <a:endParaRPr lang="ko-KR" altLang="en-US" sz="1200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A0F4C51A-0F9C-F17B-2FF6-291ADFCB1F75}"/>
              </a:ext>
            </a:extLst>
          </p:cNvPr>
          <p:cNvSpPr/>
          <p:nvPr/>
        </p:nvSpPr>
        <p:spPr>
          <a:xfrm>
            <a:off x="2726222" y="1642253"/>
            <a:ext cx="6157156" cy="35826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2. </a:t>
            </a:r>
            <a:r>
              <a:rPr lang="en-US" altLang="ko-KR" sz="1200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Alignent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&amp; ROI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잘라내기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: Align Index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기준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2D Matrix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생성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9A2C4DE-3150-2D6A-5DD9-2B41133C1A9C}"/>
              </a:ext>
            </a:extLst>
          </p:cNvPr>
          <p:cNvSpPr/>
          <p:nvPr/>
        </p:nvSpPr>
        <p:spPr>
          <a:xfrm>
            <a:off x="2717756" y="2146136"/>
            <a:ext cx="6157156" cy="35826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3. T.G.C (Time Gain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보상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)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적용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: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깊이 감쇄에 따른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보상</a:t>
            </a: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5E7AD8DB-BDB4-8F64-704C-8BAF98214E26}"/>
              </a:ext>
            </a:extLst>
          </p:cNvPr>
          <p:cNvSpPr/>
          <p:nvPr/>
        </p:nvSpPr>
        <p:spPr>
          <a:xfrm>
            <a:off x="2700822" y="2650547"/>
            <a:ext cx="6157156" cy="35826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4. Envelope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추출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: </a:t>
            </a:r>
            <a:r>
              <a:rPr lang="ko-KR" altLang="en-US" sz="1200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힐베르트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변환 기반 양의 진폭 추출</a:t>
            </a: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9FD64C44-B9EC-4A3D-18BC-234ED395FEC0}"/>
              </a:ext>
            </a:extLst>
          </p:cNvPr>
          <p:cNvSpPr/>
          <p:nvPr/>
        </p:nvSpPr>
        <p:spPr>
          <a:xfrm>
            <a:off x="2700822" y="3154814"/>
            <a:ext cx="6157156" cy="35826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5. Log Compression :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어두운 신호를 밝게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밝은 신호를 조금 어둡게 </a:t>
            </a: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402960B3-0B92-B0C8-532B-CB4687E78760}"/>
              </a:ext>
            </a:extLst>
          </p:cNvPr>
          <p:cNvSpPr/>
          <p:nvPr/>
        </p:nvSpPr>
        <p:spPr>
          <a:xfrm>
            <a:off x="2700822" y="3666335"/>
            <a:ext cx="6157156" cy="44991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6. Min-Max Clipping &amp; </a:t>
            </a:r>
            <a:r>
              <a:rPr lang="en-US" altLang="ko-KR" sz="1200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Normaliziation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: </a:t>
            </a:r>
          </a:p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  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사용자 지정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[Min, Max]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범위 밖 잘라내기 후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[0, 1]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스케일링</a:t>
            </a: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CC57B0DD-1E06-D0F7-0FD2-D7F37835D953}"/>
              </a:ext>
            </a:extLst>
          </p:cNvPr>
          <p:cNvSpPr/>
          <p:nvPr/>
        </p:nvSpPr>
        <p:spPr>
          <a:xfrm>
            <a:off x="2726222" y="4257841"/>
            <a:ext cx="6157156" cy="35826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7. 8-bit Quantization : 0-255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영상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8bit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화</a:t>
            </a:r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26D129E8-72B9-36AA-7C3D-C79DEB9E35A8}"/>
              </a:ext>
            </a:extLst>
          </p:cNvPr>
          <p:cNvSpPr/>
          <p:nvPr/>
        </p:nvSpPr>
        <p:spPr>
          <a:xfrm>
            <a:off x="2717756" y="4762254"/>
            <a:ext cx="6157156" cy="47794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3. Inverse Phase Index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추출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:  Align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Index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로부터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ROI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범위 안에서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Search. Ref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기준 파형과 정 반대 모양이 있을 경우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Return</a:t>
            </a:r>
            <a:endParaRPr lang="ko-KR" altLang="en-US" sz="1200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4257BB24-602C-12A2-BEEC-CFD4547E49A7}"/>
              </a:ext>
            </a:extLst>
          </p:cNvPr>
          <p:cNvSpPr/>
          <p:nvPr/>
        </p:nvSpPr>
        <p:spPr>
          <a:xfrm>
            <a:off x="2700822" y="5391137"/>
            <a:ext cx="6157156" cy="47794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7. Inverse Phase Index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가 있을 경우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이에 해당하는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B-scan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해당 부위에 파란색을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Overlay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: Toggle Switch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로 적용 유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/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무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93A8DEA5-E57A-873D-81FD-90BE9E4607C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632" r="14822" b="6072"/>
          <a:stretch>
            <a:fillRect/>
          </a:stretch>
        </p:blipFill>
        <p:spPr>
          <a:xfrm>
            <a:off x="9336851" y="1419828"/>
            <a:ext cx="872162" cy="3273079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38457BDC-013F-A7B4-2F69-B1D6043EAB3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632" r="14822" b="6072"/>
          <a:stretch>
            <a:fillRect/>
          </a:stretch>
        </p:blipFill>
        <p:spPr>
          <a:xfrm>
            <a:off x="10294662" y="1419828"/>
            <a:ext cx="872162" cy="3273079"/>
          </a:xfrm>
          <a:prstGeom prst="rect">
            <a:avLst/>
          </a:prstGeom>
        </p:spPr>
      </p:pic>
      <p:sp>
        <p:nvSpPr>
          <p:cNvPr id="12" name="직사각형 11">
            <a:extLst>
              <a:ext uri="{FF2B5EF4-FFF2-40B4-BE49-F238E27FC236}">
                <a16:creationId xmlns:a16="http://schemas.microsoft.com/office/drawing/2014/main" id="{4B4063BB-B38E-AEAE-CA44-7830298D6CD3}"/>
              </a:ext>
            </a:extLst>
          </p:cNvPr>
          <p:cNvSpPr/>
          <p:nvPr/>
        </p:nvSpPr>
        <p:spPr>
          <a:xfrm>
            <a:off x="10705344" y="2871425"/>
            <a:ext cx="45719" cy="7286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376C058-4C6A-96EA-A0D1-073142C1D632}"/>
              </a:ext>
            </a:extLst>
          </p:cNvPr>
          <p:cNvSpPr txBox="1"/>
          <p:nvPr/>
        </p:nvSpPr>
        <p:spPr>
          <a:xfrm>
            <a:off x="9633300" y="4727562"/>
            <a:ext cx="193760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b="1" dirty="0">
                <a:latin typeface="바탕체" panose="02030609000101010101" pitchFamily="17" charset="-127"/>
                <a:ea typeface="바탕체" panose="02030609000101010101" pitchFamily="17" charset="-127"/>
              </a:rPr>
              <a:t>B-scan Data</a:t>
            </a:r>
          </a:p>
        </p:txBody>
      </p:sp>
      <p:graphicFrame>
        <p:nvGraphicFramePr>
          <p:cNvPr id="27" name="표 26">
            <a:extLst>
              <a:ext uri="{FF2B5EF4-FFF2-40B4-BE49-F238E27FC236}">
                <a16:creationId xmlns:a16="http://schemas.microsoft.com/office/drawing/2014/main" id="{B0538C60-8C55-6F08-5843-7E714E25D658}"/>
              </a:ext>
            </a:extLst>
          </p:cNvPr>
          <p:cNvGraphicFramePr>
            <a:graphicFrameLocks noGrp="1"/>
          </p:cNvGraphicFramePr>
          <p:nvPr/>
        </p:nvGraphicFramePr>
        <p:xfrm>
          <a:off x="9383908" y="5011188"/>
          <a:ext cx="1821508" cy="644092"/>
        </p:xfrm>
        <a:graphic>
          <a:graphicData uri="http://schemas.openxmlformats.org/drawingml/2006/table">
            <a:tbl>
              <a:tblPr firstRow="1" bandRow="1">
                <a:tableStyleId>{5FD0F851-EC5A-4D38-B0AD-8093EC10F338}</a:tableStyleId>
              </a:tblPr>
              <a:tblGrid>
                <a:gridCol w="910754">
                  <a:extLst>
                    <a:ext uri="{9D8B030D-6E8A-4147-A177-3AD203B41FA5}">
                      <a16:colId xmlns:a16="http://schemas.microsoft.com/office/drawing/2014/main" val="3111505578"/>
                    </a:ext>
                  </a:extLst>
                </a:gridCol>
                <a:gridCol w="910754">
                  <a:extLst>
                    <a:ext uri="{9D8B030D-6E8A-4147-A177-3AD203B41FA5}">
                      <a16:colId xmlns:a16="http://schemas.microsoft.com/office/drawing/2014/main" val="1898531984"/>
                    </a:ext>
                  </a:extLst>
                </a:gridCol>
              </a:tblGrid>
              <a:tr h="32204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Inverse Phase</a:t>
                      </a:r>
                      <a:endParaRPr lang="ko-KR" altLang="en-US" sz="14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31095302"/>
                  </a:ext>
                </a:extLst>
              </a:tr>
              <a:tr h="32204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Off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On</a:t>
                      </a:r>
                      <a:endParaRPr lang="ko-KR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9094202"/>
                  </a:ext>
                </a:extLst>
              </a:tr>
            </a:tbl>
          </a:graphicData>
        </a:graphic>
      </p:graphicFrame>
      <p:cxnSp>
        <p:nvCxnSpPr>
          <p:cNvPr id="35" name="직선 연결선 34">
            <a:extLst>
              <a:ext uri="{FF2B5EF4-FFF2-40B4-BE49-F238E27FC236}">
                <a16:creationId xmlns:a16="http://schemas.microsoft.com/office/drawing/2014/main" id="{3E897584-6E12-C026-C55D-A5197569CDC5}"/>
              </a:ext>
            </a:extLst>
          </p:cNvPr>
          <p:cNvCxnSpPr>
            <a:cxnSpLocks/>
          </p:cNvCxnSpPr>
          <p:nvPr/>
        </p:nvCxnSpPr>
        <p:spPr>
          <a:xfrm>
            <a:off x="9163659" y="562190"/>
            <a:ext cx="0" cy="432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F9E41950-F39C-5C1B-038D-B9107770FD1C}"/>
              </a:ext>
            </a:extLst>
          </p:cNvPr>
          <p:cNvSpPr txBox="1"/>
          <p:nvPr/>
        </p:nvSpPr>
        <p:spPr>
          <a:xfrm>
            <a:off x="2748547" y="6105676"/>
            <a:ext cx="63518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ctr">
              <a:lnSpc>
                <a:spcPct val="100000"/>
              </a:lnSpc>
              <a:buNone/>
            </a:pPr>
            <a:r>
              <a:rPr lang="ko-KR" altLang="ko-KR" sz="1800" b="0" i="0" spc="0" dirty="0">
                <a:solidFill>
                  <a:schemeClr val="tx1"/>
                </a:solidFill>
                <a:effectLst/>
                <a:latin typeface="바탕체" panose="02030609000101010101" pitchFamily="17" charset="-127"/>
                <a:ea typeface="바탕체" panose="02030609000101010101" pitchFamily="17" charset="-127"/>
              </a:rPr>
              <a:t>그림 </a:t>
            </a:r>
            <a:r>
              <a:rPr lang="en-US" altLang="ko-KR" sz="1800" b="0" i="0" spc="0" dirty="0">
                <a:solidFill>
                  <a:schemeClr val="tx1"/>
                </a:solidFill>
                <a:effectLst/>
                <a:latin typeface="바탕체" panose="02030609000101010101" pitchFamily="17" charset="-127"/>
                <a:ea typeface="바탕체" panose="02030609000101010101" pitchFamily="17" charset="-127"/>
              </a:rPr>
              <a:t>3</a:t>
            </a:r>
            <a:r>
              <a:rPr lang="ko-KR" altLang="ko-KR" sz="1800" b="0" i="0" spc="0" dirty="0">
                <a:solidFill>
                  <a:schemeClr val="tx1"/>
                </a:solidFill>
                <a:effectLst/>
                <a:latin typeface="바탕체" panose="02030609000101010101" pitchFamily="17" charset="-127"/>
                <a:ea typeface="바탕체" panose="02030609000101010101" pitchFamily="17" charset="-127"/>
              </a:rPr>
              <a:t>. </a:t>
            </a:r>
            <a:r>
              <a:rPr lang="ko-KR" altLang="en-US" sz="1800" b="0" i="0" spc="0" dirty="0">
                <a:solidFill>
                  <a:schemeClr val="tx1"/>
                </a:solidFill>
                <a:effectLst/>
                <a:latin typeface="바탕체" panose="02030609000101010101" pitchFamily="17" charset="-127"/>
                <a:ea typeface="바탕체" panose="02030609000101010101" pitchFamily="17" charset="-127"/>
              </a:rPr>
              <a:t>전체 프레임 워크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8316843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D10FC5A8-349F-7F14-4E15-D786D98F0BBC}"/>
              </a:ext>
            </a:extLst>
          </p:cNvPr>
          <p:cNvSpPr/>
          <p:nvPr/>
        </p:nvSpPr>
        <p:spPr>
          <a:xfrm>
            <a:off x="108488" y="356460"/>
            <a:ext cx="11887200" cy="105388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Phase Inverse </a:t>
            </a:r>
            <a:r>
              <a:rPr lang="ko-KR" altLang="en-US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과검</a:t>
            </a:r>
            <a:r>
              <a:rPr lang="ko-KR" altLang="en-US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제어 </a:t>
            </a:r>
            <a:r>
              <a:rPr lang="en-US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: </a:t>
            </a:r>
            <a:r>
              <a:rPr lang="ko-KR" altLang="en-US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복합 필터링 </a:t>
            </a:r>
            <a:r>
              <a:rPr lang="ko-KR" altLang="en-US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매커니즘</a:t>
            </a:r>
            <a:endParaRPr lang="ko-KR" altLang="en-US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C663435-24C2-6B32-9C3B-E81D7F0176C8}"/>
              </a:ext>
            </a:extLst>
          </p:cNvPr>
          <p:cNvSpPr/>
          <p:nvPr/>
        </p:nvSpPr>
        <p:spPr>
          <a:xfrm>
            <a:off x="108488" y="1704812"/>
            <a:ext cx="11887200" cy="493767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8E8F3A4-AF6B-F7E4-7B93-8DB2A8B1166E}"/>
              </a:ext>
            </a:extLst>
          </p:cNvPr>
          <p:cNvSpPr/>
          <p:nvPr/>
        </p:nvSpPr>
        <p:spPr>
          <a:xfrm>
            <a:off x="457198" y="1921788"/>
            <a:ext cx="6261315" cy="60443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[원시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A-Scan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신호] </a:t>
            </a:r>
            <a:r>
              <a:rPr lang="ko-KR" altLang="en-US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를</a:t>
            </a:r>
            <a:r>
              <a:rPr lang="en-US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</a:t>
            </a:r>
            <a:r>
              <a:rPr lang="ko-KR" altLang="en-US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상관계수 연산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CC288EFB-AF18-D85C-814C-7BF7FFE91A53}"/>
              </a:ext>
            </a:extLst>
          </p:cNvPr>
          <p:cNvSpPr/>
          <p:nvPr/>
        </p:nvSpPr>
        <p:spPr>
          <a:xfrm>
            <a:off x="457198" y="2916263"/>
            <a:ext cx="11244022" cy="60443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[1단계] 상관계수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임계값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검증 (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r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k_inv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] ≤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r_th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) ───(불만족)───► [정상/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비결함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처리]</a:t>
            </a:r>
            <a:endParaRPr lang="ko-KR" altLang="en-US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829F3993-6B61-F3BF-86A8-73615CB149CF}"/>
              </a:ext>
            </a:extLst>
          </p:cNvPr>
          <p:cNvSpPr/>
          <p:nvPr/>
        </p:nvSpPr>
        <p:spPr>
          <a:xfrm>
            <a:off x="457197" y="3908154"/>
            <a:ext cx="11244022" cy="60443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[2단계] 절대 진폭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임계값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검증 (|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s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k_inv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]| ≥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A_th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) ──(불만족)───► [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과검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차단 (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Noise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)]</a:t>
            </a:r>
            <a:endParaRPr lang="ko-KR" altLang="en-US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04A43A3F-88BA-016D-6F1F-1564108183F7}"/>
              </a:ext>
            </a:extLst>
          </p:cNvPr>
          <p:cNvSpPr/>
          <p:nvPr/>
        </p:nvSpPr>
        <p:spPr>
          <a:xfrm>
            <a:off x="457197" y="4897461"/>
            <a:ext cx="11244022" cy="60443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[3단계] 공간 ROI 경계 검증 (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n_start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≤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k_inv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≤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n_end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) ─(불만족)──► [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과검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차단 (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Boundary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)]</a:t>
            </a:r>
            <a:endParaRPr lang="ko-KR" altLang="en-US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67B11A30-10CF-80B1-454E-6E77F513D950}"/>
              </a:ext>
            </a:extLst>
          </p:cNvPr>
          <p:cNvSpPr/>
          <p:nvPr/>
        </p:nvSpPr>
        <p:spPr>
          <a:xfrm>
            <a:off x="457196" y="5855772"/>
            <a:ext cx="6261315" cy="60443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[최종 결함 판정 (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k_inv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확정 및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Overlay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표시)]</a:t>
            </a:r>
            <a:endParaRPr lang="ko-KR" altLang="en-US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CF030184-E2DF-0C43-1B4B-8386E9F0B139}"/>
              </a:ext>
            </a:extLst>
          </p:cNvPr>
          <p:cNvCxnSpPr/>
          <p:nvPr/>
        </p:nvCxnSpPr>
        <p:spPr>
          <a:xfrm>
            <a:off x="1906292" y="2557219"/>
            <a:ext cx="0" cy="3590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0E3BA0D9-4D3D-9C89-F978-988CE43AB022}"/>
              </a:ext>
            </a:extLst>
          </p:cNvPr>
          <p:cNvCxnSpPr/>
          <p:nvPr/>
        </p:nvCxnSpPr>
        <p:spPr>
          <a:xfrm>
            <a:off x="1906292" y="3520698"/>
            <a:ext cx="0" cy="3590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2345C715-F26B-3E88-62F4-B1B19FB6BB26}"/>
              </a:ext>
            </a:extLst>
          </p:cNvPr>
          <p:cNvCxnSpPr/>
          <p:nvPr/>
        </p:nvCxnSpPr>
        <p:spPr>
          <a:xfrm>
            <a:off x="1934706" y="4553915"/>
            <a:ext cx="0" cy="3590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0AE2A058-01C4-C026-21CA-1477E7DFD0B8}"/>
              </a:ext>
            </a:extLst>
          </p:cNvPr>
          <p:cNvCxnSpPr/>
          <p:nvPr/>
        </p:nvCxnSpPr>
        <p:spPr>
          <a:xfrm>
            <a:off x="1906292" y="5496725"/>
            <a:ext cx="0" cy="3590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DF5DF7A9-59D7-3E4A-AC21-EE790EEB628A}"/>
              </a:ext>
            </a:extLst>
          </p:cNvPr>
          <p:cNvSpPr txBox="1"/>
          <p:nvPr/>
        </p:nvSpPr>
        <p:spPr>
          <a:xfrm>
            <a:off x="1934706" y="2526223"/>
            <a:ext cx="10719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>
                <a:latin typeface="바탕체" panose="02030609000101010101" pitchFamily="17" charset="-127"/>
                <a:ea typeface="바탕체" panose="02030609000101010101" pitchFamily="17" charset="-127"/>
              </a:rPr>
              <a:t>만족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FA2186A-061B-5241-5673-54D19B727841}"/>
              </a:ext>
            </a:extLst>
          </p:cNvPr>
          <p:cNvSpPr txBox="1"/>
          <p:nvPr/>
        </p:nvSpPr>
        <p:spPr>
          <a:xfrm>
            <a:off x="1934706" y="3499990"/>
            <a:ext cx="10719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바탕체" panose="02030609000101010101" pitchFamily="17" charset="-127"/>
                <a:ea typeface="바탕체" panose="02030609000101010101" pitchFamily="17" charset="-127"/>
              </a:rPr>
              <a:t>만족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260E021-CCD3-129D-8906-92DE6A3608FD}"/>
              </a:ext>
            </a:extLst>
          </p:cNvPr>
          <p:cNvSpPr txBox="1"/>
          <p:nvPr/>
        </p:nvSpPr>
        <p:spPr>
          <a:xfrm>
            <a:off x="1934706" y="4503569"/>
            <a:ext cx="10719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바탕체" panose="02030609000101010101" pitchFamily="17" charset="-127"/>
                <a:ea typeface="바탕체" panose="02030609000101010101" pitchFamily="17" charset="-127"/>
              </a:rPr>
              <a:t>만족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C1F5196-7A53-4CFE-A3CD-904FA82833E9}"/>
              </a:ext>
            </a:extLst>
          </p:cNvPr>
          <p:cNvSpPr txBox="1"/>
          <p:nvPr/>
        </p:nvSpPr>
        <p:spPr>
          <a:xfrm>
            <a:off x="1934706" y="5468316"/>
            <a:ext cx="10719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바탕체" panose="02030609000101010101" pitchFamily="17" charset="-127"/>
                <a:ea typeface="바탕체" panose="02030609000101010101" pitchFamily="17" charset="-127"/>
              </a:rPr>
              <a:t>만족</a:t>
            </a:r>
          </a:p>
        </p:txBody>
      </p:sp>
    </p:spTree>
    <p:extLst>
      <p:ext uri="{BB962C8B-B14F-4D97-AF65-F5344CB8AC3E}">
        <p14:creationId xmlns:p14="http://schemas.microsoft.com/office/powerpoint/2010/main" val="90216829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A8DB5243-2A9A-ECB4-1226-0AE1721E21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22250"/>
            <a:ext cx="12192000" cy="6413500"/>
          </a:xfrm>
          <a:prstGeom prst="rect">
            <a:avLst/>
          </a:prstGeom>
        </p:spPr>
      </p:pic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964FD839-F092-A26A-AD31-7D9463E776C7}"/>
              </a:ext>
            </a:extLst>
          </p:cNvPr>
          <p:cNvCxnSpPr/>
          <p:nvPr/>
        </p:nvCxnSpPr>
        <p:spPr>
          <a:xfrm>
            <a:off x="7968343" y="631371"/>
            <a:ext cx="0" cy="642258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그림 8">
            <a:extLst>
              <a:ext uri="{FF2B5EF4-FFF2-40B4-BE49-F238E27FC236}">
                <a16:creationId xmlns:a16="http://schemas.microsoft.com/office/drawing/2014/main" id="{41E3A63C-3843-6DDA-3BF4-3B07FBC3053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5893" t="6209" r="35893" b="83777"/>
          <a:stretch>
            <a:fillRect/>
          </a:stretch>
        </p:blipFill>
        <p:spPr>
          <a:xfrm>
            <a:off x="9318173" y="631371"/>
            <a:ext cx="1001485" cy="642258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5B949753-04B8-CDC0-F51A-681F4A1E1A51}"/>
              </a:ext>
            </a:extLst>
          </p:cNvPr>
          <p:cNvSpPr/>
          <p:nvPr/>
        </p:nvSpPr>
        <p:spPr>
          <a:xfrm>
            <a:off x="7968343" y="881744"/>
            <a:ext cx="1240969" cy="2286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Phase Inverse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302BAA3-E586-64AC-B13A-A81C0DF01405}"/>
              </a:ext>
            </a:extLst>
          </p:cNvPr>
          <p:cNvSpPr/>
          <p:nvPr/>
        </p:nvSpPr>
        <p:spPr>
          <a:xfrm>
            <a:off x="9492340" y="756558"/>
            <a:ext cx="1240969" cy="2286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</a:rPr>
              <a:t>Blue Apply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FB9238E5-2E4A-7120-95C0-7BAE0269CB65}"/>
              </a:ext>
            </a:extLst>
          </p:cNvPr>
          <p:cNvSpPr/>
          <p:nvPr/>
        </p:nvSpPr>
        <p:spPr>
          <a:xfrm>
            <a:off x="9514108" y="1015093"/>
            <a:ext cx="1240969" cy="2286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</a:rPr>
              <a:t>No Apply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1839057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0DF6755B-C4FE-F5F8-C381-31E65A8A9E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37" y="4762"/>
            <a:ext cx="12125325" cy="6848475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7467EF61-7BA2-5D07-0535-A1C756D0C0F0}"/>
              </a:ext>
            </a:extLst>
          </p:cNvPr>
          <p:cNvSpPr/>
          <p:nvPr/>
        </p:nvSpPr>
        <p:spPr>
          <a:xfrm>
            <a:off x="6096000" y="4607859"/>
            <a:ext cx="6062662" cy="47512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화살표: 아래쪽 6">
            <a:extLst>
              <a:ext uri="{FF2B5EF4-FFF2-40B4-BE49-F238E27FC236}">
                <a16:creationId xmlns:a16="http://schemas.microsoft.com/office/drawing/2014/main" id="{C7A68C4A-B433-B1C3-8F90-B309B7726C7B}"/>
              </a:ext>
            </a:extLst>
          </p:cNvPr>
          <p:cNvSpPr/>
          <p:nvPr/>
        </p:nvSpPr>
        <p:spPr>
          <a:xfrm>
            <a:off x="2743200" y="5405718"/>
            <a:ext cx="421341" cy="215153"/>
          </a:xfrm>
          <a:prstGeom prst="down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641838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131</TotalTime>
  <Words>1135</Words>
  <Application>Microsoft Office PowerPoint</Application>
  <PresentationFormat>와이드스크린</PresentationFormat>
  <Paragraphs>152</Paragraphs>
  <Slides>24</Slides>
  <Notes>4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24</vt:i4>
      </vt:variant>
    </vt:vector>
  </HeadingPairs>
  <TitlesOfParts>
    <vt:vector size="31" baseType="lpstr">
      <vt:lpstr>맑은 고딕</vt:lpstr>
      <vt:lpstr>바탕체</vt:lpstr>
      <vt:lpstr>바탕체,한컴돋움</vt:lpstr>
      <vt:lpstr>함초롬바탕</vt:lpstr>
      <vt:lpstr>Arial</vt:lpstr>
      <vt:lpstr>Consolas</vt:lpstr>
      <vt:lpstr>Office 테마</vt:lpstr>
      <vt:lpstr>논문 자료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양회현</dc:creator>
  <cp:lastModifiedBy>뷰온 주식회사</cp:lastModifiedBy>
  <cp:revision>5</cp:revision>
  <dcterms:created xsi:type="dcterms:W3CDTF">2026-08-23T23:35:07Z</dcterms:created>
  <dcterms:modified xsi:type="dcterms:W3CDTF">2026-08-27T02:21:53Z</dcterms:modified>
</cp:coreProperties>
</file>