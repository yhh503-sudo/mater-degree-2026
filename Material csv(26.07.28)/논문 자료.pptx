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1577" r:id="rId3"/>
    <p:sldId id="1578" r:id="rId4"/>
    <p:sldId id="1579" r:id="rId5"/>
    <p:sldId id="1580" r:id="rId6"/>
    <p:sldId id="1581" r:id="rId7"/>
    <p:sldId id="1582" r:id="rId8"/>
    <p:sldId id="1583" r:id="rId9"/>
    <p:sldId id="1584" r:id="rId10"/>
    <p:sldId id="1585" r:id="rId11"/>
    <p:sldId id="1596" r:id="rId12"/>
    <p:sldId id="1586" r:id="rId13"/>
    <p:sldId id="1588" r:id="rId14"/>
    <p:sldId id="1591" r:id="rId15"/>
    <p:sldId id="1589" r:id="rId16"/>
    <p:sldId id="1590" r:id="rId17"/>
    <p:sldId id="1592" r:id="rId18"/>
    <p:sldId id="1593" r:id="rId19"/>
    <p:sldId id="1594" r:id="rId20"/>
    <p:sldId id="1595" r:id="rId21"/>
    <p:sldId id="1597" r:id="rId22"/>
    <p:sldId id="1598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ADD0A9-ECE3-4046-AAEC-24AACBBB2F3E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E6EFEF-B488-4401-9D81-0EE426595D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61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5613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7249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5767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4864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9FE657-7742-E0C5-D4A8-F577E68EB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FEF8CA0-86EC-42C4-AAF0-62A24D3C6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7D47F0-9976-F843-DD7B-858028652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7344BE4-F112-668C-1EDE-26149663F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970829-1E3A-B922-11B3-B96805DDD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201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A8FFE-D795-B6BA-28DE-F6EC4E18B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9E831B-0393-F000-C5FE-A4307A58F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26D494-DF0A-3E16-C1ED-B31842215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8C0161-C039-C82C-C6E6-C8E3A9726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28277A-A1CF-B86A-16F3-8BFD528E1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267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1AE3CC-10E5-C5D8-32B2-F1B198836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48E34B-06F2-6B2B-22E5-5F1F1C8CEF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63D840-3769-0D7D-A9B4-4019E2414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877B21-5102-A863-AB4A-F74405210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5BF295-6A23-AE1E-38BA-8966A62B1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6357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948962-97E7-B041-D172-45DAF9B62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254D94-F4CA-1F06-8AF6-0587D075B5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854417-D1B3-EC71-7A5D-43F8CB619C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9D2A6E-89C1-A574-4FB8-1735F07E8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8074CCD-E2AD-6FC5-4EB2-697B30256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91BAB2F-F559-131D-BADF-C6EC4E00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321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2C9785-F695-467E-6325-592C76DF4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8DAA1AA-C835-D371-A526-559BA3E223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5205F4C-F3E5-2A71-D955-DF6EA2DDF3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0973A42-A4B7-1B43-FF52-111A089A5B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D3DCF10-348B-8B59-2F2F-613BD2DC2A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D12FF44-2F58-CA31-9970-DAD07319D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FEA5CA7-192A-DB3E-40E0-8A3258F6A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3C0A00A-5BAE-99FC-4E22-8778CC61A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3728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A7DE7D-3284-FAF5-5AE0-E6149479A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A3FF4FE-BF05-CC3A-B131-528CF0844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F5032F-7925-89BC-1C51-C0B89D8D1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ED506BF-4AE3-2F69-BE16-09E9D1634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081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63006D0-8030-1B61-0182-8113EFD2E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1E45945-7B77-08C0-C9F4-AA5EFE527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842093-EC89-7D09-B6D0-A1CC5DABA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127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2ABED0-9C48-4779-0B68-4496A5975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20EF03-C908-54F0-83BD-2D35140FF1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E3A9D77-EA9B-AF5E-11EE-87AC6B3C4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93A5143-CAB1-919C-60CB-E7F30CBB0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487EB5-65EE-ED42-132D-8C383CA7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6123F2-4D3B-AFFF-2845-4806FC3B1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9982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8F1A39-C58F-530A-E517-03989507A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558D83B-F9A9-8965-3F28-806761934D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C0D8B5E-8866-9D23-A557-072AC53D78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D600DB3-6605-B6C2-B2C8-E6A36AC62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44E0ACB-95DE-5C3C-3882-0810249A2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364C1CC-56EB-2A70-C27F-1F632B632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99558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0D868-0C29-162C-3684-D0FF39D5B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5F6B9A7-2CC9-E678-2416-CEA064EA15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F7D980-68CB-7392-522A-DB8CEF82E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96932F-CF14-8C69-6968-AC481C19E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9078F7-A344-D772-BDA6-8A7FBEA0E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75622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CA105C5-AA27-92F5-F4AD-F4805F8293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D60020-D92B-43F4-5E81-F33711ED80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26DE57-161F-DF8F-69B3-3A36C3DFF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CA214E7-8AEB-E224-CAAF-550CBC836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816F71-D356-F95F-41C6-5C6A90E3D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4908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E32B564-2980-6ABB-902E-68753CB8D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C6AF4B-992C-22CD-24FE-4316E43884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A7F7DA-A919-524C-EF9D-CDA4175ACB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AFF881-97E8-4F41-BDDF-BD69BA0EFE12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5B5486-C54B-DEBA-C96C-6852944607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4AED7-67FA-4D44-9220-A315A875D7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9084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image" Target="../media/image14.jpg"/><Relationship Id="rId7" Type="http://schemas.openxmlformats.org/officeDocument/2006/relationships/image" Target="../media/image18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g"/><Relationship Id="rId11" Type="http://schemas.openxmlformats.org/officeDocument/2006/relationships/image" Target="../media/image22.jpg"/><Relationship Id="rId5" Type="http://schemas.openxmlformats.org/officeDocument/2006/relationships/image" Target="../media/image16.jpg"/><Relationship Id="rId10" Type="http://schemas.openxmlformats.org/officeDocument/2006/relationships/image" Target="../media/image21.jpg"/><Relationship Id="rId4" Type="http://schemas.openxmlformats.org/officeDocument/2006/relationships/image" Target="../media/image15.jpg"/><Relationship Id="rId9" Type="http://schemas.openxmlformats.org/officeDocument/2006/relationships/image" Target="../media/image20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hyperlink" Target="https://doi.org/10.1049/pel2.70185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ndtmachine.com/ko/knowledge/a-scan-in-ultrasonic-testing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CFECAE-EF7D-F08B-BED4-D8C161AD28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논문 자료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050E3B6-0C88-DE38-6357-7ACE5081A8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8674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CB5E277-D48D-94ED-1E05-6EEDC52FF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5510" y="310243"/>
            <a:ext cx="11880979" cy="6237514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67CAEF12-9364-7A46-29DC-5FB2C62C3F6F}"/>
              </a:ext>
            </a:extLst>
          </p:cNvPr>
          <p:cNvSpPr/>
          <p:nvPr/>
        </p:nvSpPr>
        <p:spPr>
          <a:xfrm>
            <a:off x="155510" y="500743"/>
            <a:ext cx="12036490" cy="89262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5251DD3-2FF0-3691-9897-19BA3CEA279C}"/>
              </a:ext>
            </a:extLst>
          </p:cNvPr>
          <p:cNvSpPr/>
          <p:nvPr/>
        </p:nvSpPr>
        <p:spPr>
          <a:xfrm>
            <a:off x="0" y="1469570"/>
            <a:ext cx="12289971" cy="5170715"/>
          </a:xfrm>
          <a:prstGeom prst="rect">
            <a:avLst/>
          </a:prstGeom>
          <a:noFill/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58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5DC4C-C907-A62A-67D2-2308155DD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300A5292-1119-012B-D6BC-DC419329A996}"/>
              </a:ext>
            </a:extLst>
          </p:cNvPr>
          <p:cNvSpPr/>
          <p:nvPr/>
        </p:nvSpPr>
        <p:spPr>
          <a:xfrm>
            <a:off x="0" y="1583073"/>
            <a:ext cx="12192000" cy="8941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0B2C1F8-47A0-C5C6-C85F-7EFCC77DC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3379"/>
            <a:ext cx="12192000" cy="72469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9BC17D8-2DF1-7F9B-AF3E-7C70E6BF7A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8839" b="15021"/>
          <a:stretch>
            <a:fillRect/>
          </a:stretch>
        </p:blipFill>
        <p:spPr>
          <a:xfrm>
            <a:off x="0" y="1583073"/>
            <a:ext cx="3799114" cy="49178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F95E58A-A516-1869-CCED-F1CE4BFFBB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232" t="15021" r="42857"/>
          <a:stretch>
            <a:fillRect/>
          </a:stretch>
        </p:blipFill>
        <p:spPr>
          <a:xfrm>
            <a:off x="2585357" y="1976588"/>
            <a:ext cx="3037114" cy="49178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33B6EE4-5265-0D24-C10F-CC191B7D8716}"/>
              </a:ext>
            </a:extLst>
          </p:cNvPr>
          <p:cNvSpPr txBox="1"/>
          <p:nvPr/>
        </p:nvSpPr>
        <p:spPr>
          <a:xfrm>
            <a:off x="6204857" y="1825679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Align </a:t>
            </a:r>
            <a:r>
              <a:rPr lang="en-US" altLang="ko-KR" sz="1300" dirty="0" err="1"/>
              <a:t>Mathod</a:t>
            </a:r>
            <a:r>
              <a:rPr lang="en-US" altLang="ko-KR" sz="1300" dirty="0"/>
              <a:t>:</a:t>
            </a:r>
            <a:endParaRPr lang="ko-KR" altLang="en-US" sz="13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2FB221-FFB9-C8A1-9A17-A65E6476E7C7}"/>
              </a:ext>
            </a:extLst>
          </p:cNvPr>
          <p:cNvSpPr txBox="1"/>
          <p:nvPr/>
        </p:nvSpPr>
        <p:spPr>
          <a:xfrm>
            <a:off x="7739740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Neg Min</a:t>
            </a:r>
            <a:endParaRPr lang="ko-KR" altLang="en-US" sz="13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6BE46A-CEF9-3D03-8CEF-6358CBE2440F}"/>
              </a:ext>
            </a:extLst>
          </p:cNvPr>
          <p:cNvSpPr txBox="1"/>
          <p:nvPr/>
        </p:nvSpPr>
        <p:spPr>
          <a:xfrm>
            <a:off x="7717971" y="1833447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Envelope Peak</a:t>
            </a:r>
            <a:endParaRPr lang="ko-KR" altLang="en-US" sz="13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CABBFF-4548-15AE-008D-5DDA3010FE59}"/>
              </a:ext>
            </a:extLst>
          </p:cNvPr>
          <p:cNvSpPr txBox="1"/>
          <p:nvPr/>
        </p:nvSpPr>
        <p:spPr>
          <a:xfrm>
            <a:off x="9954985" y="1890994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Pos Max</a:t>
            </a:r>
            <a:endParaRPr lang="ko-KR" altLang="en-US" sz="13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8B979E-F55A-99E6-BE93-945C7BE22CFB}"/>
              </a:ext>
            </a:extLst>
          </p:cNvPr>
          <p:cNvSpPr txBox="1"/>
          <p:nvPr/>
        </p:nvSpPr>
        <p:spPr>
          <a:xfrm>
            <a:off x="9954985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Cross Corr</a:t>
            </a:r>
            <a:endParaRPr lang="ko-KR" altLang="en-US" sz="1300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B6146420-3410-B399-2988-36A7D42E95AF}"/>
              </a:ext>
            </a:extLst>
          </p:cNvPr>
          <p:cNvSpPr/>
          <p:nvPr/>
        </p:nvSpPr>
        <p:spPr>
          <a:xfrm>
            <a:off x="7543800" y="1890994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0D113D67-DB83-10B9-74E7-8C9835A82248}"/>
              </a:ext>
            </a:extLst>
          </p:cNvPr>
          <p:cNvSpPr/>
          <p:nvPr/>
        </p:nvSpPr>
        <p:spPr>
          <a:xfrm>
            <a:off x="7543800" y="2281935"/>
            <a:ext cx="174171" cy="156472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633639D3-3AC6-4E74-5B61-0966415A28F9}"/>
              </a:ext>
            </a:extLst>
          </p:cNvPr>
          <p:cNvSpPr/>
          <p:nvPr/>
        </p:nvSpPr>
        <p:spPr>
          <a:xfrm>
            <a:off x="9775370" y="1858337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FFA2C9D-0A98-57EB-2FC1-28861FF3A97E}"/>
              </a:ext>
            </a:extLst>
          </p:cNvPr>
          <p:cNvSpPr/>
          <p:nvPr/>
        </p:nvSpPr>
        <p:spPr>
          <a:xfrm>
            <a:off x="9775368" y="2304652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화살표: 아래쪽 30">
            <a:extLst>
              <a:ext uri="{FF2B5EF4-FFF2-40B4-BE49-F238E27FC236}">
                <a16:creationId xmlns:a16="http://schemas.microsoft.com/office/drawing/2014/main" id="{13BC2A8A-088C-D883-C531-109A73A67935}"/>
              </a:ext>
            </a:extLst>
          </p:cNvPr>
          <p:cNvSpPr/>
          <p:nvPr/>
        </p:nvSpPr>
        <p:spPr>
          <a:xfrm>
            <a:off x="4484914" y="1079209"/>
            <a:ext cx="1415143" cy="3966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97423F-4275-1E2E-9B53-6D158B66F226}"/>
              </a:ext>
            </a:extLst>
          </p:cNvPr>
          <p:cNvSpPr txBox="1"/>
          <p:nvPr/>
        </p:nvSpPr>
        <p:spPr>
          <a:xfrm>
            <a:off x="152400" y="0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34DAAE-AEC7-BCFB-9834-836E5E60A4E9}"/>
              </a:ext>
            </a:extLst>
          </p:cNvPr>
          <p:cNvSpPr txBox="1"/>
          <p:nvPr/>
        </p:nvSpPr>
        <p:spPr>
          <a:xfrm>
            <a:off x="152400" y="2799224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6F5CF918-90F1-FEC0-5E71-DC61EE0ED53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631" r="4357"/>
          <a:stretch>
            <a:fillRect/>
          </a:stretch>
        </p:blipFill>
        <p:spPr>
          <a:xfrm>
            <a:off x="7652651" y="3091542"/>
            <a:ext cx="4539349" cy="3507659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25479435-990B-6010-F654-1E5CEF9A3A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16" y="3700954"/>
            <a:ext cx="4566556" cy="2024498"/>
          </a:xfrm>
          <a:prstGeom prst="rect">
            <a:avLst/>
          </a:prstGeom>
        </p:spPr>
      </p:pic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DBA3B509-4CD3-F4FA-3696-31B828CD9933}"/>
              </a:ext>
            </a:extLst>
          </p:cNvPr>
          <p:cNvSpPr/>
          <p:nvPr/>
        </p:nvSpPr>
        <p:spPr>
          <a:xfrm>
            <a:off x="4724400" y="4434203"/>
            <a:ext cx="522514" cy="7946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F3D4D8DB-19C8-F0C2-C090-4DF2ACC69BA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792" r="48507" b="11417"/>
          <a:stretch>
            <a:fillRect/>
          </a:stretch>
        </p:blipFill>
        <p:spPr>
          <a:xfrm>
            <a:off x="5246914" y="2904961"/>
            <a:ext cx="2220686" cy="1790743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65535E0D-0C05-C5F5-7A1B-8700DBD037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470" t="-1713" r="812" b="1713"/>
          <a:stretch>
            <a:fillRect/>
          </a:stretch>
        </p:blipFill>
        <p:spPr>
          <a:xfrm>
            <a:off x="5372094" y="4720822"/>
            <a:ext cx="2095506" cy="203207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D4DBFC6-E25B-AF62-AC3F-BCF32E703D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92472"/>
          <a:stretch>
            <a:fillRect/>
          </a:stretch>
        </p:blipFill>
        <p:spPr>
          <a:xfrm>
            <a:off x="5372094" y="6599201"/>
            <a:ext cx="6648450" cy="221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061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9686B54-C165-6EBC-E3A6-A64D7FFAF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186278" cy="68580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1F4FA735-9372-653C-6C73-498063265A41}"/>
              </a:ext>
            </a:extLst>
          </p:cNvPr>
          <p:cNvSpPr/>
          <p:nvPr/>
        </p:nvSpPr>
        <p:spPr>
          <a:xfrm>
            <a:off x="555171" y="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900E63-8410-9CFA-509A-A62C4F65579A}"/>
              </a:ext>
            </a:extLst>
          </p:cNvPr>
          <p:cNvSpPr/>
          <p:nvPr/>
        </p:nvSpPr>
        <p:spPr>
          <a:xfrm>
            <a:off x="544285" y="4180115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D3A5B79-FC91-EA73-62B1-0D021BF41FC2}"/>
              </a:ext>
            </a:extLst>
          </p:cNvPr>
          <p:cNvSpPr/>
          <p:nvPr/>
        </p:nvSpPr>
        <p:spPr>
          <a:xfrm>
            <a:off x="468085" y="2764971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24ABE6F-BF33-539F-5664-63D72BE9B265}"/>
              </a:ext>
            </a:extLst>
          </p:cNvPr>
          <p:cNvSpPr/>
          <p:nvPr/>
        </p:nvSpPr>
        <p:spPr>
          <a:xfrm>
            <a:off x="555171" y="546463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5-4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7550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3CF40D1-0C17-8839-0FE9-5059C2EDF1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0"/>
            <a:ext cx="12192000" cy="133362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4F956DC-5BF1-62A4-BE6C-0AE8EE3005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1763485"/>
            <a:ext cx="12192000" cy="13336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62B09DB-DAC9-2AB1-6B1F-6AA7BF0E18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143" t="9982" r="35625" b="84755"/>
          <a:stretch>
            <a:fillRect/>
          </a:stretch>
        </p:blipFill>
        <p:spPr>
          <a:xfrm>
            <a:off x="195943" y="2667000"/>
            <a:ext cx="3929744" cy="31568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726E54AF-3CD8-7A02-2FC9-70C4E7DF4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136" y="2315936"/>
            <a:ext cx="4381500" cy="666750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32604983-F1F4-AE64-03E0-2386BE3BF7E5}"/>
              </a:ext>
            </a:extLst>
          </p:cNvPr>
          <p:cNvSpPr/>
          <p:nvPr/>
        </p:nvSpPr>
        <p:spPr>
          <a:xfrm>
            <a:off x="3962401" y="2280558"/>
            <a:ext cx="3001736" cy="3864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1645FAFA-9D8B-F90D-5DC0-6188C61CB228}"/>
              </a:ext>
            </a:extLst>
          </p:cNvPr>
          <p:cNvCxnSpPr/>
          <p:nvPr/>
        </p:nvCxnSpPr>
        <p:spPr>
          <a:xfrm>
            <a:off x="7040338" y="2280558"/>
            <a:ext cx="0" cy="61504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화살표: 아래쪽 18">
            <a:extLst>
              <a:ext uri="{FF2B5EF4-FFF2-40B4-BE49-F238E27FC236}">
                <a16:creationId xmlns:a16="http://schemas.microsoft.com/office/drawing/2014/main" id="{DFA5A4A3-96DB-6602-B000-108951F12796}"/>
              </a:ext>
            </a:extLst>
          </p:cNvPr>
          <p:cNvSpPr/>
          <p:nvPr/>
        </p:nvSpPr>
        <p:spPr>
          <a:xfrm>
            <a:off x="5007429" y="1333624"/>
            <a:ext cx="849085" cy="3864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5403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20266196-8738-03FC-D1DF-A142047BD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79613"/>
            <a:ext cx="12205687" cy="6471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4392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2A7C4-0AC3-8A99-7F29-7E98DF938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B5AB1016-645D-AD6A-4411-3D9775A68E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79614"/>
            <a:ext cx="12205687" cy="843644"/>
          </a:xfrm>
          <a:prstGeom prst="rect">
            <a:avLst/>
          </a:prstGeom>
        </p:spPr>
      </p:pic>
      <p:pic>
        <p:nvPicPr>
          <p:cNvPr id="3" name="그림 2" descr="Image">
            <a:extLst>
              <a:ext uri="{FF2B5EF4-FFF2-40B4-BE49-F238E27FC236}">
                <a16:creationId xmlns:a16="http://schemas.microsoft.com/office/drawing/2014/main" id="{6D5874AE-A967-620B-0FE2-562DAEF5E1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562101"/>
            <a:ext cx="12205687" cy="843644"/>
          </a:xfrm>
          <a:prstGeom prst="rect">
            <a:avLst/>
          </a:prstGeom>
        </p:spPr>
      </p:pic>
      <p:sp>
        <p:nvSpPr>
          <p:cNvPr id="4" name="화살표: 아래쪽 3">
            <a:extLst>
              <a:ext uri="{FF2B5EF4-FFF2-40B4-BE49-F238E27FC236}">
                <a16:creationId xmlns:a16="http://schemas.microsoft.com/office/drawing/2014/main" id="{A356AEDC-6915-C8AF-2B1C-264C143B847C}"/>
              </a:ext>
            </a:extLst>
          </p:cNvPr>
          <p:cNvSpPr/>
          <p:nvPr/>
        </p:nvSpPr>
        <p:spPr>
          <a:xfrm>
            <a:off x="4180114" y="1023258"/>
            <a:ext cx="1055915" cy="45719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CE6A753-DC90-DE6D-AED5-A767C25158B2}"/>
              </a:ext>
            </a:extLst>
          </p:cNvPr>
          <p:cNvSpPr/>
          <p:nvPr/>
        </p:nvSpPr>
        <p:spPr>
          <a:xfrm>
            <a:off x="2492829" y="2090057"/>
            <a:ext cx="620485" cy="1959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EC40766-F1B3-8381-071D-DFD5B493F389}"/>
              </a:ext>
            </a:extLst>
          </p:cNvPr>
          <p:cNvSpPr/>
          <p:nvPr/>
        </p:nvSpPr>
        <p:spPr>
          <a:xfrm>
            <a:off x="3211287" y="1763480"/>
            <a:ext cx="620485" cy="522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ROI</a:t>
            </a:r>
          </a:p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Align</a:t>
            </a:r>
            <a:endParaRPr lang="ko-KR" altLang="en-US" sz="1100" dirty="0"/>
          </a:p>
        </p:txBody>
      </p:sp>
      <p:pic>
        <p:nvPicPr>
          <p:cNvPr id="20" name="그림 19" descr="Image">
            <a:extLst>
              <a:ext uri="{FF2B5EF4-FFF2-40B4-BE49-F238E27FC236}">
                <a16:creationId xmlns:a16="http://schemas.microsoft.com/office/drawing/2014/main" id="{5E91F0C7-2450-212F-1634-C6E2340F74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401" b="-420"/>
          <a:stretch>
            <a:fillRect/>
          </a:stretch>
        </p:blipFill>
        <p:spPr>
          <a:xfrm>
            <a:off x="1088571" y="2481953"/>
            <a:ext cx="10344229" cy="4376048"/>
          </a:xfrm>
          <a:prstGeom prst="rect">
            <a:avLst/>
          </a:prstGeom>
        </p:spPr>
      </p:pic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CBED0098-3D03-41ED-1AAD-B55A0F8C9271}"/>
              </a:ext>
            </a:extLst>
          </p:cNvPr>
          <p:cNvCxnSpPr/>
          <p:nvPr/>
        </p:nvCxnSpPr>
        <p:spPr>
          <a:xfrm flipH="1">
            <a:off x="5236029" y="2688771"/>
            <a:ext cx="533400" cy="1306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7B5A56FD-046B-F96C-D1DB-21337CDB3531}"/>
              </a:ext>
            </a:extLst>
          </p:cNvPr>
          <p:cNvCxnSpPr>
            <a:cxnSpLocks/>
          </p:cNvCxnSpPr>
          <p:nvPr/>
        </p:nvCxnSpPr>
        <p:spPr>
          <a:xfrm flipH="1" flipV="1">
            <a:off x="5208815" y="2645227"/>
            <a:ext cx="560614" cy="2177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3435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EA4555F-F725-CA6F-940C-0F7580220235}"/>
              </a:ext>
            </a:extLst>
          </p:cNvPr>
          <p:cNvSpPr txBox="1"/>
          <p:nvPr/>
        </p:nvSpPr>
        <p:spPr>
          <a:xfrm>
            <a:off x="76200" y="0"/>
            <a:ext cx="8899544" cy="6878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600" b="1" dirty="0" err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):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raw_data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row_index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단일 CSV 시 0으로 고정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col_index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CSV 파일 내 행(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) 번호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1.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Raw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fft_magnitude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#self.raw_envelope_data:Optional[np.ndarray] =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#2.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Filtered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filtered_fft_magnitude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filtered_envelope_data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#3. STEP4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Align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및 600 샘플 ROI 결과 저장 변수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align_indices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#4. STEP4-2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Phase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Inversion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phase_inverse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en-US" altLang="ko-KR" sz="1600" b="1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altLang="ko-KR" sz="1600" b="1" dirty="0">
              <a:solidFill>
                <a:srgbClr val="569CD6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A33D91-A864-62B7-AAED-D6761704EE86}"/>
              </a:ext>
            </a:extLst>
          </p:cNvPr>
          <p:cNvSpPr txBox="1"/>
          <p:nvPr/>
        </p:nvSpPr>
        <p:spPr>
          <a:xfrm>
            <a:off x="8371114" y="0"/>
            <a:ext cx="6096000" cy="5561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Step5-1 : TGC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Step5-3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Envelope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  <a:buNone/>
            </a:pPr>
            <a:br>
              <a:rPr lang="ko-KR" altLang="ko-KR" sz="9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84623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A05CDBE-A58E-E663-8643-9EDD78677A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3593"/>
          <a:stretch>
            <a:fillRect/>
          </a:stretch>
        </p:blipFill>
        <p:spPr>
          <a:xfrm>
            <a:off x="0" y="285750"/>
            <a:ext cx="12192000" cy="103142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4E29522-F59C-DCDB-7603-9440672AC1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29" t="54805" r="54375" b="9004"/>
          <a:stretch>
            <a:fillRect/>
          </a:stretch>
        </p:blipFill>
        <p:spPr>
          <a:xfrm>
            <a:off x="530678" y="4733082"/>
            <a:ext cx="4117523" cy="184274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090DA30-5678-1D01-C6AD-3F1DBCA15D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29" t="20606" r="54197" b="47013"/>
          <a:stretch>
            <a:fillRect/>
          </a:stretch>
        </p:blipFill>
        <p:spPr>
          <a:xfrm>
            <a:off x="247649" y="3058180"/>
            <a:ext cx="4400552" cy="165574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B9737BC-D4AC-95C3-86CA-1B090C6DE4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64" t="20909" r="1250" b="10347"/>
          <a:stretch>
            <a:fillRect/>
          </a:stretch>
        </p:blipFill>
        <p:spPr>
          <a:xfrm>
            <a:off x="443593" y="1420407"/>
            <a:ext cx="4117522" cy="1618612"/>
          </a:xfrm>
          <a:prstGeom prst="rect">
            <a:avLst/>
          </a:prstGeom>
        </p:spPr>
      </p:pic>
      <p:pic>
        <p:nvPicPr>
          <p:cNvPr id="13" name="그림 12" descr="Image">
            <a:extLst>
              <a:ext uri="{FF2B5EF4-FFF2-40B4-BE49-F238E27FC236}">
                <a16:creationId xmlns:a16="http://schemas.microsoft.com/office/drawing/2014/main" id="{769C926F-373A-91D2-25F3-C3BBDD7557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6972"/>
          <a:stretch>
            <a:fillRect/>
          </a:stretch>
        </p:blipFill>
        <p:spPr>
          <a:xfrm>
            <a:off x="13687" y="6572250"/>
            <a:ext cx="12205687" cy="23603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07C16D8A-6128-971B-1B57-755206A8E0F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09" t="15525" r="2507" b="15806"/>
          <a:stretch>
            <a:fillRect/>
          </a:stretch>
        </p:blipFill>
        <p:spPr>
          <a:xfrm>
            <a:off x="5246914" y="2307771"/>
            <a:ext cx="6335486" cy="288471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3DB495C-A926-4DFC-F46F-D5EBF9A50923}"/>
              </a:ext>
            </a:extLst>
          </p:cNvPr>
          <p:cNvSpPr txBox="1"/>
          <p:nvPr/>
        </p:nvSpPr>
        <p:spPr>
          <a:xfrm>
            <a:off x="11522529" y="2144486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-100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09A177-5DA6-5554-47EF-6706693A525B}"/>
              </a:ext>
            </a:extLst>
          </p:cNvPr>
          <p:cNvSpPr txBox="1"/>
          <p:nvPr/>
        </p:nvSpPr>
        <p:spPr>
          <a:xfrm>
            <a:off x="11549743" y="4986440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500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10E29C-F9D6-AAC9-7EDE-6FCA411FD648}"/>
              </a:ext>
            </a:extLst>
          </p:cNvPr>
          <p:cNvSpPr txBox="1"/>
          <p:nvPr/>
        </p:nvSpPr>
        <p:spPr>
          <a:xfrm>
            <a:off x="511628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79ACDB-78B9-651B-939B-5A443B8C2DA7}"/>
              </a:ext>
            </a:extLst>
          </p:cNvPr>
          <p:cNvSpPr txBox="1"/>
          <p:nvPr/>
        </p:nvSpPr>
        <p:spPr>
          <a:xfrm>
            <a:off x="1119051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310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3081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B510A77-1FED-F501-DB74-6D8F6CB08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268" y="482640"/>
            <a:ext cx="7721178" cy="638624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9120BC-0FAD-0075-8D05-7F1B7C41D1B8}"/>
              </a:ext>
            </a:extLst>
          </p:cNvPr>
          <p:cNvSpPr/>
          <p:nvPr/>
        </p:nvSpPr>
        <p:spPr>
          <a:xfrm>
            <a:off x="8033657" y="849086"/>
            <a:ext cx="4158343" cy="60198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8EE7F87D-28BF-611A-2982-068A72DE6AF0}"/>
              </a:ext>
            </a:extLst>
          </p:cNvPr>
          <p:cNvSpPr/>
          <p:nvPr/>
        </p:nvSpPr>
        <p:spPr>
          <a:xfrm>
            <a:off x="5976254" y="2188028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C2218DF1-FB92-F4C6-B409-363CDD68EB9B}"/>
              </a:ext>
            </a:extLst>
          </p:cNvPr>
          <p:cNvSpPr/>
          <p:nvPr/>
        </p:nvSpPr>
        <p:spPr>
          <a:xfrm>
            <a:off x="9067800" y="2205566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6E8B124C-738B-D2E6-011D-B6BDF3B6BA94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>
            <a:off x="6193969" y="2247900"/>
            <a:ext cx="2873831" cy="1753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42F2C43-D511-FF1A-4C44-EDE0CF17AF5D}"/>
              </a:ext>
            </a:extLst>
          </p:cNvPr>
          <p:cNvSpPr txBox="1"/>
          <p:nvPr/>
        </p:nvSpPr>
        <p:spPr>
          <a:xfrm>
            <a:off x="8160446" y="2264229"/>
            <a:ext cx="40315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ⓐ</a:t>
            </a:r>
            <a:r>
              <a:rPr lang="en-US" altLang="ko-KR" dirty="0">
                <a:solidFill>
                  <a:schemeClr val="bg1"/>
                </a:solidFill>
              </a:rPr>
              <a:t>. Inverse Phase Index </a:t>
            </a:r>
            <a:r>
              <a:rPr lang="ko-KR" altLang="en-US" dirty="0">
                <a:solidFill>
                  <a:schemeClr val="bg1"/>
                </a:solidFill>
              </a:rPr>
              <a:t>추출하기</a:t>
            </a:r>
            <a:r>
              <a:rPr lang="en-US" altLang="ko-KR" dirty="0">
                <a:solidFill>
                  <a:schemeClr val="bg1"/>
                </a:solidFill>
              </a:rPr>
              <a:t>]</a:t>
            </a:r>
          </a:p>
          <a:p>
            <a:r>
              <a:rPr lang="en-US" altLang="ko-KR" dirty="0">
                <a:solidFill>
                  <a:schemeClr val="bg1"/>
                </a:solidFill>
              </a:rPr>
              <a:t>- Align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Index</a:t>
            </a:r>
            <a:r>
              <a:rPr lang="ko-KR" altLang="en-US" dirty="0">
                <a:solidFill>
                  <a:schemeClr val="bg1"/>
                </a:solidFill>
              </a:rPr>
              <a:t>로부터 </a:t>
            </a:r>
            <a:r>
              <a:rPr lang="en-US" altLang="ko-KR" dirty="0">
                <a:solidFill>
                  <a:schemeClr val="bg1"/>
                </a:solidFill>
              </a:rPr>
              <a:t>ROI </a:t>
            </a:r>
            <a:r>
              <a:rPr lang="ko-KR" altLang="en-US" dirty="0">
                <a:solidFill>
                  <a:schemeClr val="bg1"/>
                </a:solidFill>
              </a:rPr>
              <a:t>범위 안에서 </a:t>
            </a:r>
            <a:r>
              <a:rPr lang="en-US" altLang="ko-KR" dirty="0">
                <a:solidFill>
                  <a:schemeClr val="bg1"/>
                </a:solidFill>
              </a:rPr>
              <a:t>Search. Ref </a:t>
            </a:r>
            <a:r>
              <a:rPr lang="ko-KR" altLang="en-US" dirty="0">
                <a:solidFill>
                  <a:schemeClr val="bg1"/>
                </a:solidFill>
              </a:rPr>
              <a:t>기준 파형과 정 반대 모양이 있을 경우 </a:t>
            </a:r>
            <a:r>
              <a:rPr lang="en-US" altLang="ko-KR" dirty="0">
                <a:solidFill>
                  <a:schemeClr val="bg1"/>
                </a:solidFill>
              </a:rPr>
              <a:t>Return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43CFCA8-5E65-7969-0084-A8FAD407D9A5}"/>
              </a:ext>
            </a:extLst>
          </p:cNvPr>
          <p:cNvSpPr/>
          <p:nvPr/>
        </p:nvSpPr>
        <p:spPr>
          <a:xfrm>
            <a:off x="9252859" y="34536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5EF9650-8D42-9A8A-F9F2-302EC7142489}"/>
              </a:ext>
            </a:extLst>
          </p:cNvPr>
          <p:cNvSpPr/>
          <p:nvPr/>
        </p:nvSpPr>
        <p:spPr>
          <a:xfrm>
            <a:off x="5099957" y="6558543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32761B-558F-5FAB-9022-C6B0008DE308}"/>
              </a:ext>
            </a:extLst>
          </p:cNvPr>
          <p:cNvSpPr txBox="1"/>
          <p:nvPr/>
        </p:nvSpPr>
        <p:spPr>
          <a:xfrm>
            <a:off x="8846246" y="5062216"/>
            <a:ext cx="299741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ⓑ</a:t>
            </a:r>
            <a:r>
              <a:rPr lang="en-US" altLang="ko-KR" dirty="0">
                <a:solidFill>
                  <a:schemeClr val="bg1"/>
                </a:solidFill>
              </a:rPr>
              <a:t>. Inverse Phase Index</a:t>
            </a:r>
            <a:r>
              <a:rPr lang="ko-KR" altLang="en-US" dirty="0">
                <a:solidFill>
                  <a:schemeClr val="bg1"/>
                </a:solidFill>
              </a:rPr>
              <a:t>가 있을 경우</a:t>
            </a:r>
            <a:r>
              <a:rPr lang="en-US" altLang="ko-KR" dirty="0">
                <a:solidFill>
                  <a:schemeClr val="bg1"/>
                </a:solidFill>
              </a:rPr>
              <a:t>, </a:t>
            </a:r>
            <a:r>
              <a:rPr lang="ko-KR" altLang="en-US" dirty="0">
                <a:solidFill>
                  <a:schemeClr val="bg1"/>
                </a:solidFill>
              </a:rPr>
              <a:t>이에 해당하는 </a:t>
            </a:r>
            <a:r>
              <a:rPr lang="en-US" altLang="ko-KR" dirty="0">
                <a:solidFill>
                  <a:schemeClr val="bg1"/>
                </a:solidFill>
              </a:rPr>
              <a:t>B-scan </a:t>
            </a:r>
            <a:r>
              <a:rPr lang="ko-KR" altLang="en-US" dirty="0">
                <a:solidFill>
                  <a:schemeClr val="bg1"/>
                </a:solidFill>
              </a:rPr>
              <a:t>부위에 파란색을 </a:t>
            </a:r>
            <a:r>
              <a:rPr lang="en-US" altLang="ko-KR" dirty="0">
                <a:solidFill>
                  <a:schemeClr val="bg1"/>
                </a:solidFill>
              </a:rPr>
              <a:t>Overlay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: Toggle Switch</a:t>
            </a:r>
            <a:r>
              <a:rPr lang="ko-KR" altLang="en-US" dirty="0">
                <a:solidFill>
                  <a:schemeClr val="bg1"/>
                </a:solidFill>
              </a:rPr>
              <a:t>로 적용 유</a:t>
            </a:r>
            <a:r>
              <a:rPr lang="en-US" altLang="ko-KR" dirty="0">
                <a:solidFill>
                  <a:schemeClr val="bg1"/>
                </a:solidFill>
              </a:rPr>
              <a:t>/</a:t>
            </a:r>
            <a:r>
              <a:rPr lang="ko-KR" altLang="en-US" dirty="0">
                <a:solidFill>
                  <a:schemeClr val="bg1"/>
                </a:solidFill>
              </a:rPr>
              <a:t>무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D69C6526-F374-9F1A-0D0A-0ABE45075DDF}"/>
              </a:ext>
            </a:extLst>
          </p:cNvPr>
          <p:cNvSpPr/>
          <p:nvPr/>
        </p:nvSpPr>
        <p:spPr>
          <a:xfrm>
            <a:off x="9285519" y="4960250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62AFE7BD-4FD2-985F-3AD4-031709B798FC}"/>
              </a:ext>
            </a:extLst>
          </p:cNvPr>
          <p:cNvCxnSpPr>
            <a:stCxn id="11" idx="0"/>
            <a:endCxn id="21" idx="0"/>
          </p:cNvCxnSpPr>
          <p:nvPr/>
        </p:nvCxnSpPr>
        <p:spPr>
          <a:xfrm>
            <a:off x="9361717" y="3453672"/>
            <a:ext cx="32660" cy="150657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25BFBC86-C7A8-5544-D910-8B416C2A8431}"/>
              </a:ext>
            </a:extLst>
          </p:cNvPr>
          <p:cNvSpPr/>
          <p:nvPr/>
        </p:nvSpPr>
        <p:spPr>
          <a:xfrm>
            <a:off x="9209322" y="65177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04EC664-D0CB-C9CC-DBFF-731E0CF6246E}"/>
              </a:ext>
            </a:extLst>
          </p:cNvPr>
          <p:cNvCxnSpPr>
            <a:stCxn id="27" idx="3"/>
            <a:endCxn id="13" idx="5"/>
          </p:cNvCxnSpPr>
          <p:nvPr/>
        </p:nvCxnSpPr>
        <p:spPr>
          <a:xfrm flipH="1">
            <a:off x="5285788" y="6619979"/>
            <a:ext cx="3955418" cy="4077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2DB6470-13DA-2071-7259-BE54267BBF7A}"/>
              </a:ext>
            </a:extLst>
          </p:cNvPr>
          <p:cNvSpPr txBox="1"/>
          <p:nvPr/>
        </p:nvSpPr>
        <p:spPr>
          <a:xfrm>
            <a:off x="439268" y="113307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스캔 만들기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C52BCF3-187B-03C2-F468-C7E6A65711DF}"/>
              </a:ext>
            </a:extLst>
          </p:cNvPr>
          <p:cNvSpPr txBox="1"/>
          <p:nvPr/>
        </p:nvSpPr>
        <p:spPr>
          <a:xfrm>
            <a:off x="8411133" y="433049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Inverse Phase </a:t>
            </a:r>
            <a:r>
              <a:rPr lang="ko-KR" altLang="en-US" dirty="0"/>
              <a:t>만들기</a:t>
            </a:r>
          </a:p>
        </p:txBody>
      </p:sp>
    </p:spTree>
    <p:extLst>
      <p:ext uri="{BB962C8B-B14F-4D97-AF65-F5344CB8AC3E}">
        <p14:creationId xmlns:p14="http://schemas.microsoft.com/office/powerpoint/2010/main" val="788091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AD12E2-61E4-EAD1-9487-9647257651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0812" y="104775"/>
            <a:ext cx="6810375" cy="664845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3E6A897-FF83-BE3F-18C3-E0E8C71025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0184" y="1834608"/>
            <a:ext cx="7263020" cy="418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514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B8EE143-5CD9-2686-EC38-C5DA9B6099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770" b="6072"/>
          <a:stretch>
            <a:fillRect/>
          </a:stretch>
        </p:blipFill>
        <p:spPr>
          <a:xfrm>
            <a:off x="52639" y="0"/>
            <a:ext cx="1296000" cy="466000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E0C2BA2-E1A0-1868-6E2E-F0FE9C570E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94" r="12901" b="6072"/>
          <a:stretch>
            <a:fillRect/>
          </a:stretch>
        </p:blipFill>
        <p:spPr>
          <a:xfrm>
            <a:off x="1411498" y="14652"/>
            <a:ext cx="1296000" cy="466001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767D55C-3A36-2E7E-EDB5-D2D42A213019}"/>
              </a:ext>
            </a:extLst>
          </p:cNvPr>
          <p:cNvSpPr txBox="1"/>
          <p:nvPr/>
        </p:nvSpPr>
        <p:spPr>
          <a:xfrm>
            <a:off x="277106" y="4698831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9.01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8EE63C-F46B-1F0A-6BAF-95F30B1C9BA7}"/>
              </a:ext>
            </a:extLst>
          </p:cNvPr>
          <p:cNvSpPr txBox="1"/>
          <p:nvPr/>
        </p:nvSpPr>
        <p:spPr>
          <a:xfrm>
            <a:off x="1724996" y="4684176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9.76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474C461-F4BB-2D30-986F-A0B21F479E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043" r="13637" b="6072"/>
          <a:stretch>
            <a:fillRect/>
          </a:stretch>
        </p:blipFill>
        <p:spPr>
          <a:xfrm>
            <a:off x="2770357" y="14652"/>
            <a:ext cx="1235072" cy="467466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3F242C0-A9C5-0C96-A276-DE1E249319EE}"/>
              </a:ext>
            </a:extLst>
          </p:cNvPr>
          <p:cNvSpPr txBox="1"/>
          <p:nvPr/>
        </p:nvSpPr>
        <p:spPr>
          <a:xfrm>
            <a:off x="3072365" y="463146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10.51</a:t>
            </a:r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4983F47-DC08-A415-06D4-E24674603E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3" r="14156" b="6072"/>
          <a:stretch>
            <a:fillRect/>
          </a:stretch>
        </p:blipFill>
        <p:spPr>
          <a:xfrm>
            <a:off x="4045428" y="5136"/>
            <a:ext cx="1237586" cy="468417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3723366-8BAE-998D-CD8B-C26D870D2195}"/>
              </a:ext>
            </a:extLst>
          </p:cNvPr>
          <p:cNvSpPr txBox="1"/>
          <p:nvPr/>
        </p:nvSpPr>
        <p:spPr>
          <a:xfrm>
            <a:off x="4309047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11.18</a:t>
            </a:r>
            <a:endParaRPr lang="ko-KR" altLang="en-US" dirty="0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5640ACD3-0BD2-EF5F-6BB8-CE88DF68A3E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696" r="13983" b="6072"/>
          <a:stretch>
            <a:fillRect/>
          </a:stretch>
        </p:blipFill>
        <p:spPr>
          <a:xfrm>
            <a:off x="5350028" y="14652"/>
            <a:ext cx="1237586" cy="468417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A99BDA9-5EEB-00C7-7F00-24C6EFCCFE1B}"/>
              </a:ext>
            </a:extLst>
          </p:cNvPr>
          <p:cNvSpPr txBox="1"/>
          <p:nvPr/>
        </p:nvSpPr>
        <p:spPr>
          <a:xfrm>
            <a:off x="5664066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11.93</a:t>
            </a:r>
            <a:endParaRPr lang="ko-KR" altLang="en-US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39FC4C47-59B8-9796-D026-A14B074406D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4156" b="6072"/>
          <a:stretch>
            <a:fillRect/>
          </a:stretch>
        </p:blipFill>
        <p:spPr>
          <a:xfrm>
            <a:off x="6683803" y="-1"/>
            <a:ext cx="1237586" cy="468417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C8D0A19-A244-E8F6-BB9C-A09068792325}"/>
              </a:ext>
            </a:extLst>
          </p:cNvPr>
          <p:cNvSpPr txBox="1"/>
          <p:nvPr/>
        </p:nvSpPr>
        <p:spPr>
          <a:xfrm>
            <a:off x="6994236" y="4631464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12.16</a:t>
            </a:r>
            <a:endParaRPr lang="ko-KR" altLang="en-US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B1C79B9E-3797-05F6-5A41-68B1502BD39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944" b="6072"/>
          <a:stretch>
            <a:fillRect/>
          </a:stretch>
        </p:blipFill>
        <p:spPr>
          <a:xfrm>
            <a:off x="7979803" y="14652"/>
            <a:ext cx="1294581" cy="468417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6C9A5395-EAF0-1E24-A8A5-6A2748BA58D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51" r="12770" b="6072"/>
          <a:stretch>
            <a:fillRect/>
          </a:stretch>
        </p:blipFill>
        <p:spPr>
          <a:xfrm>
            <a:off x="9332797" y="-1"/>
            <a:ext cx="1314965" cy="4698832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4A3328BE-FBA4-71CE-8E56-B900A9525CE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780502" y="-1"/>
            <a:ext cx="1252076" cy="46988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9DA3E49-79C1-42ED-4158-7B99F44A347D}"/>
              </a:ext>
            </a:extLst>
          </p:cNvPr>
          <p:cNvSpPr txBox="1"/>
          <p:nvPr/>
        </p:nvSpPr>
        <p:spPr>
          <a:xfrm>
            <a:off x="8322509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12.91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6A0BF6-BD41-B5BD-D070-34A60A1F42E4}"/>
              </a:ext>
            </a:extLst>
          </p:cNvPr>
          <p:cNvSpPr txBox="1"/>
          <p:nvPr/>
        </p:nvSpPr>
        <p:spPr>
          <a:xfrm>
            <a:off x="9615734" y="4631464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13.51</a:t>
            </a:r>
            <a:endParaRPr lang="ko-KR" alt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161500A-711A-AEF3-C764-6276E3D27F94}"/>
              </a:ext>
            </a:extLst>
          </p:cNvPr>
          <p:cNvSpPr txBox="1"/>
          <p:nvPr/>
        </p:nvSpPr>
        <p:spPr>
          <a:xfrm>
            <a:off x="11007698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14.03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9901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AB0ED-BE9E-C6F9-6705-729861DB5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4530020-CA86-75F3-F21C-021D5CDE2D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10E3AC-9BF7-03B9-627E-4745A363B079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DF47D8-C4FE-18CC-7A25-5D826AAE19F3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5C6E034-E92B-DD31-913C-FE1B4C3B71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1A1645E-01F0-F296-D3AA-FDC9B7F78F01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E75FE8-875F-95CD-B8F0-4D9A5981983E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65E33585-635E-9DB5-00AD-6263175F7E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AE3A45-8776-C1E5-46D3-EAC079A97106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8A211D-7472-1E88-07FF-FA3170000EC2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A429313-FC48-C7AE-E01B-E12B85FCC6B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32DFEA0-8F64-C518-9F7D-8E4F776A805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033DF8E-0721-8B79-0131-CE66F4D2B2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BE56573F-4E78-7051-D233-2A398939B4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BB36E55C-342F-73E3-D7CF-BCE496E3D7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FA33621-62C9-EC8C-71B2-9B44B770686A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A4CDA0-B646-A1DC-0E2E-F4F062FDC815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09AFC077-0C4B-E41C-438D-229048D6CA3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032EE094-174E-842D-7A75-524003AABD8A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24535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C3885-C8DD-D83F-0010-F0B39F065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71CAA49-8764-3BEF-3A4E-6B5C899338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D8F06D-EA9C-ED68-79AE-48FB8B8EEFBD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6518D4-24F4-6140-A40A-FEDD1A828BCA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459E7B2-4D00-83F9-E651-10568BC100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4491427-29FF-7D7B-D6C6-6AA33E015329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692FC7-6D47-C2AF-7D72-83A41EF61898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AF1E54-E6B4-68C5-F14A-B38C8D8387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908916-00D4-916F-CEC3-FE721AC53F35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68343A-EDAE-B3FE-3A84-B8636CBED756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493DA8A-3ED2-CFFC-E711-B29EAA7A363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D5B6E9E9-B91A-50F9-7FFD-34BC02E61BE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74383AB-4D43-28FB-45CF-53965C7AFC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26AF591-46BE-9B36-E036-6C5994C2B1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3BAFEFB-7457-3F0B-B158-4645EE52477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72B8727-382E-8A17-6689-48AF7EDE4DCD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A3D711-8834-CD6A-FBEC-31188433BACF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F8075DD6-D6EC-05A2-CC91-7960B8647AE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901F5496-60FA-7726-4755-F21F7E4ACEA1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872902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2F03F4C-5864-738F-3349-766F215CA2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2669"/>
          <a:stretch>
            <a:fillRect/>
          </a:stretch>
        </p:blipFill>
        <p:spPr>
          <a:xfrm>
            <a:off x="0" y="285750"/>
            <a:ext cx="12192000" cy="6667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2F083C1-03A5-2CD3-2BA9-01AFCEBA0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824" y="2334193"/>
            <a:ext cx="6286500" cy="304800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9C5D0C20-9DCF-BC78-C8E9-66DC556FEB8A}"/>
              </a:ext>
            </a:extLst>
          </p:cNvPr>
          <p:cNvSpPr/>
          <p:nvPr/>
        </p:nvSpPr>
        <p:spPr>
          <a:xfrm>
            <a:off x="34925" y="952500"/>
            <a:ext cx="12122150" cy="99136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ABA9EAD-FC92-0087-6B53-DFB495F65FE4}"/>
              </a:ext>
            </a:extLst>
          </p:cNvPr>
          <p:cNvSpPr/>
          <p:nvPr/>
        </p:nvSpPr>
        <p:spPr>
          <a:xfrm>
            <a:off x="250824" y="1011690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Open Image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610587-D8C5-4A0E-F744-FFC0079550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70" t="7374" r="74969" b="88235"/>
          <a:stretch>
            <a:fillRect/>
          </a:stretch>
        </p:blipFill>
        <p:spPr>
          <a:xfrm>
            <a:off x="1920873" y="1018381"/>
            <a:ext cx="2908301" cy="420461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2C11CE93-5879-3145-E961-3318ADF05B0E}"/>
              </a:ext>
            </a:extLst>
          </p:cNvPr>
          <p:cNvSpPr/>
          <p:nvPr/>
        </p:nvSpPr>
        <p:spPr>
          <a:xfrm>
            <a:off x="3216274" y="1078026"/>
            <a:ext cx="1435100" cy="30117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accent6"/>
                </a:solidFill>
              </a:rPr>
              <a:t>jpg</a:t>
            </a:r>
            <a:endParaRPr lang="ko-KR" altLang="en-US" dirty="0">
              <a:solidFill>
                <a:schemeClr val="accent6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A156DFC-221C-84E7-B561-E2A834FBF9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067366"/>
            <a:ext cx="2134855" cy="311830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20735C25-1F26-AE3F-AB0E-CCD920214A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097641"/>
            <a:ext cx="2134855" cy="31183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818578DC-818F-3B5E-E164-95675976FD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475807"/>
            <a:ext cx="2134855" cy="31183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1778C6A-9507-F231-9D82-288F32C5FD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475807"/>
            <a:ext cx="2134855" cy="31183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362C82A-57EF-1804-CA1A-DCE7E391ABAF}"/>
              </a:ext>
            </a:extLst>
          </p:cNvPr>
          <p:cNvSpPr txBox="1"/>
          <p:nvPr/>
        </p:nvSpPr>
        <p:spPr>
          <a:xfrm>
            <a:off x="5045073" y="1097641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X</a:t>
            </a:r>
            <a:endParaRPr lang="ko-KR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86FB6F-2B27-A1C5-5FEC-A88A3F61295A}"/>
              </a:ext>
            </a:extLst>
          </p:cNvPr>
          <p:cNvSpPr txBox="1"/>
          <p:nvPr/>
        </p:nvSpPr>
        <p:spPr>
          <a:xfrm>
            <a:off x="7038973" y="1106475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Y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DE0ACF-FC78-EEC3-C13F-287D11887D69}"/>
              </a:ext>
            </a:extLst>
          </p:cNvPr>
          <p:cNvSpPr txBox="1"/>
          <p:nvPr/>
        </p:nvSpPr>
        <p:spPr>
          <a:xfrm>
            <a:off x="5045073" y="1438842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X Leng</a:t>
            </a:r>
            <a:endParaRPr lang="ko-KR" altLang="en-US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3F10C1-CB6E-8957-1696-6B4D14AE3418}"/>
              </a:ext>
            </a:extLst>
          </p:cNvPr>
          <p:cNvSpPr txBox="1"/>
          <p:nvPr/>
        </p:nvSpPr>
        <p:spPr>
          <a:xfrm>
            <a:off x="6987547" y="1476343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Y Leng</a:t>
            </a:r>
            <a:endParaRPr lang="ko-KR" altLang="en-US" sz="1600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34B1C04-C6C7-EF8E-4093-6D84956763B4}"/>
              </a:ext>
            </a:extLst>
          </p:cNvPr>
          <p:cNvSpPr/>
          <p:nvPr/>
        </p:nvSpPr>
        <p:spPr>
          <a:xfrm>
            <a:off x="10591803" y="1010773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STD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DA28444E-E9E2-16E4-437F-362959C77D42}"/>
              </a:ext>
            </a:extLst>
          </p:cNvPr>
          <p:cNvSpPr/>
          <p:nvPr/>
        </p:nvSpPr>
        <p:spPr>
          <a:xfrm>
            <a:off x="10591803" y="148263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Grey Distribution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F9B5E6E-9469-6B21-2A3A-A0C5495F0872}"/>
              </a:ext>
            </a:extLst>
          </p:cNvPr>
          <p:cNvSpPr/>
          <p:nvPr/>
        </p:nvSpPr>
        <p:spPr>
          <a:xfrm>
            <a:off x="977899" y="2717800"/>
            <a:ext cx="635001" cy="5969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FC4929E-1398-24E1-332B-EFB79AC32887}"/>
              </a:ext>
            </a:extLst>
          </p:cNvPr>
          <p:cNvSpPr/>
          <p:nvPr/>
        </p:nvSpPr>
        <p:spPr>
          <a:xfrm>
            <a:off x="8959853" y="98277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ROI SET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C5735CB6-106A-678E-D3F9-76D0381366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2914" y="2490417"/>
            <a:ext cx="4983161" cy="378302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3A2CE93-9F3F-1EE5-56DE-BE055825987A}"/>
              </a:ext>
            </a:extLst>
          </p:cNvPr>
          <p:cNvSpPr txBox="1"/>
          <p:nvPr/>
        </p:nvSpPr>
        <p:spPr>
          <a:xfrm>
            <a:off x="7179928" y="6387584"/>
            <a:ext cx="1765300" cy="369332"/>
          </a:xfrm>
          <a:prstGeom prst="rect">
            <a:avLst/>
          </a:prstGeom>
          <a:solidFill>
            <a:srgbClr val="FFC000"/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STD = 3.56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062824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C7D321C-6EB1-DA72-0265-A0A90AAF02E0}"/>
              </a:ext>
            </a:extLst>
          </p:cNvPr>
          <p:cNvSpPr txBox="1"/>
          <p:nvPr/>
        </p:nvSpPr>
        <p:spPr>
          <a:xfrm>
            <a:off x="76200" y="152400"/>
            <a:ext cx="13095515" cy="6144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2 장 전력반도체 음파 특성 및 기존 기술 분석·· 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·········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전력반도체 음파 특성 분석··················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기존 기술 한계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,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제안······ ··· 8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3 장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모델링··········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프레임워크 개요················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원리··········· 13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 19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4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구성········· 22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4 장 실험 및 고찰··················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실험 환경 설정············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결과 및 레이어 추정 분석···········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최적 WD 도출···········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5 장 결 론··········· 47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</p:txBody>
      </p:sp>
    </p:spTree>
    <p:extLst>
      <p:ext uri="{BB962C8B-B14F-4D97-AF65-F5344CB8AC3E}">
        <p14:creationId xmlns:p14="http://schemas.microsoft.com/office/powerpoint/2010/main" val="15955804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03ABCE1B-6B6A-A138-FF0F-A681D2620093}"/>
              </a:ext>
            </a:extLst>
          </p:cNvPr>
          <p:cNvSpPr/>
          <p:nvPr/>
        </p:nvSpPr>
        <p:spPr>
          <a:xfrm>
            <a:off x="1284514" y="4408714"/>
            <a:ext cx="9688286" cy="15566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40096D53-7D25-3A32-9937-99B53CBC6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95829"/>
            <a:ext cx="12192000" cy="3989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5740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2FACC8C3-7732-CBB3-7CCA-6E98895C2C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9429"/>
            <a:ext cx="12192000" cy="3989941"/>
          </a:xfrm>
          <a:prstGeom prst="rect">
            <a:avLst/>
          </a:prstGeom>
        </p:spPr>
      </p:pic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3807E5FE-4FB6-E935-9161-6FE5C1AC0AAA}"/>
              </a:ext>
            </a:extLst>
          </p:cNvPr>
          <p:cNvSpPr/>
          <p:nvPr/>
        </p:nvSpPr>
        <p:spPr>
          <a:xfrm rot="10800000">
            <a:off x="4910667" y="4106333"/>
            <a:ext cx="1591733" cy="10414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52AFAC-2315-9317-6D3B-D17542F07289}"/>
              </a:ext>
            </a:extLst>
          </p:cNvPr>
          <p:cNvSpPr txBox="1"/>
          <p:nvPr/>
        </p:nvSpPr>
        <p:spPr>
          <a:xfrm>
            <a:off x="6265333" y="5029200"/>
            <a:ext cx="795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음파 진행</a:t>
            </a:r>
          </a:p>
        </p:txBody>
      </p:sp>
    </p:spTree>
    <p:extLst>
      <p:ext uri="{BB962C8B-B14F-4D97-AF65-F5344CB8AC3E}">
        <p14:creationId xmlns:p14="http://schemas.microsoft.com/office/powerpoint/2010/main" val="3064749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Main graphic">
            <a:extLst>
              <a:ext uri="{FF2B5EF4-FFF2-40B4-BE49-F238E27FC236}">
                <a16:creationId xmlns:a16="http://schemas.microsoft.com/office/drawing/2014/main" id="{31E6868F-AE2D-B4E2-1B22-466B83C69439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291994" y="479032"/>
            <a:ext cx="5335920" cy="3809880"/>
          </a:xfrm>
          <a:prstGeom prst="rect">
            <a:avLst/>
          </a:prstGeom>
          <a:ln>
            <a:noFill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5A70B09-DB35-90B6-3486-3D822B3DAB64}"/>
              </a:ext>
            </a:extLst>
          </p:cNvPr>
          <p:cNvSpPr txBox="1"/>
          <p:nvPr/>
        </p:nvSpPr>
        <p:spPr>
          <a:xfrm>
            <a:off x="1970314" y="4849517"/>
            <a:ext cx="9220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Reiter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J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Schapdick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Krug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Muenzer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and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Wolter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“ PWM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Dead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Times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Automotive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Traction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Inverters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using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IGBT,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MOSFET,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or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/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Fusion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Switch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Power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Modules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.” </a:t>
            </a:r>
            <a:r>
              <a:rPr lang="ko-KR" altLang="ko-KR" sz="1800" b="0" i="1" dirty="0">
                <a:solidFill>
                  <a:schemeClr val="tx1"/>
                </a:solidFill>
                <a:effectLst/>
                <a:latin typeface="+mn-lt"/>
              </a:rPr>
              <a:t>IET Power Electronics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 19,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no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 1 (2026): e70185. </a:t>
            </a:r>
            <a:r>
              <a:rPr lang="ko-KR" altLang="ko-KR" sz="1800" b="0" i="0" u="none" strike="noStrike" dirty="0">
                <a:solidFill>
                  <a:schemeClr val="tx1"/>
                </a:solidFill>
                <a:effectLst/>
                <a:latin typeface="+mn-lt"/>
                <a:hlinkClick r:id="rId4"/>
              </a:rPr>
              <a:t>https://doi.org/10.1049/pel2.70185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38091CA-97E9-A082-395B-2123CF23C2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6514" y="213170"/>
            <a:ext cx="6411686" cy="2966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5814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74C3A8D-F6E4-B034-8DBF-49F5DF2EB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566737"/>
            <a:ext cx="9753600" cy="572452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A416EAB-CFB1-3C1D-A6F0-D62F72BFF3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4639" y="5263243"/>
            <a:ext cx="438150" cy="266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C47F416-6D48-783C-8505-1A13D51A2A4D}"/>
              </a:ext>
            </a:extLst>
          </p:cNvPr>
          <p:cNvSpPr txBox="1"/>
          <p:nvPr/>
        </p:nvSpPr>
        <p:spPr>
          <a:xfrm>
            <a:off x="478971" y="62912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>
                <a:hlinkClick r:id="rId4"/>
              </a:rPr>
              <a:t>초음파 검사의 </a:t>
            </a:r>
            <a:r>
              <a:rPr lang="ko-KR" altLang="ko-KR" dirty="0" err="1">
                <a:hlinkClick r:id="rId4"/>
              </a:rPr>
              <a:t>A-Scan</a:t>
            </a:r>
            <a:r>
              <a:rPr lang="ko-KR" altLang="ko-KR" dirty="0">
                <a:hlinkClick r:id="rId4"/>
              </a:rPr>
              <a:t>: 판독 방법, 표시 내용 및 사용 시기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8960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그림 31">
            <a:extLst>
              <a:ext uri="{FF2B5EF4-FFF2-40B4-BE49-F238E27FC236}">
                <a16:creationId xmlns:a16="http://schemas.microsoft.com/office/drawing/2014/main" id="{46DD3C24-C8D0-46E0-6447-76CF62CBFA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177582" y="22369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CC34F1F5-C7E2-F829-CB68-ED01A157D1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025182" y="20845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8150CF6D-3DA0-7FD6-7FDF-DCF9EF0B54D4}"/>
              </a:ext>
            </a:extLst>
          </p:cNvPr>
          <p:cNvSpPr/>
          <p:nvPr/>
        </p:nvSpPr>
        <p:spPr>
          <a:xfrm>
            <a:off x="786300" y="488351"/>
            <a:ext cx="10440503" cy="57856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A7E842C7-F543-1E5F-4EE6-2C573692AD99}"/>
              </a:ext>
            </a:extLst>
          </p:cNvPr>
          <p:cNvCxnSpPr>
            <a:cxnSpLocks/>
          </p:cNvCxnSpPr>
          <p:nvPr/>
        </p:nvCxnSpPr>
        <p:spPr>
          <a:xfrm>
            <a:off x="2664887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86FAB1D-5E95-7E9F-1974-0DD0777E5C8F}"/>
              </a:ext>
            </a:extLst>
          </p:cNvPr>
          <p:cNvSpPr txBox="1"/>
          <p:nvPr/>
        </p:nvSpPr>
        <p:spPr>
          <a:xfrm>
            <a:off x="1045087" y="567658"/>
            <a:ext cx="1354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Input Data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29B4BB-E678-25A4-8B83-3F038DB0BC60}"/>
              </a:ext>
            </a:extLst>
          </p:cNvPr>
          <p:cNvSpPr txBox="1"/>
          <p:nvPr/>
        </p:nvSpPr>
        <p:spPr>
          <a:xfrm>
            <a:off x="46143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>
                <a:latin typeface="바탕체" panose="02030609000101010101" pitchFamily="17" charset="-127"/>
                <a:ea typeface="바탕체" panose="02030609000101010101" pitchFamily="17" charset="-127"/>
              </a:rPr>
              <a:t>신호 처리 및 경로 분리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728A20-5BF9-6121-E953-48ABEF1089B1}"/>
              </a:ext>
            </a:extLst>
          </p:cNvPr>
          <p:cNvSpPr txBox="1"/>
          <p:nvPr/>
        </p:nvSpPr>
        <p:spPr>
          <a:xfrm>
            <a:off x="97451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Output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87C71757-B8BE-DB7D-65E5-042B9B73F9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872782" y="19321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BF63937-ADD6-0484-0E1A-167D49556606}"/>
              </a:ext>
            </a:extLst>
          </p:cNvPr>
          <p:cNvSpPr txBox="1"/>
          <p:nvPr/>
        </p:nvSpPr>
        <p:spPr>
          <a:xfrm>
            <a:off x="810945" y="3546230"/>
            <a:ext cx="19376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A-Scan 1D Data</a:t>
            </a:r>
          </a:p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* Row Array</a:t>
            </a:r>
            <a:endParaRPr lang="ko-KR" altLang="en-US" sz="1600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E0E77A1-6277-B22E-E389-4100DB8D4E7A}"/>
              </a:ext>
            </a:extLst>
          </p:cNvPr>
          <p:cNvSpPr/>
          <p:nvPr/>
        </p:nvSpPr>
        <p:spPr>
          <a:xfrm>
            <a:off x="2726222" y="1146221"/>
            <a:ext cx="5144395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1.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BandPass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Filter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0F4C51A-0F9C-F17B-2FF6-291ADFCB1F75}"/>
              </a:ext>
            </a:extLst>
          </p:cNvPr>
          <p:cNvSpPr/>
          <p:nvPr/>
        </p:nvSpPr>
        <p:spPr>
          <a:xfrm>
            <a:off x="2726222" y="1642253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Alignent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&amp; 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잘라내기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Align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2D Matrix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생성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9A2C4DE-3150-2D6A-5DD9-2B41133C1A9C}"/>
              </a:ext>
            </a:extLst>
          </p:cNvPr>
          <p:cNvSpPr/>
          <p:nvPr/>
        </p:nvSpPr>
        <p:spPr>
          <a:xfrm>
            <a:off x="2717756" y="2146136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T.G.C (Time Gain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적용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깊이 감쇄에 따른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5E7AD8DB-BDB4-8F64-704C-8BAF98214E26}"/>
              </a:ext>
            </a:extLst>
          </p:cNvPr>
          <p:cNvSpPr/>
          <p:nvPr/>
        </p:nvSpPr>
        <p:spPr>
          <a:xfrm>
            <a:off x="2700822" y="2650547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4. Envelope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힐베르트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변환 기반 양의 진폭 추출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9FD64C44-B9EC-4A3D-18BC-234ED395FEC0}"/>
              </a:ext>
            </a:extLst>
          </p:cNvPr>
          <p:cNvSpPr/>
          <p:nvPr/>
        </p:nvSpPr>
        <p:spPr>
          <a:xfrm>
            <a:off x="2700822" y="3154814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5. Log Compression 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어두운 신호를 밝게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밝은 신호를 조금 어둡게 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402960B3-0B92-B0C8-532B-CB4687E78760}"/>
              </a:ext>
            </a:extLst>
          </p:cNvPr>
          <p:cNvSpPr/>
          <p:nvPr/>
        </p:nvSpPr>
        <p:spPr>
          <a:xfrm>
            <a:off x="2700822" y="3666335"/>
            <a:ext cx="6157156" cy="44991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6. Min-Max Clipping &amp;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Normaliziation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: </a:t>
            </a:r>
          </a:p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  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사용자 지정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[Min, Max]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밖 잘라내기 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[0, 1]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스케일링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57B0DD-1E06-D0F7-0FD2-D7F37835D953}"/>
              </a:ext>
            </a:extLst>
          </p:cNvPr>
          <p:cNvSpPr/>
          <p:nvPr/>
        </p:nvSpPr>
        <p:spPr>
          <a:xfrm>
            <a:off x="2726222" y="4257841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8-bit Quantization : 0-255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영상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8bit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화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26D129E8-72B9-36AA-7C3D-C79DEB9E35A8}"/>
              </a:ext>
            </a:extLst>
          </p:cNvPr>
          <p:cNvSpPr/>
          <p:nvPr/>
        </p:nvSpPr>
        <p:spPr>
          <a:xfrm>
            <a:off x="2717756" y="4762254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Inverse Phase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 Align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로부터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안에서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Search. Ref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파형과 정 반대 모양이 있을 경우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Return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257BB24-602C-12A2-BEEC-CFD4547E49A7}"/>
              </a:ext>
            </a:extLst>
          </p:cNvPr>
          <p:cNvSpPr/>
          <p:nvPr/>
        </p:nvSpPr>
        <p:spPr>
          <a:xfrm>
            <a:off x="2700822" y="5391137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Inverse Phase 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가 있을 경우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이에 해당하는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B-scan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해당 부위에 파란색을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Toggle Switch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 적용 유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3A8DEA5-E57A-873D-81FD-90BE9E4607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9336851" y="1419828"/>
            <a:ext cx="872162" cy="327307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8457BDC-013F-A7B4-2F69-B1D6043EAB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294662" y="1419828"/>
            <a:ext cx="872162" cy="3273079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4B4063BB-B38E-AEAE-CA44-7830298D6CD3}"/>
              </a:ext>
            </a:extLst>
          </p:cNvPr>
          <p:cNvSpPr/>
          <p:nvPr/>
        </p:nvSpPr>
        <p:spPr>
          <a:xfrm>
            <a:off x="10705344" y="2871425"/>
            <a:ext cx="45719" cy="728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76C058-4C6A-96EA-A0D1-073142C1D632}"/>
              </a:ext>
            </a:extLst>
          </p:cNvPr>
          <p:cNvSpPr txBox="1"/>
          <p:nvPr/>
        </p:nvSpPr>
        <p:spPr>
          <a:xfrm>
            <a:off x="9633300" y="4727562"/>
            <a:ext cx="19376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latin typeface="바탕체" panose="02030609000101010101" pitchFamily="17" charset="-127"/>
                <a:ea typeface="바탕체" panose="02030609000101010101" pitchFamily="17" charset="-127"/>
              </a:rPr>
              <a:t>B-scan Data</a:t>
            </a: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B0538C60-8C55-6F08-5843-7E714E25D658}"/>
              </a:ext>
            </a:extLst>
          </p:cNvPr>
          <p:cNvGraphicFramePr>
            <a:graphicFrameLocks noGrp="1"/>
          </p:cNvGraphicFramePr>
          <p:nvPr/>
        </p:nvGraphicFramePr>
        <p:xfrm>
          <a:off x="9383908" y="5011188"/>
          <a:ext cx="1821508" cy="644092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910754">
                  <a:extLst>
                    <a:ext uri="{9D8B030D-6E8A-4147-A177-3AD203B41FA5}">
                      <a16:colId xmlns:a16="http://schemas.microsoft.com/office/drawing/2014/main" val="3111505578"/>
                    </a:ext>
                  </a:extLst>
                </a:gridCol>
                <a:gridCol w="910754">
                  <a:extLst>
                    <a:ext uri="{9D8B030D-6E8A-4147-A177-3AD203B41FA5}">
                      <a16:colId xmlns:a16="http://schemas.microsoft.com/office/drawing/2014/main" val="1898531984"/>
                    </a:ext>
                  </a:extLst>
                </a:gridCol>
              </a:tblGrid>
              <a:tr h="32204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Inverse Phase</a:t>
                      </a:r>
                      <a:endParaRPr lang="ko-KR" altLang="en-US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1095302"/>
                  </a:ext>
                </a:extLst>
              </a:tr>
              <a:tr h="32204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Off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On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9094202"/>
                  </a:ext>
                </a:extLst>
              </a:tr>
            </a:tbl>
          </a:graphicData>
        </a:graphic>
      </p:graphicFrame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E897584-6E12-C026-C55D-A5197569CDC5}"/>
              </a:ext>
            </a:extLst>
          </p:cNvPr>
          <p:cNvCxnSpPr>
            <a:cxnSpLocks/>
          </p:cNvCxnSpPr>
          <p:nvPr/>
        </p:nvCxnSpPr>
        <p:spPr>
          <a:xfrm>
            <a:off x="9163659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9E41950-F39C-5C1B-038D-B9107770FD1C}"/>
              </a:ext>
            </a:extLst>
          </p:cNvPr>
          <p:cNvSpPr txBox="1"/>
          <p:nvPr/>
        </p:nvSpPr>
        <p:spPr>
          <a:xfrm>
            <a:off x="2748547" y="6105676"/>
            <a:ext cx="63518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그림 </a:t>
            </a:r>
            <a:r>
              <a:rPr lang="en-US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3</a:t>
            </a: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. </a:t>
            </a:r>
            <a:r>
              <a:rPr lang="ko-KR" altLang="en-US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전체 프레임 워크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31684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D10FC5A8-349F-7F14-4E15-D786D98F0BBC}"/>
              </a:ext>
            </a:extLst>
          </p:cNvPr>
          <p:cNvSpPr/>
          <p:nvPr/>
        </p:nvSpPr>
        <p:spPr>
          <a:xfrm>
            <a:off x="108488" y="356460"/>
            <a:ext cx="11887200" cy="10538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Phase Inverse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제어 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복합 필터링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매커니즘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C663435-24C2-6B32-9C3B-E81D7F0176C8}"/>
              </a:ext>
            </a:extLst>
          </p:cNvPr>
          <p:cNvSpPr/>
          <p:nvPr/>
        </p:nvSpPr>
        <p:spPr>
          <a:xfrm>
            <a:off x="108488" y="1704812"/>
            <a:ext cx="11887200" cy="493767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8E8F3A4-AF6B-F7E4-7B93-8DB2A8B1166E}"/>
              </a:ext>
            </a:extLst>
          </p:cNvPr>
          <p:cNvSpPr/>
          <p:nvPr/>
        </p:nvSpPr>
        <p:spPr>
          <a:xfrm>
            <a:off x="457198" y="1921788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[원시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A-Scan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신호]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를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상관계수 연산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C288EFB-AF18-D85C-814C-7BF7FFE91A53}"/>
              </a:ext>
            </a:extLst>
          </p:cNvPr>
          <p:cNvSpPr/>
          <p:nvPr/>
        </p:nvSpPr>
        <p:spPr>
          <a:xfrm>
            <a:off x="457198" y="2916263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[1단계] 상관계수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───(불만족)───► [정상/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비결함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처리]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29F3993-6B61-F3BF-86A8-73615CB149CF}"/>
              </a:ext>
            </a:extLst>
          </p:cNvPr>
          <p:cNvSpPr/>
          <p:nvPr/>
        </p:nvSpPr>
        <p:spPr>
          <a:xfrm>
            <a:off x="457197" y="3908154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[2단계] 절대 진폭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(|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]| ≥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──(불만족)───►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Noise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4A43A3F-88BA-016D-6F1F-1564108183F7}"/>
              </a:ext>
            </a:extLst>
          </p:cNvPr>
          <p:cNvSpPr/>
          <p:nvPr/>
        </p:nvSpPr>
        <p:spPr>
          <a:xfrm>
            <a:off x="457197" y="4897461"/>
            <a:ext cx="11244022" cy="6044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[3단계] 공간 ROI 경계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n_start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n_end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─(불만족)──►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Boundary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7B11A30-10CF-80B1-454E-6E77F513D950}"/>
              </a:ext>
            </a:extLst>
          </p:cNvPr>
          <p:cNvSpPr/>
          <p:nvPr/>
        </p:nvSpPr>
        <p:spPr>
          <a:xfrm>
            <a:off x="457196" y="5855772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[최종 결함 판정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확정 및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표시)]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F030184-E2DF-0C43-1B4B-8386E9F0B139}"/>
              </a:ext>
            </a:extLst>
          </p:cNvPr>
          <p:cNvCxnSpPr/>
          <p:nvPr/>
        </p:nvCxnSpPr>
        <p:spPr>
          <a:xfrm>
            <a:off x="1906292" y="2557219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0E3BA0D9-4D3D-9C89-F978-988CE43AB022}"/>
              </a:ext>
            </a:extLst>
          </p:cNvPr>
          <p:cNvCxnSpPr/>
          <p:nvPr/>
        </p:nvCxnSpPr>
        <p:spPr>
          <a:xfrm>
            <a:off x="1906292" y="3520698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2345C715-F26B-3E88-62F4-B1B19FB6BB26}"/>
              </a:ext>
            </a:extLst>
          </p:cNvPr>
          <p:cNvCxnSpPr/>
          <p:nvPr/>
        </p:nvCxnSpPr>
        <p:spPr>
          <a:xfrm>
            <a:off x="1934706" y="455391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0AE2A058-01C4-C026-21CA-1477E7DFD0B8}"/>
              </a:ext>
            </a:extLst>
          </p:cNvPr>
          <p:cNvCxnSpPr/>
          <p:nvPr/>
        </p:nvCxnSpPr>
        <p:spPr>
          <a:xfrm>
            <a:off x="1906292" y="549672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F5DF7A9-59D7-3E4A-AC21-EE790EEB628A}"/>
              </a:ext>
            </a:extLst>
          </p:cNvPr>
          <p:cNvSpPr txBox="1"/>
          <p:nvPr/>
        </p:nvSpPr>
        <p:spPr>
          <a:xfrm>
            <a:off x="1934706" y="2526223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A2186A-061B-5241-5673-54D19B727841}"/>
              </a:ext>
            </a:extLst>
          </p:cNvPr>
          <p:cNvSpPr txBox="1"/>
          <p:nvPr/>
        </p:nvSpPr>
        <p:spPr>
          <a:xfrm>
            <a:off x="1934706" y="3499990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60E021-CCD3-129D-8906-92DE6A3608FD}"/>
              </a:ext>
            </a:extLst>
          </p:cNvPr>
          <p:cNvSpPr txBox="1"/>
          <p:nvPr/>
        </p:nvSpPr>
        <p:spPr>
          <a:xfrm>
            <a:off x="1934706" y="4503569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C1F5196-7A53-4CFE-A3CD-904FA82833E9}"/>
              </a:ext>
            </a:extLst>
          </p:cNvPr>
          <p:cNvSpPr txBox="1"/>
          <p:nvPr/>
        </p:nvSpPr>
        <p:spPr>
          <a:xfrm>
            <a:off x="1934706" y="5468316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</p:spTree>
    <p:extLst>
      <p:ext uri="{BB962C8B-B14F-4D97-AF65-F5344CB8AC3E}">
        <p14:creationId xmlns:p14="http://schemas.microsoft.com/office/powerpoint/2010/main" val="9021682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1106</Words>
  <Application>Microsoft Office PowerPoint</Application>
  <PresentationFormat>와이드스크린</PresentationFormat>
  <Paragraphs>147</Paragraphs>
  <Slides>22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9" baseType="lpstr">
      <vt:lpstr>맑은 고딕</vt:lpstr>
      <vt:lpstr>바탕체</vt:lpstr>
      <vt:lpstr>바탕체,한컴돋움</vt:lpstr>
      <vt:lpstr>함초롬바탕</vt:lpstr>
      <vt:lpstr>Arial</vt:lpstr>
      <vt:lpstr>Consolas</vt:lpstr>
      <vt:lpstr>Office 테마</vt:lpstr>
      <vt:lpstr>논문 자료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양회현</dc:creator>
  <cp:lastModifiedBy>양회현</cp:lastModifiedBy>
  <cp:revision>2</cp:revision>
  <dcterms:created xsi:type="dcterms:W3CDTF">2026-08-23T23:35:07Z</dcterms:created>
  <dcterms:modified xsi:type="dcterms:W3CDTF">2026-08-25T23:44:34Z</dcterms:modified>
</cp:coreProperties>
</file>